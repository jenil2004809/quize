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Lst>
  <p:sldSz cy="5143500" cx="9144000"/>
  <p:notesSz cx="6858000" cy="9144000"/>
  <p:embeddedFontLst>
    <p:embeddedFont>
      <p:font typeface="Roboto"/>
      <p:regular r:id="rId39"/>
      <p:bold r:id="rId40"/>
      <p:italic r:id="rId41"/>
      <p:boldItalic r:id="rId42"/>
    </p:embeddedFont>
    <p:embeddedFont>
      <p:font typeface="Nunito"/>
      <p:regular r:id="rId43"/>
      <p:bold r:id="rId44"/>
      <p:italic r:id="rId45"/>
      <p:boldItalic r:id="rId4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47" roundtripDataSignature="AMtx7mhfMdT56MtLco+VIbI21lBx+5VBh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F784CCF-224E-4AC6-9B68-D81CFF91F574}">
  <a:tblStyle styleId="{5F784CCF-224E-4AC6-9B68-D81CFF91F574}"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Roboto-bold.fntdata"/><Relationship Id="rId20" Type="http://schemas.openxmlformats.org/officeDocument/2006/relationships/slide" Target="slides/slide14.xml"/><Relationship Id="rId42" Type="http://schemas.openxmlformats.org/officeDocument/2006/relationships/font" Target="fonts/Roboto-boldItalic.fntdata"/><Relationship Id="rId41" Type="http://schemas.openxmlformats.org/officeDocument/2006/relationships/font" Target="fonts/Roboto-italic.fntdata"/><Relationship Id="rId22" Type="http://schemas.openxmlformats.org/officeDocument/2006/relationships/slide" Target="slides/slide16.xml"/><Relationship Id="rId44" Type="http://schemas.openxmlformats.org/officeDocument/2006/relationships/font" Target="fonts/Nunito-bold.fntdata"/><Relationship Id="rId21" Type="http://schemas.openxmlformats.org/officeDocument/2006/relationships/slide" Target="slides/slide15.xml"/><Relationship Id="rId43" Type="http://schemas.openxmlformats.org/officeDocument/2006/relationships/font" Target="fonts/Nunito-regular.fntdata"/><Relationship Id="rId24" Type="http://schemas.openxmlformats.org/officeDocument/2006/relationships/slide" Target="slides/slide18.xml"/><Relationship Id="rId46" Type="http://schemas.openxmlformats.org/officeDocument/2006/relationships/font" Target="fonts/Nunito-boldItalic.fntdata"/><Relationship Id="rId23" Type="http://schemas.openxmlformats.org/officeDocument/2006/relationships/slide" Target="slides/slide17.xml"/><Relationship Id="rId45" Type="http://schemas.openxmlformats.org/officeDocument/2006/relationships/font" Target="fonts/Nunito-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47" Type="http://customschemas.google.com/relationships/presentationmetadata" Target="metadata"/><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slide" Target="slides/slide31.xml"/><Relationship Id="rId14" Type="http://schemas.openxmlformats.org/officeDocument/2006/relationships/slide" Target="slides/slide8.xml"/><Relationship Id="rId36" Type="http://schemas.openxmlformats.org/officeDocument/2006/relationships/slide" Target="slides/slide30.xml"/><Relationship Id="rId17" Type="http://schemas.openxmlformats.org/officeDocument/2006/relationships/slide" Target="slides/slide11.xml"/><Relationship Id="rId39" Type="http://schemas.openxmlformats.org/officeDocument/2006/relationships/font" Target="fonts/Roboto-regular.fntdata"/><Relationship Id="rId16" Type="http://schemas.openxmlformats.org/officeDocument/2006/relationships/slide" Target="slides/slide10.xml"/><Relationship Id="rId38" Type="http://schemas.openxmlformats.org/officeDocument/2006/relationships/slide" Target="slides/slide32.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 name="Google Shape;5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8" name="Google Shape;58;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3" name="Google Shape;63;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9" name="Google Shape;69;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5" name="Google Shape;75;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1" name="Google Shape;81;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6" name="Google Shape;86;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3" name="Google Shape;93;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5" name="Google Shape;105;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2" name="Google Shape;112;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8" name="Google Shape;118;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4" name="Google Shape;124;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1" name="Google Shape;131;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7" name="Google Shape;137;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2" name="Google Shape;142;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8" name="Google Shape;148;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3" name="Google Shape;153;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1" name="Google Shape;161;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7" name="Google Shape;167;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4" name="Google Shape;174;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0" name="Google Shape;180;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7" name="Google Shape;187;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3" name="Google Shape;193;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1" name="Google Shape;201;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7" name="Google Shape;207;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4" name="Google Shape;214;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0" name="Google Shape;220;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6" name="Google Shape;226;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1" name="Google Shape;231;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8" name="Google Shape;238;p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4" name="Google Shape;244;p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1" name="Google Shape;251;p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34"/>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1" name="Google Shape;11;p34"/>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3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5"/>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5" name="Google Shape;15;p3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3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8" name="Google Shape;18;p3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9" name="Google Shape;19;p3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3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2" name="Google Shape;22;p37"/>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3" name="Google Shape;23;p37"/>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4" name="Google Shape;24;p3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3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7" name="Google Shape;27;p3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39"/>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0" name="Google Shape;30;p39"/>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1" name="Google Shape;31;p3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40"/>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4" name="Google Shape;34;p4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41"/>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41"/>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8" name="Google Shape;38;p41"/>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41"/>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0" name="Google Shape;40;p4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42"/>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43" name="Google Shape;43;p4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43"/>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43"/>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47" name="Google Shape;47;p4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4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3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3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3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1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1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1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5200"/>
              <a:buNone/>
            </a:pPr>
            <a:r>
              <a:rPr lang="en-GB"/>
              <a:t>Agile and DevOps</a:t>
            </a:r>
            <a:endParaRPr/>
          </a:p>
        </p:txBody>
      </p:sp>
      <p:sp>
        <p:nvSpPr>
          <p:cNvPr id="55" name="Google Shape;55;p1"/>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2800"/>
              <a:buNone/>
            </a:pPr>
            <a:r>
              <a:rPr lang="en-GB"/>
              <a:t>UNIT 1</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2"/>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SzPts val="3600"/>
              <a:buNone/>
            </a:pPr>
            <a:r>
              <a:rPr lang="en-GB"/>
              <a:t>Introduction to Agile</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3"/>
          <p:cNvSpPr txBox="1"/>
          <p:nvPr>
            <p:ph type="title"/>
          </p:nvPr>
        </p:nvSpPr>
        <p:spPr>
          <a:xfrm>
            <a:off x="311700" y="18177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39286"/>
              <a:buFont typeface="Arial"/>
              <a:buNone/>
            </a:pPr>
            <a:r>
              <a:rPr lang="en-GB"/>
              <a:t>Agile versus traditional method comparisons and process tailoring Software Process Models</a:t>
            </a:r>
            <a:endParaRPr/>
          </a:p>
          <a:p>
            <a:pPr indent="0" lvl="0" marL="0" rtl="0" algn="l">
              <a:lnSpc>
                <a:spcPct val="100000"/>
              </a:lnSpc>
              <a:spcBef>
                <a:spcPts val="0"/>
              </a:spcBef>
              <a:spcAft>
                <a:spcPts val="0"/>
              </a:spcAft>
              <a:buSzPct val="111111"/>
              <a:buNone/>
            </a:pPr>
            <a:r>
              <a:t/>
            </a:r>
            <a:endParaRPr/>
          </a:p>
        </p:txBody>
      </p:sp>
      <p:sp>
        <p:nvSpPr>
          <p:cNvPr id="66" name="Google Shape;66;p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t/>
            </a:r>
            <a:endParaRPr/>
          </a:p>
          <a:p>
            <a:pPr indent="0" lvl="0" marL="0" rtl="0" algn="l">
              <a:lnSpc>
                <a:spcPct val="115000"/>
              </a:lnSpc>
              <a:spcBef>
                <a:spcPts val="1200"/>
              </a:spcBef>
              <a:spcAft>
                <a:spcPts val="0"/>
              </a:spcAft>
              <a:buSzPts val="1800"/>
              <a:buNone/>
            </a:pPr>
            <a:r>
              <a:t/>
            </a:r>
            <a:endParaRPr/>
          </a:p>
          <a:p>
            <a:pPr indent="0" lvl="0" marL="0" rtl="0" algn="l">
              <a:lnSpc>
                <a:spcPct val="115000"/>
              </a:lnSpc>
              <a:spcBef>
                <a:spcPts val="1200"/>
              </a:spcBef>
              <a:spcAft>
                <a:spcPts val="0"/>
              </a:spcAft>
              <a:buSzPts val="1800"/>
              <a:buNone/>
            </a:pPr>
            <a:r>
              <a:t/>
            </a:r>
            <a:endParaRPr/>
          </a:p>
          <a:p>
            <a:pPr indent="0" lvl="0" marL="0" rtl="0" algn="l">
              <a:lnSpc>
                <a:spcPct val="115000"/>
              </a:lnSpc>
              <a:spcBef>
                <a:spcPts val="1200"/>
              </a:spcBef>
              <a:spcAft>
                <a:spcPts val="1200"/>
              </a:spcAft>
              <a:buSzPts val="1800"/>
              <a:buNone/>
            </a:pPr>
            <a:r>
              <a:rPr lang="en-GB"/>
              <a:t>Self Revision as it is repeated</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GB"/>
              <a:t>Introduction to Agile and its methodologies:</a:t>
            </a:r>
            <a:endParaRPr/>
          </a:p>
        </p:txBody>
      </p:sp>
      <p:sp>
        <p:nvSpPr>
          <p:cNvPr id="72" name="Google Shape;72;p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5"/>
          <p:cNvSpPr txBox="1"/>
          <p:nvPr>
            <p:ph type="title"/>
          </p:nvPr>
        </p:nvSpPr>
        <p:spPr>
          <a:xfrm>
            <a:off x="311700" y="1402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GB"/>
              <a:t>What Is Agility?</a:t>
            </a:r>
            <a:endParaRPr/>
          </a:p>
        </p:txBody>
      </p:sp>
      <p:sp>
        <p:nvSpPr>
          <p:cNvPr id="78" name="Google Shape;78;p5"/>
          <p:cNvSpPr txBox="1"/>
          <p:nvPr>
            <p:ph idx="1" type="body"/>
          </p:nvPr>
        </p:nvSpPr>
        <p:spPr>
          <a:xfrm>
            <a:off x="311700" y="695275"/>
            <a:ext cx="85206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t/>
            </a:r>
            <a:endParaRPr b="1" sz="1700">
              <a:solidFill>
                <a:srgbClr val="4D5156"/>
              </a:solidFill>
              <a:highlight>
                <a:srgbClr val="FFFFFF"/>
              </a:highlight>
            </a:endParaRPr>
          </a:p>
          <a:p>
            <a:pPr indent="0" lvl="0" marL="0" rtl="0" algn="l">
              <a:lnSpc>
                <a:spcPct val="115000"/>
              </a:lnSpc>
              <a:spcBef>
                <a:spcPts val="1200"/>
              </a:spcBef>
              <a:spcAft>
                <a:spcPts val="0"/>
              </a:spcAft>
              <a:buClr>
                <a:schemeClr val="dk1"/>
              </a:buClr>
              <a:buSzPts val="1100"/>
              <a:buFont typeface="Arial"/>
              <a:buNone/>
            </a:pPr>
            <a:r>
              <a:rPr lang="en-GB" sz="1700">
                <a:solidFill>
                  <a:schemeClr val="dk1"/>
                </a:solidFill>
              </a:rPr>
              <a:t>It encourages team structures and attitudes that make communication (among team members, between technologists and business people, between software engineers and their managers) more facile. </a:t>
            </a:r>
            <a:endParaRPr sz="17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sz="1700">
                <a:solidFill>
                  <a:schemeClr val="dk1"/>
                </a:solidFill>
              </a:rPr>
              <a:t>It emphasizes rapid delivery of operational software and de-emphasizes the importance of intermediate work products (not always a good thing); </a:t>
            </a:r>
            <a:endParaRPr sz="17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sz="1700">
                <a:solidFill>
                  <a:schemeClr val="dk1"/>
                </a:solidFill>
              </a:rPr>
              <a:t>it adopts the customer as a part of the development team and works to eliminate the “us and them” attitude that continues to pervade many software projects; </a:t>
            </a:r>
            <a:endParaRPr sz="17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sz="1700">
                <a:solidFill>
                  <a:schemeClr val="dk1"/>
                </a:solidFill>
              </a:rPr>
              <a:t>it recognizes that planning in an uncertain world has its limits and that a  project plan must be flexible.</a:t>
            </a:r>
            <a:endParaRPr sz="1700">
              <a:solidFill>
                <a:schemeClr val="dk1"/>
              </a:solidFill>
            </a:endParaRPr>
          </a:p>
          <a:p>
            <a:pPr indent="0" lvl="0" marL="0" rtl="0" algn="l">
              <a:lnSpc>
                <a:spcPct val="115000"/>
              </a:lnSpc>
              <a:spcBef>
                <a:spcPts val="1200"/>
              </a:spcBef>
              <a:spcAft>
                <a:spcPts val="0"/>
              </a:spcAft>
              <a:buSzPts val="1800"/>
              <a:buNone/>
            </a:pPr>
            <a:r>
              <a:t/>
            </a:r>
            <a:endParaRPr b="1" sz="1700">
              <a:solidFill>
                <a:srgbClr val="4D5156"/>
              </a:solidFill>
              <a:highlight>
                <a:srgbClr val="FFFFFF"/>
              </a:highlight>
            </a:endParaRPr>
          </a:p>
          <a:p>
            <a:pPr indent="0" lvl="0" marL="0" rtl="0" algn="l">
              <a:lnSpc>
                <a:spcPct val="115000"/>
              </a:lnSpc>
              <a:spcBef>
                <a:spcPts val="1200"/>
              </a:spcBef>
              <a:spcAft>
                <a:spcPts val="0"/>
              </a:spcAft>
              <a:buSzPts val="1800"/>
              <a:buNone/>
            </a:pPr>
            <a:r>
              <a:t/>
            </a:r>
            <a:endParaRPr b="1" sz="1700">
              <a:solidFill>
                <a:srgbClr val="4D5156"/>
              </a:solidFill>
              <a:highlight>
                <a:srgbClr val="FFFFFF"/>
              </a:highlight>
            </a:endParaRPr>
          </a:p>
          <a:p>
            <a:pPr indent="0" lvl="0" marL="0" rtl="0" algn="l">
              <a:lnSpc>
                <a:spcPct val="115000"/>
              </a:lnSpc>
              <a:spcBef>
                <a:spcPts val="1200"/>
              </a:spcBef>
              <a:spcAft>
                <a:spcPts val="1200"/>
              </a:spcAft>
              <a:buSzPts val="1800"/>
              <a:buNone/>
            </a:pPr>
            <a:r>
              <a:t/>
            </a:r>
            <a:endParaRPr sz="1700">
              <a:solidFill>
                <a:srgbClr val="4D5156"/>
              </a:solidFill>
              <a:highlight>
                <a:srgbClr val="FFFFFF"/>
              </a:highlight>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pic>
        <p:nvPicPr>
          <p:cNvPr id="83" name="Google Shape;83;p6"/>
          <p:cNvPicPr preferRelativeResize="0"/>
          <p:nvPr/>
        </p:nvPicPr>
        <p:blipFill rotWithShape="1">
          <a:blip r:embed="rId3">
            <a:alphaModFix/>
          </a:blip>
          <a:srcRect b="0" l="0" r="0" t="0"/>
          <a:stretch/>
        </p:blipFill>
        <p:spPr>
          <a:xfrm>
            <a:off x="152400" y="172117"/>
            <a:ext cx="9143999" cy="510406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t/>
            </a:r>
            <a:endParaRPr/>
          </a:p>
        </p:txBody>
      </p:sp>
      <p:sp>
        <p:nvSpPr>
          <p:cNvPr id="89" name="Google Shape;89;p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t/>
            </a:r>
            <a:endParaRPr/>
          </a:p>
        </p:txBody>
      </p:sp>
      <p:pic>
        <p:nvPicPr>
          <p:cNvPr id="90" name="Google Shape;90;p7"/>
          <p:cNvPicPr preferRelativeResize="0"/>
          <p:nvPr/>
        </p:nvPicPr>
        <p:blipFill rotWithShape="1">
          <a:blip r:embed="rId3">
            <a:alphaModFix/>
          </a:blip>
          <a:srcRect b="0" l="0" r="0" t="0"/>
          <a:stretch/>
        </p:blipFill>
        <p:spPr>
          <a:xfrm>
            <a:off x="0" y="95917"/>
            <a:ext cx="9143999" cy="510406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t/>
            </a:r>
            <a:endParaRPr/>
          </a:p>
        </p:txBody>
      </p:sp>
      <p:pic>
        <p:nvPicPr>
          <p:cNvPr id="96" name="Google Shape;96;p8"/>
          <p:cNvPicPr preferRelativeResize="0"/>
          <p:nvPr/>
        </p:nvPicPr>
        <p:blipFill rotWithShape="1">
          <a:blip r:embed="rId3">
            <a:alphaModFix/>
          </a:blip>
          <a:srcRect b="0" l="0" r="0" t="0"/>
          <a:stretch/>
        </p:blipFill>
        <p:spPr>
          <a:xfrm>
            <a:off x="0" y="103124"/>
            <a:ext cx="9143999" cy="5020650"/>
          </a:xfrm>
          <a:prstGeom prst="rect">
            <a:avLst/>
          </a:prstGeom>
          <a:noFill/>
          <a:ln>
            <a:noFill/>
          </a:ln>
        </p:spPr>
      </p:pic>
      <p:sp>
        <p:nvSpPr>
          <p:cNvPr id="97" name="Google Shape;97;p8"/>
          <p:cNvSpPr txBox="1"/>
          <p:nvPr/>
        </p:nvSpPr>
        <p:spPr>
          <a:xfrm>
            <a:off x="1710075" y="2200575"/>
            <a:ext cx="1617300" cy="371400"/>
          </a:xfrm>
          <a:prstGeom prst="rect">
            <a:avLst/>
          </a:prstGeom>
          <a:solidFill>
            <a:schemeClr val="lt1"/>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 name="Google Shape;98;p8"/>
          <p:cNvSpPr txBox="1"/>
          <p:nvPr/>
        </p:nvSpPr>
        <p:spPr>
          <a:xfrm>
            <a:off x="1481475" y="3532800"/>
            <a:ext cx="1617300" cy="371400"/>
          </a:xfrm>
          <a:prstGeom prst="rect">
            <a:avLst/>
          </a:prstGeom>
          <a:solidFill>
            <a:schemeClr val="lt1"/>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 name="Google Shape;99;p8"/>
          <p:cNvSpPr txBox="1"/>
          <p:nvPr/>
        </p:nvSpPr>
        <p:spPr>
          <a:xfrm>
            <a:off x="3148350" y="4568875"/>
            <a:ext cx="1617300" cy="371400"/>
          </a:xfrm>
          <a:prstGeom prst="rect">
            <a:avLst/>
          </a:prstGeom>
          <a:solidFill>
            <a:schemeClr val="lt1"/>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 name="Google Shape;100;p8"/>
          <p:cNvSpPr txBox="1"/>
          <p:nvPr/>
        </p:nvSpPr>
        <p:spPr>
          <a:xfrm>
            <a:off x="5885750" y="3532800"/>
            <a:ext cx="1617300" cy="371400"/>
          </a:xfrm>
          <a:prstGeom prst="rect">
            <a:avLst/>
          </a:prstGeom>
          <a:solidFill>
            <a:schemeClr val="lt1"/>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 name="Google Shape;101;p8"/>
          <p:cNvSpPr txBox="1"/>
          <p:nvPr/>
        </p:nvSpPr>
        <p:spPr>
          <a:xfrm>
            <a:off x="5826050" y="2386050"/>
            <a:ext cx="1617300" cy="371400"/>
          </a:xfrm>
          <a:prstGeom prst="rect">
            <a:avLst/>
          </a:prstGeom>
          <a:solidFill>
            <a:schemeClr val="lt1"/>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 name="Google Shape;102;p8"/>
          <p:cNvSpPr txBox="1"/>
          <p:nvPr/>
        </p:nvSpPr>
        <p:spPr>
          <a:xfrm>
            <a:off x="3844175" y="1451425"/>
            <a:ext cx="1617300" cy="371400"/>
          </a:xfrm>
          <a:prstGeom prst="rect">
            <a:avLst/>
          </a:prstGeom>
          <a:solidFill>
            <a:schemeClr val="lt1"/>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9"/>
          <p:cNvSpPr txBox="1"/>
          <p:nvPr>
            <p:ph type="title"/>
          </p:nvPr>
        </p:nvSpPr>
        <p:spPr>
          <a:xfrm>
            <a:off x="311700" y="10037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b="1" lang="en-GB" sz="3000"/>
              <a:t>Agile Process Models:    1. </a:t>
            </a:r>
            <a:r>
              <a:rPr b="1" lang="en-GB" sz="2400"/>
              <a:t>Extreme Programming</a:t>
            </a:r>
            <a:endParaRPr b="1" sz="3000"/>
          </a:p>
          <a:p>
            <a:pPr indent="0" lvl="0" marL="0" rtl="0" algn="l">
              <a:lnSpc>
                <a:spcPct val="100000"/>
              </a:lnSpc>
              <a:spcBef>
                <a:spcPts val="0"/>
              </a:spcBef>
              <a:spcAft>
                <a:spcPts val="0"/>
              </a:spcAft>
              <a:buSzPts val="2800"/>
              <a:buNone/>
            </a:pPr>
            <a:r>
              <a:t/>
            </a:r>
            <a:endParaRPr sz="2400"/>
          </a:p>
          <a:p>
            <a:pPr indent="0" lvl="0" marL="0" rtl="0" algn="l">
              <a:lnSpc>
                <a:spcPct val="100000"/>
              </a:lnSpc>
              <a:spcBef>
                <a:spcPts val="0"/>
              </a:spcBef>
              <a:spcAft>
                <a:spcPts val="0"/>
              </a:spcAft>
              <a:buSzPts val="2800"/>
              <a:buNone/>
            </a:pPr>
            <a:r>
              <a:t/>
            </a:r>
            <a:endParaRPr sz="3000"/>
          </a:p>
        </p:txBody>
      </p:sp>
      <p:sp>
        <p:nvSpPr>
          <p:cNvPr id="108" name="Google Shape;108;p9"/>
          <p:cNvSpPr txBox="1"/>
          <p:nvPr>
            <p:ph idx="1" type="body"/>
          </p:nvPr>
        </p:nvSpPr>
        <p:spPr>
          <a:xfrm>
            <a:off x="311700" y="542875"/>
            <a:ext cx="8520600" cy="3416400"/>
          </a:xfrm>
          <a:prstGeom prst="rect">
            <a:avLst/>
          </a:prstGeom>
          <a:noFill/>
          <a:ln>
            <a:noFill/>
          </a:ln>
        </p:spPr>
        <p:txBody>
          <a:bodyPr anchorCtr="0" anchor="t" bIns="91425" lIns="91425" spcFirstLastPara="1" rIns="91425" wrap="square" tIns="91425">
            <a:normAutofit/>
          </a:bodyPr>
          <a:lstStyle/>
          <a:p>
            <a:pPr indent="-311150" lvl="0" marL="457200" rtl="0" algn="l">
              <a:lnSpc>
                <a:spcPct val="115000"/>
              </a:lnSpc>
              <a:spcBef>
                <a:spcPts val="0"/>
              </a:spcBef>
              <a:spcAft>
                <a:spcPts val="0"/>
              </a:spcAft>
              <a:buSzPts val="1300"/>
              <a:buChar char="●"/>
            </a:pPr>
            <a:r>
              <a:rPr lang="en-GB" sz="1300"/>
              <a:t>Extreme Programming uses an object-oriented approach (Appendix 2) as its preferred development paradigm and encompasses a set of rules and practices that occur within the context of four framework activities: planning, design, coding, and testing.</a:t>
            </a:r>
            <a:endParaRPr sz="1300"/>
          </a:p>
          <a:p>
            <a:pPr indent="0" lvl="0" marL="0" rtl="0" algn="l">
              <a:lnSpc>
                <a:spcPct val="115000"/>
              </a:lnSpc>
              <a:spcBef>
                <a:spcPts val="1200"/>
              </a:spcBef>
              <a:spcAft>
                <a:spcPts val="1200"/>
              </a:spcAft>
              <a:buSzPts val="1800"/>
              <a:buNone/>
            </a:pPr>
            <a:r>
              <a:t/>
            </a:r>
            <a:endParaRPr sz="1100"/>
          </a:p>
        </p:txBody>
      </p:sp>
      <p:pic>
        <p:nvPicPr>
          <p:cNvPr id="109" name="Google Shape;109;p9"/>
          <p:cNvPicPr preferRelativeResize="0"/>
          <p:nvPr/>
        </p:nvPicPr>
        <p:blipFill rotWithShape="1">
          <a:blip r:embed="rId3">
            <a:alphaModFix/>
          </a:blip>
          <a:srcRect b="0" l="0" r="0" t="10282"/>
          <a:stretch/>
        </p:blipFill>
        <p:spPr>
          <a:xfrm>
            <a:off x="141800" y="1285875"/>
            <a:ext cx="8791649" cy="38253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10"/>
          <p:cNvSpPr txBox="1"/>
          <p:nvPr>
            <p:ph idx="1" type="body"/>
          </p:nvPr>
        </p:nvSpPr>
        <p:spPr>
          <a:xfrm>
            <a:off x="357825" y="71275"/>
            <a:ext cx="8520600" cy="2386200"/>
          </a:xfrm>
          <a:prstGeom prst="rect">
            <a:avLst/>
          </a:prstGeom>
          <a:noFill/>
          <a:ln>
            <a:noFill/>
          </a:ln>
        </p:spPr>
        <p:txBody>
          <a:bodyPr anchorCtr="0" anchor="t" bIns="91425" lIns="91425" spcFirstLastPara="1" rIns="91425" wrap="square" tIns="91425">
            <a:normAutofit fontScale="85000" lnSpcReduction="20000"/>
          </a:bodyPr>
          <a:lstStyle/>
          <a:p>
            <a:pPr indent="0" lvl="0" marL="0" rtl="0" algn="just">
              <a:lnSpc>
                <a:spcPct val="100000"/>
              </a:lnSpc>
              <a:spcBef>
                <a:spcPts val="0"/>
              </a:spcBef>
              <a:spcAft>
                <a:spcPts val="0"/>
              </a:spcAft>
              <a:buSzPct val="90113"/>
              <a:buNone/>
            </a:pPr>
            <a:r>
              <a:rPr b="1" lang="en-GB" sz="2350">
                <a:solidFill>
                  <a:schemeClr val="dk1"/>
                </a:solidFill>
              </a:rPr>
              <a:t>Refactoring </a:t>
            </a:r>
            <a:r>
              <a:rPr lang="en-GB" sz="2350">
                <a:solidFill>
                  <a:schemeClr val="dk1"/>
                </a:solidFill>
              </a:rPr>
              <a:t>is the process of changing a software system in such a way that it does not alter the external behavior of the code yet improves the internal structure. </a:t>
            </a:r>
            <a:endParaRPr sz="2350">
              <a:solidFill>
                <a:schemeClr val="dk1"/>
              </a:solidFill>
            </a:endParaRPr>
          </a:p>
          <a:p>
            <a:pPr indent="0" lvl="0" marL="0" rtl="0" algn="just">
              <a:lnSpc>
                <a:spcPct val="100000"/>
              </a:lnSpc>
              <a:spcBef>
                <a:spcPts val="0"/>
              </a:spcBef>
              <a:spcAft>
                <a:spcPts val="0"/>
              </a:spcAft>
              <a:buClr>
                <a:schemeClr val="dk1"/>
              </a:buClr>
              <a:buSzPct val="46809"/>
              <a:buFont typeface="Arial"/>
              <a:buNone/>
            </a:pPr>
            <a:r>
              <a:rPr lang="en-GB" sz="2350">
                <a:solidFill>
                  <a:schemeClr val="dk1"/>
                </a:solidFill>
              </a:rPr>
              <a:t>It is a disciplined way to clean up code that minimizes the chances of introducing bugs.</a:t>
            </a:r>
            <a:endParaRPr sz="2350">
              <a:solidFill>
                <a:schemeClr val="dk1"/>
              </a:solidFill>
            </a:endParaRPr>
          </a:p>
          <a:p>
            <a:pPr indent="0" lvl="0" marL="0" rtl="0" algn="just">
              <a:lnSpc>
                <a:spcPct val="100000"/>
              </a:lnSpc>
              <a:spcBef>
                <a:spcPts val="0"/>
              </a:spcBef>
              <a:spcAft>
                <a:spcPts val="0"/>
              </a:spcAft>
              <a:buSzPct val="90113"/>
              <a:buNone/>
            </a:pPr>
            <a:r>
              <a:rPr lang="en-GB" sz="2350">
                <a:solidFill>
                  <a:schemeClr val="dk1"/>
                </a:solidFill>
              </a:rPr>
              <a:t>Refactoring means that design occurs continuously as the system is constructed.</a:t>
            </a:r>
            <a:endParaRPr sz="2350">
              <a:solidFill>
                <a:schemeClr val="dk1"/>
              </a:solidFill>
            </a:endParaRPr>
          </a:p>
          <a:p>
            <a:pPr indent="0" lvl="0" marL="0" rtl="0" algn="just">
              <a:lnSpc>
                <a:spcPct val="100000"/>
              </a:lnSpc>
              <a:spcBef>
                <a:spcPts val="0"/>
              </a:spcBef>
              <a:spcAft>
                <a:spcPts val="0"/>
              </a:spcAft>
              <a:buSzPct val="90113"/>
              <a:buNone/>
            </a:pPr>
            <a:r>
              <a:rPr b="1" lang="en-GB" sz="2350">
                <a:solidFill>
                  <a:schemeClr val="dk1"/>
                </a:solidFill>
              </a:rPr>
              <a:t>Spike:</a:t>
            </a:r>
            <a:r>
              <a:rPr lang="en-GB" sz="2350">
                <a:solidFill>
                  <a:schemeClr val="dk1"/>
                </a:solidFill>
              </a:rPr>
              <a:t> A Task to research about the issue and solve the issue. </a:t>
            </a:r>
            <a:endParaRPr sz="2350">
              <a:solidFill>
                <a:schemeClr val="dk1"/>
              </a:solidFill>
            </a:endParaRPr>
          </a:p>
          <a:p>
            <a:pPr indent="0" lvl="0" marL="0" rtl="0" algn="just">
              <a:lnSpc>
                <a:spcPct val="100000"/>
              </a:lnSpc>
              <a:spcBef>
                <a:spcPts val="0"/>
              </a:spcBef>
              <a:spcAft>
                <a:spcPts val="0"/>
              </a:spcAft>
              <a:buClr>
                <a:schemeClr val="dk1"/>
              </a:buClr>
              <a:buSzPct val="46809"/>
              <a:buFont typeface="Arial"/>
              <a:buNone/>
            </a:pPr>
            <a:r>
              <a:rPr b="1" lang="en-GB" sz="2350">
                <a:solidFill>
                  <a:schemeClr val="dk1"/>
                </a:solidFill>
              </a:rPr>
              <a:t>Test scenarios:</a:t>
            </a:r>
            <a:r>
              <a:rPr lang="en-GB" sz="2350">
                <a:solidFill>
                  <a:schemeClr val="dk1"/>
                </a:solidFill>
              </a:rPr>
              <a:t> A situation under which test cases needed to be made.</a:t>
            </a:r>
            <a:endParaRPr sz="1700">
              <a:solidFill>
                <a:schemeClr val="dk1"/>
              </a:solidFill>
            </a:endParaRPr>
          </a:p>
        </p:txBody>
      </p:sp>
      <p:pic>
        <p:nvPicPr>
          <p:cNvPr id="115" name="Google Shape;115;p10"/>
          <p:cNvPicPr preferRelativeResize="0"/>
          <p:nvPr/>
        </p:nvPicPr>
        <p:blipFill rotWithShape="1">
          <a:blip r:embed="rId3">
            <a:alphaModFix/>
          </a:blip>
          <a:srcRect b="0" l="0" r="0" t="0"/>
          <a:stretch/>
        </p:blipFill>
        <p:spPr>
          <a:xfrm>
            <a:off x="450100" y="2390050"/>
            <a:ext cx="8428324" cy="26923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1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t/>
            </a:r>
            <a:endParaRPr/>
          </a:p>
        </p:txBody>
      </p:sp>
      <p:pic>
        <p:nvPicPr>
          <p:cNvPr id="121" name="Google Shape;121;p11"/>
          <p:cNvPicPr preferRelativeResize="0"/>
          <p:nvPr/>
        </p:nvPicPr>
        <p:blipFill rotWithShape="1">
          <a:blip r:embed="rId3">
            <a:alphaModFix/>
          </a:blip>
          <a:srcRect b="0" l="0" r="0" t="0"/>
          <a:stretch/>
        </p:blipFill>
        <p:spPr>
          <a:xfrm>
            <a:off x="311700" y="597300"/>
            <a:ext cx="8167574" cy="37723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1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t/>
            </a:r>
            <a:endParaRPr/>
          </a:p>
        </p:txBody>
      </p:sp>
      <p:sp>
        <p:nvSpPr>
          <p:cNvPr id="127" name="Google Shape;127;p12"/>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t/>
            </a:r>
            <a:endParaRPr/>
          </a:p>
        </p:txBody>
      </p:sp>
      <p:pic>
        <p:nvPicPr>
          <p:cNvPr id="128" name="Google Shape;128;p12"/>
          <p:cNvPicPr preferRelativeResize="0"/>
          <p:nvPr/>
        </p:nvPicPr>
        <p:blipFill rotWithShape="1">
          <a:blip r:embed="rId3">
            <a:alphaModFix/>
          </a:blip>
          <a:srcRect b="0" l="0" r="0" t="0"/>
          <a:stretch/>
        </p:blipFill>
        <p:spPr>
          <a:xfrm>
            <a:off x="51529" y="0"/>
            <a:ext cx="9040943" cy="51435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13"/>
          <p:cNvSpPr txBox="1"/>
          <p:nvPr>
            <p:ph type="title"/>
          </p:nvPr>
        </p:nvSpPr>
        <p:spPr>
          <a:xfrm>
            <a:off x="311700" y="64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GB"/>
              <a:t>2. Scrum </a:t>
            </a:r>
            <a:endParaRPr/>
          </a:p>
        </p:txBody>
      </p:sp>
      <p:sp>
        <p:nvSpPr>
          <p:cNvPr id="134" name="Google Shape;134;p13"/>
          <p:cNvSpPr txBox="1"/>
          <p:nvPr>
            <p:ph idx="1" type="body"/>
          </p:nvPr>
        </p:nvSpPr>
        <p:spPr>
          <a:xfrm>
            <a:off x="311700" y="543525"/>
            <a:ext cx="8769000" cy="4401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en-GB" sz="1500">
                <a:solidFill>
                  <a:srgbClr val="4D5156"/>
                </a:solidFill>
                <a:highlight>
                  <a:srgbClr val="FFFFFF"/>
                </a:highlight>
              </a:rPr>
              <a:t>Scrum is </a:t>
            </a:r>
            <a:r>
              <a:rPr lang="en-GB" sz="1500">
                <a:solidFill>
                  <a:srgbClr val="040C28"/>
                </a:solidFill>
              </a:rPr>
              <a:t>a management framework that teams use to self-organize and work towards a common goal</a:t>
            </a:r>
            <a:r>
              <a:rPr lang="en-GB" sz="1500">
                <a:solidFill>
                  <a:srgbClr val="4D5156"/>
                </a:solidFill>
                <a:highlight>
                  <a:srgbClr val="FFFFFF"/>
                </a:highlight>
              </a:rPr>
              <a:t>. It describes a set of meetings, tools, and roles for efficient project delivery. Much like a sports team practicing for a big match, Scrum practices allow teams to self-manage, learn from experience, and adapt to change.</a:t>
            </a:r>
            <a:endParaRPr sz="1500">
              <a:solidFill>
                <a:srgbClr val="4D5156"/>
              </a:solidFill>
              <a:highlight>
                <a:srgbClr val="FFFFFF"/>
              </a:highlight>
            </a:endParaRPr>
          </a:p>
          <a:p>
            <a:pPr indent="0" lvl="0" marL="0" rtl="0" algn="l">
              <a:lnSpc>
                <a:spcPct val="115000"/>
              </a:lnSpc>
              <a:spcBef>
                <a:spcPts val="1200"/>
              </a:spcBef>
              <a:spcAft>
                <a:spcPts val="0"/>
              </a:spcAft>
              <a:buSzPts val="1800"/>
              <a:buNone/>
            </a:pPr>
            <a:r>
              <a:rPr lang="en-GB" sz="1500">
                <a:solidFill>
                  <a:srgbClr val="4D5156"/>
                </a:solidFill>
                <a:highlight>
                  <a:srgbClr val="FFFFFF"/>
                </a:highlight>
              </a:rPr>
              <a:t>Scrum principles are consistent with the agile manifesto and are used to guide development activities within a process that incorporates the following framework  activities: requirements, analysis, design, evolution, and delivery.</a:t>
            </a:r>
            <a:endParaRPr sz="1500">
              <a:solidFill>
                <a:srgbClr val="4D5156"/>
              </a:solidFill>
              <a:highlight>
                <a:srgbClr val="FFFFFF"/>
              </a:highlight>
            </a:endParaRPr>
          </a:p>
          <a:p>
            <a:pPr indent="0" lvl="0" marL="0" rtl="0" algn="l">
              <a:lnSpc>
                <a:spcPct val="115000"/>
              </a:lnSpc>
              <a:spcBef>
                <a:spcPts val="1200"/>
              </a:spcBef>
              <a:spcAft>
                <a:spcPts val="0"/>
              </a:spcAft>
              <a:buSzPts val="1800"/>
              <a:buNone/>
            </a:pPr>
            <a:r>
              <a:rPr lang="en-GB" sz="1500">
                <a:solidFill>
                  <a:srgbClr val="4D5156"/>
                </a:solidFill>
                <a:highlight>
                  <a:srgbClr val="FFFFFF"/>
                </a:highlight>
              </a:rPr>
              <a:t>Scrum emphasizes the use of a set of software process patterns [Noy02] that have proven effective for projects with tight timelines, changing requirements, and business criticality.</a:t>
            </a:r>
            <a:endParaRPr sz="1500">
              <a:solidFill>
                <a:srgbClr val="4D5156"/>
              </a:solidFill>
              <a:highlight>
                <a:srgbClr val="FFFFFF"/>
              </a:highlight>
            </a:endParaRPr>
          </a:p>
          <a:p>
            <a:pPr indent="0" lvl="0" marL="0" rtl="0" algn="l">
              <a:lnSpc>
                <a:spcPct val="115000"/>
              </a:lnSpc>
              <a:spcBef>
                <a:spcPts val="1200"/>
              </a:spcBef>
              <a:spcAft>
                <a:spcPts val="0"/>
              </a:spcAft>
              <a:buSzPts val="1800"/>
              <a:buNone/>
            </a:pPr>
            <a:r>
              <a:rPr lang="en-GB" sz="1500">
                <a:solidFill>
                  <a:srgbClr val="4D5156"/>
                </a:solidFill>
                <a:highlight>
                  <a:srgbClr val="FFFFFF"/>
                </a:highlight>
              </a:rPr>
              <a:t>People often think scrum and agile are the same thing because </a:t>
            </a:r>
            <a:r>
              <a:rPr lang="en-GB" sz="1500">
                <a:solidFill>
                  <a:srgbClr val="040C28"/>
                </a:solidFill>
              </a:rPr>
              <a:t>scrum is centered around continuous improvement</a:t>
            </a:r>
            <a:r>
              <a:rPr lang="en-GB" sz="1500">
                <a:solidFill>
                  <a:srgbClr val="4D5156"/>
                </a:solidFill>
                <a:highlight>
                  <a:srgbClr val="FFFFFF"/>
                </a:highlight>
              </a:rPr>
              <a:t>, which is a core principle of agile. However, scrum is a framework for getting work done, whereas agile is a philosophy.</a:t>
            </a:r>
            <a:endParaRPr sz="1500">
              <a:solidFill>
                <a:srgbClr val="4D5156"/>
              </a:solidFill>
              <a:highlight>
                <a:srgbClr val="FFFFFF"/>
              </a:highlight>
            </a:endParaRPr>
          </a:p>
          <a:p>
            <a:pPr indent="0" lvl="0" marL="0" rtl="0" algn="l">
              <a:lnSpc>
                <a:spcPct val="115000"/>
              </a:lnSpc>
              <a:spcBef>
                <a:spcPts val="1200"/>
              </a:spcBef>
              <a:spcAft>
                <a:spcPts val="1200"/>
              </a:spcAft>
              <a:buSzPts val="1800"/>
              <a:buNone/>
            </a:pPr>
            <a:r>
              <a:rPr lang="en-GB" sz="1500">
                <a:solidFill>
                  <a:srgbClr val="4D5156"/>
                </a:solidFill>
                <a:highlight>
                  <a:srgbClr val="FFFFFF"/>
                </a:highlight>
              </a:rPr>
              <a:t>The key difference between Agile and Scrum is that </a:t>
            </a:r>
            <a:r>
              <a:rPr lang="en-GB" sz="1500">
                <a:solidFill>
                  <a:srgbClr val="040C28"/>
                </a:solidFill>
              </a:rPr>
              <a:t>Agile is a philosophy about how to successfully deliver software to a customer, while Scrum is a proven methodology for software development teams to follow</a:t>
            </a:r>
            <a:r>
              <a:rPr lang="en-GB" sz="1500">
                <a:solidFill>
                  <a:srgbClr val="4D5156"/>
                </a:solidFill>
                <a:highlight>
                  <a:srgbClr val="FFFFFF"/>
                </a:highlight>
              </a:rPr>
              <a:t>.</a:t>
            </a:r>
            <a:endParaRPr sz="1500">
              <a:solidFill>
                <a:srgbClr val="4D5156"/>
              </a:solidFill>
              <a:highlight>
                <a:srgbClr val="FFFFFF"/>
              </a:highlight>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14"/>
          <p:cNvSpPr txBox="1"/>
          <p:nvPr>
            <p:ph idx="1" type="body"/>
          </p:nvPr>
        </p:nvSpPr>
        <p:spPr>
          <a:xfrm>
            <a:off x="311700" y="193375"/>
            <a:ext cx="8520600" cy="47997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Clr>
                <a:schemeClr val="dk1"/>
              </a:buClr>
              <a:buSzPts val="1100"/>
              <a:buFont typeface="Arial"/>
              <a:buNone/>
            </a:pPr>
            <a:r>
              <a:rPr b="1" lang="en-GB">
                <a:solidFill>
                  <a:srgbClr val="273239"/>
                </a:solidFill>
                <a:highlight>
                  <a:srgbClr val="FFFFFF"/>
                </a:highlight>
              </a:rPr>
              <a:t>Scrum</a:t>
            </a:r>
            <a:r>
              <a:rPr lang="en-GB">
                <a:solidFill>
                  <a:srgbClr val="273239"/>
                </a:solidFill>
                <a:highlight>
                  <a:srgbClr val="FFFFFF"/>
                </a:highlight>
              </a:rPr>
              <a:t> is the type of </a:t>
            </a:r>
            <a:r>
              <a:rPr b="1" lang="en-GB">
                <a:solidFill>
                  <a:srgbClr val="273239"/>
                </a:solidFill>
                <a:highlight>
                  <a:srgbClr val="FFFFFF"/>
                </a:highlight>
              </a:rPr>
              <a:t>Agile framework</a:t>
            </a:r>
            <a:r>
              <a:rPr lang="en-GB">
                <a:solidFill>
                  <a:srgbClr val="273239"/>
                </a:solidFill>
                <a:highlight>
                  <a:srgbClr val="FFFFFF"/>
                </a:highlight>
              </a:rPr>
              <a:t>. It is a framework within which people can address complex adaptive problem while productivity and creativity of delivering product is at highest possible values. Scrum uses </a:t>
            </a:r>
            <a:r>
              <a:rPr b="1" lang="en-GB">
                <a:solidFill>
                  <a:srgbClr val="273239"/>
                </a:solidFill>
                <a:highlight>
                  <a:srgbClr val="FFFFFF"/>
                </a:highlight>
              </a:rPr>
              <a:t>Iterative process</a:t>
            </a:r>
            <a:r>
              <a:rPr lang="en-GB">
                <a:solidFill>
                  <a:srgbClr val="273239"/>
                </a:solidFill>
                <a:highlight>
                  <a:srgbClr val="FFFFFF"/>
                </a:highlight>
              </a:rPr>
              <a:t>. </a:t>
            </a:r>
            <a:r>
              <a:rPr b="1" lang="en-GB">
                <a:solidFill>
                  <a:srgbClr val="273239"/>
                </a:solidFill>
                <a:highlight>
                  <a:srgbClr val="FFFFFF"/>
                </a:highlight>
              </a:rPr>
              <a:t>Silent features of Scrum are:</a:t>
            </a:r>
            <a:endParaRPr b="1">
              <a:solidFill>
                <a:srgbClr val="273239"/>
              </a:solidFill>
              <a:highlight>
                <a:srgbClr val="FFFFFF"/>
              </a:highlight>
            </a:endParaRPr>
          </a:p>
          <a:p>
            <a:pPr indent="-342900" lvl="0" marL="685800" rtl="0" algn="l">
              <a:lnSpc>
                <a:spcPct val="158000"/>
              </a:lnSpc>
              <a:spcBef>
                <a:spcPts val="800"/>
              </a:spcBef>
              <a:spcAft>
                <a:spcPts val="0"/>
              </a:spcAft>
              <a:buClr>
                <a:srgbClr val="273239"/>
              </a:buClr>
              <a:buSzPts val="1800"/>
              <a:buFont typeface="Arial"/>
              <a:buChar char="●"/>
            </a:pPr>
            <a:r>
              <a:rPr lang="en-GB">
                <a:solidFill>
                  <a:srgbClr val="273239"/>
                </a:solidFill>
                <a:highlight>
                  <a:srgbClr val="FFFFFF"/>
                </a:highlight>
              </a:rPr>
              <a:t>Scrum is light-weighted framework</a:t>
            </a:r>
            <a:endParaRPr>
              <a:solidFill>
                <a:srgbClr val="273239"/>
              </a:solidFill>
              <a:highlight>
                <a:srgbClr val="FFFFFF"/>
              </a:highlight>
            </a:endParaRPr>
          </a:p>
          <a:p>
            <a:pPr indent="-342900" lvl="0" marL="685800" rtl="0" algn="l">
              <a:lnSpc>
                <a:spcPct val="158000"/>
              </a:lnSpc>
              <a:spcBef>
                <a:spcPts val="0"/>
              </a:spcBef>
              <a:spcAft>
                <a:spcPts val="0"/>
              </a:spcAft>
              <a:buClr>
                <a:srgbClr val="273239"/>
              </a:buClr>
              <a:buSzPts val="1800"/>
              <a:buFont typeface="Arial"/>
              <a:buChar char="●"/>
            </a:pPr>
            <a:r>
              <a:rPr lang="en-GB">
                <a:solidFill>
                  <a:srgbClr val="273239"/>
                </a:solidFill>
                <a:highlight>
                  <a:srgbClr val="FFFFFF"/>
                </a:highlight>
              </a:rPr>
              <a:t>Scrum emphasizes self-organization</a:t>
            </a:r>
            <a:endParaRPr>
              <a:solidFill>
                <a:srgbClr val="273239"/>
              </a:solidFill>
              <a:highlight>
                <a:srgbClr val="FFFFFF"/>
              </a:highlight>
            </a:endParaRPr>
          </a:p>
          <a:p>
            <a:pPr indent="-342900" lvl="0" marL="685800" rtl="0" algn="l">
              <a:lnSpc>
                <a:spcPct val="158000"/>
              </a:lnSpc>
              <a:spcBef>
                <a:spcPts val="0"/>
              </a:spcBef>
              <a:spcAft>
                <a:spcPts val="0"/>
              </a:spcAft>
              <a:buClr>
                <a:srgbClr val="273239"/>
              </a:buClr>
              <a:buSzPts val="1800"/>
              <a:buFont typeface="Arial"/>
              <a:buChar char="●"/>
            </a:pPr>
            <a:r>
              <a:rPr lang="en-GB">
                <a:solidFill>
                  <a:srgbClr val="273239"/>
                </a:solidFill>
                <a:highlight>
                  <a:srgbClr val="FFFFFF"/>
                </a:highlight>
              </a:rPr>
              <a:t>Scrum is simple to understand</a:t>
            </a:r>
            <a:endParaRPr>
              <a:solidFill>
                <a:srgbClr val="273239"/>
              </a:solidFill>
              <a:highlight>
                <a:srgbClr val="FFFFFF"/>
              </a:highlight>
            </a:endParaRPr>
          </a:p>
          <a:p>
            <a:pPr indent="-342900" lvl="0" marL="685800" rtl="0" algn="l">
              <a:lnSpc>
                <a:spcPct val="158000"/>
              </a:lnSpc>
              <a:spcBef>
                <a:spcPts val="0"/>
              </a:spcBef>
              <a:spcAft>
                <a:spcPts val="0"/>
              </a:spcAft>
              <a:buClr>
                <a:srgbClr val="273239"/>
              </a:buClr>
              <a:buSzPts val="1800"/>
              <a:buFont typeface="Arial"/>
              <a:buChar char="●"/>
            </a:pPr>
            <a:r>
              <a:rPr lang="en-GB">
                <a:solidFill>
                  <a:srgbClr val="273239"/>
                </a:solidFill>
                <a:highlight>
                  <a:srgbClr val="FFFFFF"/>
                </a:highlight>
              </a:rPr>
              <a:t>Scrum framework help the team to work together</a:t>
            </a:r>
            <a:endParaRPr>
              <a:solidFill>
                <a:srgbClr val="273239"/>
              </a:solidFill>
              <a:highlight>
                <a:srgbClr val="FFFFFF"/>
              </a:highlight>
            </a:endParaRPr>
          </a:p>
          <a:p>
            <a:pPr indent="0" lvl="0" marL="0" rtl="0" algn="l">
              <a:lnSpc>
                <a:spcPct val="115000"/>
              </a:lnSpc>
              <a:spcBef>
                <a:spcPts val="1800"/>
              </a:spcBef>
              <a:spcAft>
                <a:spcPts val="1200"/>
              </a:spcAft>
              <a:buSzPts val="1800"/>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15"/>
          <p:cNvSpPr txBox="1"/>
          <p:nvPr>
            <p:ph type="title"/>
          </p:nvPr>
        </p:nvSpPr>
        <p:spPr>
          <a:xfrm>
            <a:off x="311700" y="64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39286"/>
              <a:buFont typeface="Arial"/>
              <a:buNone/>
            </a:pPr>
            <a:r>
              <a:rPr lang="en-GB"/>
              <a:t>Scrum process flow</a:t>
            </a:r>
            <a:endParaRPr/>
          </a:p>
          <a:p>
            <a:pPr indent="0" lvl="0" marL="0" rtl="0" algn="l">
              <a:lnSpc>
                <a:spcPct val="100000"/>
              </a:lnSpc>
              <a:spcBef>
                <a:spcPts val="0"/>
              </a:spcBef>
              <a:spcAft>
                <a:spcPts val="0"/>
              </a:spcAft>
              <a:buSzPct val="111111"/>
              <a:buNone/>
            </a:pPr>
            <a:r>
              <a:t/>
            </a:r>
            <a:endParaRPr/>
          </a:p>
        </p:txBody>
      </p:sp>
      <p:sp>
        <p:nvSpPr>
          <p:cNvPr id="145" name="Google Shape;145;p15"/>
          <p:cNvSpPr txBox="1"/>
          <p:nvPr>
            <p:ph idx="1" type="body"/>
          </p:nvPr>
        </p:nvSpPr>
        <p:spPr>
          <a:xfrm>
            <a:off x="311700" y="542875"/>
            <a:ext cx="8520600" cy="4188000"/>
          </a:xfrm>
          <a:prstGeom prst="rect">
            <a:avLst/>
          </a:prstGeom>
          <a:noFill/>
          <a:ln>
            <a:noFill/>
          </a:ln>
        </p:spPr>
        <p:txBody>
          <a:bodyPr anchorCtr="0" anchor="t" bIns="91425" lIns="91425" spcFirstLastPara="1" rIns="91425" wrap="square" tIns="91425">
            <a:noAutofit/>
          </a:bodyPr>
          <a:lstStyle/>
          <a:p>
            <a:pPr indent="-330200" lvl="0" marL="457200" rtl="0" algn="l">
              <a:lnSpc>
                <a:spcPct val="115000"/>
              </a:lnSpc>
              <a:spcBef>
                <a:spcPts val="0"/>
              </a:spcBef>
              <a:spcAft>
                <a:spcPts val="0"/>
              </a:spcAft>
              <a:buClr>
                <a:schemeClr val="dk1"/>
              </a:buClr>
              <a:buSzPts val="1600"/>
              <a:buAutoNum type="arabicPeriod"/>
            </a:pPr>
            <a:r>
              <a:rPr b="1" lang="en-GB" sz="1600">
                <a:solidFill>
                  <a:schemeClr val="dk1"/>
                </a:solidFill>
              </a:rPr>
              <a:t>Backlog</a:t>
            </a:r>
            <a:r>
              <a:rPr lang="en-GB" sz="1600">
                <a:solidFill>
                  <a:schemeClr val="dk1"/>
                </a:solidFill>
              </a:rPr>
              <a:t>—a prioritized list of project requirements or features that provide business value for the customer. Items can be added to the backlog at any time (this is how changes are introduced). The product manager assesses the backlog and updates priorities as required.</a:t>
            </a:r>
            <a:endParaRPr sz="1600">
              <a:solidFill>
                <a:schemeClr val="dk1"/>
              </a:solidFill>
            </a:endParaRPr>
          </a:p>
          <a:p>
            <a:pPr indent="-336550" lvl="0" marL="457200" rtl="0" algn="l">
              <a:lnSpc>
                <a:spcPct val="115000"/>
              </a:lnSpc>
              <a:spcBef>
                <a:spcPts val="0"/>
              </a:spcBef>
              <a:spcAft>
                <a:spcPts val="0"/>
              </a:spcAft>
              <a:buClr>
                <a:schemeClr val="dk1"/>
              </a:buClr>
              <a:buSzPts val="1700"/>
              <a:buAutoNum type="arabicPeriod"/>
            </a:pPr>
            <a:r>
              <a:rPr b="1" lang="en-GB" sz="1600">
                <a:solidFill>
                  <a:schemeClr val="dk1"/>
                </a:solidFill>
              </a:rPr>
              <a:t>Sprints</a:t>
            </a:r>
            <a:r>
              <a:rPr lang="en-GB" sz="1600">
                <a:solidFill>
                  <a:schemeClr val="dk1"/>
                </a:solidFill>
              </a:rPr>
              <a:t>—</a:t>
            </a:r>
            <a:r>
              <a:rPr lang="en-GB" sz="1700">
                <a:solidFill>
                  <a:srgbClr val="273239"/>
                </a:solidFill>
                <a:highlight>
                  <a:schemeClr val="lt1"/>
                </a:highlight>
              </a:rPr>
              <a:t>A Sprint is a time box of one month or less. A new Sprint starts immediately after the completion of the previous Sprint. It </a:t>
            </a:r>
            <a:r>
              <a:rPr lang="en-GB" sz="1600">
                <a:solidFill>
                  <a:schemeClr val="dk1"/>
                </a:solidFill>
              </a:rPr>
              <a:t>consist of work units that are required to achieve a requirement defined in the backlog that must be fit into a predefined time-box14 </a:t>
            </a:r>
            <a:r>
              <a:rPr b="1" lang="en-GB" sz="1600">
                <a:solidFill>
                  <a:schemeClr val="dk1"/>
                </a:solidFill>
              </a:rPr>
              <a:t>(typically 30 days)</a:t>
            </a:r>
            <a:r>
              <a:rPr lang="en-GB" sz="1600">
                <a:solidFill>
                  <a:schemeClr val="dk1"/>
                </a:solidFill>
              </a:rPr>
              <a:t>. Changes (e.g., backlog work items) are not introduced during the sprint. Hence, the sprint allows team members to work in a short-term, but stable environment.</a:t>
            </a:r>
            <a:endParaRPr sz="1600">
              <a:solidFill>
                <a:schemeClr val="dk1"/>
              </a:solidFill>
            </a:endParaRPr>
          </a:p>
          <a:p>
            <a:pPr indent="-330200" lvl="0" marL="457200" rtl="0" algn="l">
              <a:lnSpc>
                <a:spcPct val="115000"/>
              </a:lnSpc>
              <a:spcBef>
                <a:spcPts val="0"/>
              </a:spcBef>
              <a:spcAft>
                <a:spcPts val="0"/>
              </a:spcAft>
              <a:buClr>
                <a:schemeClr val="dk1"/>
              </a:buClr>
              <a:buSzPts val="1600"/>
              <a:buAutoNum type="arabicPeriod"/>
            </a:pPr>
            <a:r>
              <a:rPr lang="en-GB" sz="1600">
                <a:solidFill>
                  <a:schemeClr val="dk1"/>
                </a:solidFill>
              </a:rPr>
              <a:t>Scrum meetings—are short (typically 15 minutes) meetings held daily by the Scrum team. Three key questions are asked and answered by all team members:</a:t>
            </a:r>
            <a:endParaRPr sz="1600">
              <a:solidFill>
                <a:schemeClr val="dk1"/>
              </a:solidFill>
            </a:endParaRPr>
          </a:p>
          <a:p>
            <a:pPr indent="0" lvl="0" marL="457200" rtl="0" algn="l">
              <a:lnSpc>
                <a:spcPct val="100000"/>
              </a:lnSpc>
              <a:spcBef>
                <a:spcPts val="1200"/>
              </a:spcBef>
              <a:spcAft>
                <a:spcPts val="0"/>
              </a:spcAft>
              <a:buSzPts val="1800"/>
              <a:buNone/>
            </a:pPr>
            <a:r>
              <a:rPr lang="en-GB" sz="1600">
                <a:solidFill>
                  <a:schemeClr val="dk1"/>
                </a:solidFill>
              </a:rPr>
              <a:t>• What did you do since the last team meeting?</a:t>
            </a:r>
            <a:endParaRPr sz="1600">
              <a:solidFill>
                <a:schemeClr val="dk1"/>
              </a:solidFill>
            </a:endParaRPr>
          </a:p>
          <a:p>
            <a:pPr indent="0" lvl="0" marL="457200" rtl="0" algn="l">
              <a:lnSpc>
                <a:spcPct val="100000"/>
              </a:lnSpc>
              <a:spcBef>
                <a:spcPts val="0"/>
              </a:spcBef>
              <a:spcAft>
                <a:spcPts val="0"/>
              </a:spcAft>
              <a:buSzPts val="1800"/>
              <a:buNone/>
            </a:pPr>
            <a:r>
              <a:rPr lang="en-GB" sz="1600">
                <a:solidFill>
                  <a:schemeClr val="dk1"/>
                </a:solidFill>
              </a:rPr>
              <a:t>• What obstacles are you encountering?</a:t>
            </a:r>
            <a:endParaRPr sz="1600">
              <a:solidFill>
                <a:schemeClr val="dk1"/>
              </a:solidFill>
            </a:endParaRPr>
          </a:p>
          <a:p>
            <a:pPr indent="0" lvl="0" marL="457200" rtl="0" algn="l">
              <a:lnSpc>
                <a:spcPct val="100000"/>
              </a:lnSpc>
              <a:spcBef>
                <a:spcPts val="0"/>
              </a:spcBef>
              <a:spcAft>
                <a:spcPts val="0"/>
              </a:spcAft>
              <a:buSzPts val="1800"/>
              <a:buNone/>
            </a:pPr>
            <a:r>
              <a:rPr lang="en-GB" sz="1600">
                <a:solidFill>
                  <a:schemeClr val="dk1"/>
                </a:solidFill>
              </a:rPr>
              <a:t>• What do you plan to accomplish by the next team meeting?</a:t>
            </a:r>
            <a:endParaRPr sz="1600">
              <a:solidFill>
                <a:schemeClr val="dk1"/>
              </a:solidFill>
            </a:endParaRPr>
          </a:p>
          <a:p>
            <a:pPr indent="0" lvl="0" marL="457200" rtl="0" algn="l">
              <a:lnSpc>
                <a:spcPct val="115000"/>
              </a:lnSpc>
              <a:spcBef>
                <a:spcPts val="0"/>
              </a:spcBef>
              <a:spcAft>
                <a:spcPts val="0"/>
              </a:spcAft>
              <a:buSzPts val="1800"/>
              <a:buNone/>
            </a:pPr>
            <a:r>
              <a:t/>
            </a:r>
            <a:endParaRPr sz="1600">
              <a:solidFill>
                <a:schemeClr val="dk1"/>
              </a:solidFill>
            </a:endParaRPr>
          </a:p>
          <a:p>
            <a:pPr indent="0" lvl="0" marL="457200" rtl="0" algn="l">
              <a:lnSpc>
                <a:spcPct val="115000"/>
              </a:lnSpc>
              <a:spcBef>
                <a:spcPts val="1200"/>
              </a:spcBef>
              <a:spcAft>
                <a:spcPts val="0"/>
              </a:spcAft>
              <a:buSzPts val="1800"/>
              <a:buNone/>
            </a:pPr>
            <a:r>
              <a:t/>
            </a:r>
            <a:endParaRPr sz="1600">
              <a:solidFill>
                <a:schemeClr val="dk1"/>
              </a:solidFill>
            </a:endParaRPr>
          </a:p>
          <a:p>
            <a:pPr indent="0" lvl="0" marL="0" rtl="0" algn="l">
              <a:lnSpc>
                <a:spcPct val="115000"/>
              </a:lnSpc>
              <a:spcBef>
                <a:spcPts val="1200"/>
              </a:spcBef>
              <a:spcAft>
                <a:spcPts val="1200"/>
              </a:spcAft>
              <a:buSzPts val="1800"/>
              <a:buNone/>
            </a:pPr>
            <a:r>
              <a:t/>
            </a:r>
            <a:endParaRPr sz="1600">
              <a:solidFill>
                <a:schemeClr val="dk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16"/>
          <p:cNvSpPr txBox="1"/>
          <p:nvPr>
            <p:ph idx="1" type="body"/>
          </p:nvPr>
        </p:nvSpPr>
        <p:spPr>
          <a:xfrm>
            <a:off x="311700" y="141800"/>
            <a:ext cx="8520600" cy="48858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n-GB"/>
              <a:t>4. </a:t>
            </a:r>
            <a:r>
              <a:rPr b="1" lang="en-GB"/>
              <a:t>Demos</a:t>
            </a:r>
            <a:r>
              <a:rPr lang="en-GB"/>
              <a:t>—deliver the software increment to the customer so that functionality that has been implemented can be demonstrated and evaluated by the customer. It is important to note that the demo may not contain all planned functionality, but rather those functions that can be delivered within the time-box that was established.</a:t>
            </a:r>
            <a:endParaRPr/>
          </a:p>
          <a:p>
            <a:pPr indent="0" lvl="0" marL="0" rtl="0" algn="l">
              <a:lnSpc>
                <a:spcPct val="115000"/>
              </a:lnSpc>
              <a:spcBef>
                <a:spcPts val="1200"/>
              </a:spcBef>
              <a:spcAft>
                <a:spcPts val="0"/>
              </a:spcAft>
              <a:buSzPts val="1800"/>
              <a:buNone/>
            </a:pPr>
            <a:r>
              <a:t/>
            </a:r>
            <a:endParaRPr/>
          </a:p>
          <a:p>
            <a:pPr indent="0" lvl="0" marL="0" rtl="0" algn="l">
              <a:lnSpc>
                <a:spcPct val="115000"/>
              </a:lnSpc>
              <a:spcBef>
                <a:spcPts val="1200"/>
              </a:spcBef>
              <a:spcAft>
                <a:spcPts val="0"/>
              </a:spcAft>
              <a:buSzPts val="1800"/>
              <a:buNone/>
            </a:pPr>
            <a:r>
              <a:rPr b="1" lang="en-GB"/>
              <a:t>Who is a team leader?</a:t>
            </a:r>
            <a:endParaRPr b="1"/>
          </a:p>
          <a:p>
            <a:pPr indent="0" lvl="0" marL="0" rtl="0" algn="l">
              <a:lnSpc>
                <a:spcPct val="115000"/>
              </a:lnSpc>
              <a:spcBef>
                <a:spcPts val="1200"/>
              </a:spcBef>
              <a:spcAft>
                <a:spcPts val="0"/>
              </a:spcAft>
              <a:buClr>
                <a:schemeClr val="dk1"/>
              </a:buClr>
              <a:buSzPts val="1100"/>
              <a:buFont typeface="Arial"/>
              <a:buNone/>
            </a:pPr>
            <a:r>
              <a:rPr lang="en-GB"/>
              <a:t>A team leader, called a Scrum master, leads the meeting and assesses the responses from each person. The Scrum meeting helps the team to uncover potential problems as early as possible. Also, these daily meetings lead to “knowledge socialization” and thereby promote a self-organizing team structure.</a:t>
            </a:r>
            <a:endParaRPr/>
          </a:p>
          <a:p>
            <a:pPr indent="0" lvl="0" marL="0" rtl="0" algn="l">
              <a:lnSpc>
                <a:spcPct val="115000"/>
              </a:lnSpc>
              <a:spcBef>
                <a:spcPts val="1200"/>
              </a:spcBef>
              <a:spcAft>
                <a:spcPts val="1200"/>
              </a:spcAft>
              <a:buSzPts val="1800"/>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17"/>
          <p:cNvSpPr txBox="1"/>
          <p:nvPr>
            <p:ph type="title"/>
          </p:nvPr>
        </p:nvSpPr>
        <p:spPr>
          <a:xfrm>
            <a:off x="311700" y="64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GB"/>
              <a:t> </a:t>
            </a:r>
            <a:endParaRPr/>
          </a:p>
        </p:txBody>
      </p:sp>
      <p:sp>
        <p:nvSpPr>
          <p:cNvPr id="156" name="Google Shape;156;p1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t/>
            </a:r>
            <a:endParaRPr/>
          </a:p>
        </p:txBody>
      </p:sp>
      <p:pic>
        <p:nvPicPr>
          <p:cNvPr id="157" name="Google Shape;157;p17"/>
          <p:cNvPicPr preferRelativeResize="0"/>
          <p:nvPr/>
        </p:nvPicPr>
        <p:blipFill rotWithShape="1">
          <a:blip r:embed="rId3">
            <a:alphaModFix/>
          </a:blip>
          <a:srcRect b="0" l="0" r="0" t="8122"/>
          <a:stretch/>
        </p:blipFill>
        <p:spPr>
          <a:xfrm>
            <a:off x="114675" y="729100"/>
            <a:ext cx="8810151" cy="4566800"/>
          </a:xfrm>
          <a:prstGeom prst="rect">
            <a:avLst/>
          </a:prstGeom>
          <a:noFill/>
          <a:ln>
            <a:noFill/>
          </a:ln>
        </p:spPr>
      </p:pic>
      <p:sp>
        <p:nvSpPr>
          <p:cNvPr id="158" name="Google Shape;158;p17"/>
          <p:cNvSpPr txBox="1"/>
          <p:nvPr/>
        </p:nvSpPr>
        <p:spPr>
          <a:xfrm>
            <a:off x="410950" y="212100"/>
            <a:ext cx="3618900" cy="424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GB" sz="1400" u="none" cap="none" strike="noStrike">
                <a:solidFill>
                  <a:srgbClr val="000000"/>
                </a:solidFill>
                <a:latin typeface="Arial"/>
                <a:ea typeface="Arial"/>
                <a:cs typeface="Arial"/>
                <a:sym typeface="Arial"/>
              </a:rPr>
              <a:t>Short Notes on Scrum Process Flow</a:t>
            </a:r>
            <a:endParaRPr b="1" i="0" sz="1400" u="none" cap="none" strike="noStrik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1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t/>
            </a:r>
            <a:endParaRPr/>
          </a:p>
        </p:txBody>
      </p:sp>
      <p:pic>
        <p:nvPicPr>
          <p:cNvPr id="164" name="Google Shape;164;p18"/>
          <p:cNvPicPr preferRelativeResize="0"/>
          <p:nvPr/>
        </p:nvPicPr>
        <p:blipFill rotWithShape="1">
          <a:blip r:embed="rId3">
            <a:alphaModFix/>
          </a:blip>
          <a:srcRect b="5649" l="20291" r="18091" t="22388"/>
          <a:stretch/>
        </p:blipFill>
        <p:spPr>
          <a:xfrm>
            <a:off x="204550" y="64200"/>
            <a:ext cx="8520599" cy="48961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1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t/>
            </a:r>
            <a:endParaRPr/>
          </a:p>
        </p:txBody>
      </p:sp>
      <p:sp>
        <p:nvSpPr>
          <p:cNvPr id="170" name="Google Shape;170;p19"/>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t/>
            </a:r>
            <a:endParaRPr/>
          </a:p>
        </p:txBody>
      </p:sp>
      <p:pic>
        <p:nvPicPr>
          <p:cNvPr id="171" name="Google Shape;171;p19"/>
          <p:cNvPicPr preferRelativeResize="0"/>
          <p:nvPr/>
        </p:nvPicPr>
        <p:blipFill rotWithShape="1">
          <a:blip r:embed="rId3">
            <a:alphaModFix/>
          </a:blip>
          <a:srcRect b="0" l="0" r="0" t="0"/>
          <a:stretch/>
        </p:blipFill>
        <p:spPr>
          <a:xfrm>
            <a:off x="0" y="60703"/>
            <a:ext cx="9144000" cy="5022093"/>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0"/>
          <p:cNvSpPr txBox="1"/>
          <p:nvPr>
            <p:ph idx="1" type="body"/>
          </p:nvPr>
        </p:nvSpPr>
        <p:spPr>
          <a:xfrm>
            <a:off x="311700" y="238625"/>
            <a:ext cx="4420800" cy="4812000"/>
          </a:xfrm>
          <a:prstGeom prst="rect">
            <a:avLst/>
          </a:prstGeom>
          <a:noFill/>
          <a:ln>
            <a:noFill/>
          </a:ln>
        </p:spPr>
        <p:txBody>
          <a:bodyPr anchorCtr="0" anchor="t" bIns="91425" lIns="91425" spcFirstLastPara="1" rIns="91425" wrap="square" tIns="91425">
            <a:normAutofit fontScale="70000" lnSpcReduction="20000"/>
          </a:bodyPr>
          <a:lstStyle/>
          <a:p>
            <a:pPr indent="0" lvl="0" marL="0" rtl="0" algn="l">
              <a:lnSpc>
                <a:spcPct val="115000"/>
              </a:lnSpc>
              <a:spcBef>
                <a:spcPts val="0"/>
              </a:spcBef>
              <a:spcAft>
                <a:spcPts val="0"/>
              </a:spcAft>
              <a:buClr>
                <a:schemeClr val="dk1"/>
              </a:buClr>
              <a:buSzPct val="43137"/>
              <a:buFont typeface="Arial"/>
              <a:buNone/>
            </a:pPr>
            <a:r>
              <a:rPr b="1" lang="en-GB" sz="2550">
                <a:solidFill>
                  <a:srgbClr val="273239"/>
                </a:solidFill>
                <a:highlight>
                  <a:srgbClr val="FFFFFF"/>
                </a:highlight>
              </a:rPr>
              <a:t>Advantage of using Scrum framework:</a:t>
            </a:r>
            <a:endParaRPr b="1" sz="2550">
              <a:solidFill>
                <a:srgbClr val="273239"/>
              </a:solidFill>
              <a:highlight>
                <a:srgbClr val="FFFFFF"/>
              </a:highlight>
            </a:endParaRPr>
          </a:p>
          <a:p>
            <a:pPr indent="-321945" lvl="0" marL="685800" rtl="0" algn="l">
              <a:lnSpc>
                <a:spcPct val="158000"/>
              </a:lnSpc>
              <a:spcBef>
                <a:spcPts val="800"/>
              </a:spcBef>
              <a:spcAft>
                <a:spcPts val="0"/>
              </a:spcAft>
              <a:buClr>
                <a:srgbClr val="273239"/>
              </a:buClr>
              <a:buSzPct val="100000"/>
              <a:buFont typeface="Arial"/>
              <a:buChar char="●"/>
            </a:pPr>
            <a:r>
              <a:rPr lang="en-GB" sz="2100">
                <a:solidFill>
                  <a:srgbClr val="273239"/>
                </a:solidFill>
                <a:highlight>
                  <a:srgbClr val="FFFFFF"/>
                </a:highlight>
              </a:rPr>
              <a:t>Scrum framework is fast moving and money efficient.</a:t>
            </a:r>
            <a:endParaRPr sz="2100">
              <a:solidFill>
                <a:srgbClr val="273239"/>
              </a:solidFill>
              <a:highlight>
                <a:srgbClr val="FFFFFF"/>
              </a:highlight>
            </a:endParaRPr>
          </a:p>
          <a:p>
            <a:pPr indent="-321945" lvl="0" marL="685800" rtl="0" algn="l">
              <a:lnSpc>
                <a:spcPct val="158000"/>
              </a:lnSpc>
              <a:spcBef>
                <a:spcPts val="0"/>
              </a:spcBef>
              <a:spcAft>
                <a:spcPts val="0"/>
              </a:spcAft>
              <a:buClr>
                <a:srgbClr val="273239"/>
              </a:buClr>
              <a:buSzPct val="100000"/>
              <a:buFont typeface="Arial"/>
              <a:buChar char="●"/>
            </a:pPr>
            <a:r>
              <a:rPr lang="en-GB" sz="2100">
                <a:solidFill>
                  <a:srgbClr val="273239"/>
                </a:solidFill>
                <a:highlight>
                  <a:srgbClr val="FFFFFF"/>
                </a:highlight>
              </a:rPr>
              <a:t>Scrum framework works by dividing the large product into small sub-products. It’s like a divide and conquer strategy</a:t>
            </a:r>
            <a:endParaRPr sz="2100">
              <a:solidFill>
                <a:srgbClr val="273239"/>
              </a:solidFill>
              <a:highlight>
                <a:srgbClr val="FFFFFF"/>
              </a:highlight>
            </a:endParaRPr>
          </a:p>
          <a:p>
            <a:pPr indent="-321945" lvl="0" marL="685800" rtl="0" algn="l">
              <a:lnSpc>
                <a:spcPct val="158000"/>
              </a:lnSpc>
              <a:spcBef>
                <a:spcPts val="0"/>
              </a:spcBef>
              <a:spcAft>
                <a:spcPts val="0"/>
              </a:spcAft>
              <a:buClr>
                <a:srgbClr val="273239"/>
              </a:buClr>
              <a:buSzPct val="100000"/>
              <a:buFont typeface="Arial"/>
              <a:buChar char="●"/>
            </a:pPr>
            <a:r>
              <a:rPr lang="en-GB" sz="2100">
                <a:solidFill>
                  <a:srgbClr val="273239"/>
                </a:solidFill>
                <a:highlight>
                  <a:srgbClr val="FFFFFF"/>
                </a:highlight>
              </a:rPr>
              <a:t>In Scrum customer satisfaction is very important.</a:t>
            </a:r>
            <a:endParaRPr sz="2100">
              <a:solidFill>
                <a:srgbClr val="273239"/>
              </a:solidFill>
              <a:highlight>
                <a:srgbClr val="FFFFFF"/>
              </a:highlight>
            </a:endParaRPr>
          </a:p>
          <a:p>
            <a:pPr indent="-321945" lvl="0" marL="685800" rtl="0" algn="l">
              <a:lnSpc>
                <a:spcPct val="158000"/>
              </a:lnSpc>
              <a:spcBef>
                <a:spcPts val="0"/>
              </a:spcBef>
              <a:spcAft>
                <a:spcPts val="0"/>
              </a:spcAft>
              <a:buClr>
                <a:srgbClr val="273239"/>
              </a:buClr>
              <a:buSzPct val="100000"/>
              <a:buFont typeface="Arial"/>
              <a:buChar char="●"/>
            </a:pPr>
            <a:r>
              <a:rPr lang="en-GB" sz="2100">
                <a:solidFill>
                  <a:srgbClr val="273239"/>
                </a:solidFill>
                <a:highlight>
                  <a:srgbClr val="FFFFFF"/>
                </a:highlight>
              </a:rPr>
              <a:t>Scrum is adaptive in nature because it have short sprint.</a:t>
            </a:r>
            <a:endParaRPr sz="2100">
              <a:solidFill>
                <a:srgbClr val="273239"/>
              </a:solidFill>
              <a:highlight>
                <a:srgbClr val="FFFFFF"/>
              </a:highlight>
            </a:endParaRPr>
          </a:p>
          <a:p>
            <a:pPr indent="-321945" lvl="0" marL="685800" rtl="0" algn="l">
              <a:lnSpc>
                <a:spcPct val="158000"/>
              </a:lnSpc>
              <a:spcBef>
                <a:spcPts val="0"/>
              </a:spcBef>
              <a:spcAft>
                <a:spcPts val="0"/>
              </a:spcAft>
              <a:buClr>
                <a:srgbClr val="273239"/>
              </a:buClr>
              <a:buSzPct val="100000"/>
              <a:buFont typeface="Arial"/>
              <a:buChar char="●"/>
            </a:pPr>
            <a:r>
              <a:rPr lang="en-GB" sz="2100">
                <a:solidFill>
                  <a:srgbClr val="273239"/>
                </a:solidFill>
                <a:highlight>
                  <a:srgbClr val="FFFFFF"/>
                </a:highlight>
              </a:rPr>
              <a:t>As Scrum framework rely on constant feedback therefore the quality of product increases in less amount of time</a:t>
            </a:r>
            <a:endParaRPr sz="2100">
              <a:solidFill>
                <a:srgbClr val="273239"/>
              </a:solidFill>
              <a:highlight>
                <a:srgbClr val="FFFFFF"/>
              </a:highlight>
            </a:endParaRPr>
          </a:p>
          <a:p>
            <a:pPr indent="0" lvl="0" marL="0" rtl="0" algn="l">
              <a:lnSpc>
                <a:spcPct val="115000"/>
              </a:lnSpc>
              <a:spcBef>
                <a:spcPts val="1800"/>
              </a:spcBef>
              <a:spcAft>
                <a:spcPts val="1200"/>
              </a:spcAft>
              <a:buSzPct val="142857"/>
              <a:buNone/>
            </a:pPr>
            <a:r>
              <a:t/>
            </a:r>
            <a:endParaRPr/>
          </a:p>
        </p:txBody>
      </p:sp>
      <p:sp>
        <p:nvSpPr>
          <p:cNvPr id="177" name="Google Shape;177;p20"/>
          <p:cNvSpPr txBox="1"/>
          <p:nvPr/>
        </p:nvSpPr>
        <p:spPr>
          <a:xfrm>
            <a:off x="4724400" y="238625"/>
            <a:ext cx="4376100" cy="5609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en-GB" sz="1800" u="none" cap="none" strike="noStrike">
                <a:solidFill>
                  <a:srgbClr val="273239"/>
                </a:solidFill>
                <a:highlight>
                  <a:srgbClr val="FFFFFF"/>
                </a:highlight>
                <a:latin typeface="Arial"/>
                <a:ea typeface="Arial"/>
                <a:cs typeface="Arial"/>
                <a:sym typeface="Arial"/>
              </a:rPr>
              <a:t>Disadvantage of using Scrum framework:</a:t>
            </a:r>
            <a:endParaRPr b="1" i="0" sz="1800" u="none" cap="none" strike="noStrike">
              <a:solidFill>
                <a:srgbClr val="273239"/>
              </a:solidFill>
              <a:highlight>
                <a:srgbClr val="FFFFFF"/>
              </a:highlight>
              <a:latin typeface="Arial"/>
              <a:ea typeface="Arial"/>
              <a:cs typeface="Arial"/>
              <a:sym typeface="Arial"/>
            </a:endParaRPr>
          </a:p>
          <a:p>
            <a:pPr indent="-317500" lvl="0" marL="685800" marR="0" rtl="0" algn="l">
              <a:lnSpc>
                <a:spcPct val="158000"/>
              </a:lnSpc>
              <a:spcBef>
                <a:spcPts val="800"/>
              </a:spcBef>
              <a:spcAft>
                <a:spcPts val="0"/>
              </a:spcAft>
              <a:buClr>
                <a:schemeClr val="dk1"/>
              </a:buClr>
              <a:buSzPts val="1400"/>
              <a:buFont typeface="Arial"/>
              <a:buChar char="●"/>
            </a:pPr>
            <a:r>
              <a:rPr b="0" i="0" lang="en-GB" sz="1400" u="none" cap="none" strike="noStrike">
                <a:solidFill>
                  <a:schemeClr val="dk1"/>
                </a:solidFill>
                <a:latin typeface="Arial"/>
                <a:ea typeface="Arial"/>
                <a:cs typeface="Arial"/>
                <a:sym typeface="Arial"/>
              </a:rPr>
              <a:t>Scrum framework do not allow changes into their sprint.</a:t>
            </a:r>
            <a:endParaRPr b="0" i="0" sz="1400" u="none" cap="none" strike="noStrike">
              <a:solidFill>
                <a:schemeClr val="dk1"/>
              </a:solidFill>
              <a:latin typeface="Arial"/>
              <a:ea typeface="Arial"/>
              <a:cs typeface="Arial"/>
              <a:sym typeface="Arial"/>
            </a:endParaRPr>
          </a:p>
          <a:p>
            <a:pPr indent="-317500" lvl="0" marL="685800" marR="0" rtl="0" algn="l">
              <a:lnSpc>
                <a:spcPct val="158000"/>
              </a:lnSpc>
              <a:spcBef>
                <a:spcPts val="0"/>
              </a:spcBef>
              <a:spcAft>
                <a:spcPts val="0"/>
              </a:spcAft>
              <a:buClr>
                <a:schemeClr val="dk1"/>
              </a:buClr>
              <a:buSzPts val="1400"/>
              <a:buFont typeface="Arial"/>
              <a:buChar char="●"/>
            </a:pPr>
            <a:r>
              <a:rPr b="0" i="0" lang="en-GB" sz="1400" u="none" cap="none" strike="noStrike">
                <a:solidFill>
                  <a:schemeClr val="dk1"/>
                </a:solidFill>
                <a:latin typeface="Arial"/>
                <a:ea typeface="Arial"/>
                <a:cs typeface="Arial"/>
                <a:sym typeface="Arial"/>
              </a:rPr>
              <a:t>Scrum framework is not fully described model. If you wanna adopt it you need to fill in the framework with your own details like Extreme Programming(XP), Kanban, DSDM.</a:t>
            </a:r>
            <a:endParaRPr b="0" i="0" sz="1400" u="none" cap="none" strike="noStrike">
              <a:solidFill>
                <a:schemeClr val="dk1"/>
              </a:solidFill>
              <a:latin typeface="Arial"/>
              <a:ea typeface="Arial"/>
              <a:cs typeface="Arial"/>
              <a:sym typeface="Arial"/>
            </a:endParaRPr>
          </a:p>
          <a:p>
            <a:pPr indent="-317500" lvl="0" marL="685800" marR="0" rtl="0" algn="l">
              <a:lnSpc>
                <a:spcPct val="158000"/>
              </a:lnSpc>
              <a:spcBef>
                <a:spcPts val="0"/>
              </a:spcBef>
              <a:spcAft>
                <a:spcPts val="0"/>
              </a:spcAft>
              <a:buClr>
                <a:schemeClr val="dk1"/>
              </a:buClr>
              <a:buSzPts val="1400"/>
              <a:buFont typeface="Arial"/>
              <a:buChar char="●"/>
            </a:pPr>
            <a:r>
              <a:rPr b="0" i="0" lang="en-GB" sz="1400" u="none" cap="none" strike="noStrike">
                <a:solidFill>
                  <a:schemeClr val="dk1"/>
                </a:solidFill>
                <a:latin typeface="Arial"/>
                <a:ea typeface="Arial"/>
                <a:cs typeface="Arial"/>
                <a:sym typeface="Arial"/>
              </a:rPr>
              <a:t>It can be difficult for the Scrum to plan, structure and organize a project that lacks a clear definition.</a:t>
            </a:r>
            <a:endParaRPr b="0" i="0" sz="1400" u="none" cap="none" strike="noStrike">
              <a:solidFill>
                <a:schemeClr val="dk1"/>
              </a:solidFill>
              <a:latin typeface="Arial"/>
              <a:ea typeface="Arial"/>
              <a:cs typeface="Arial"/>
              <a:sym typeface="Arial"/>
            </a:endParaRPr>
          </a:p>
          <a:p>
            <a:pPr indent="-317500" lvl="0" marL="685800" marR="0" rtl="0" algn="l">
              <a:lnSpc>
                <a:spcPct val="158000"/>
              </a:lnSpc>
              <a:spcBef>
                <a:spcPts val="0"/>
              </a:spcBef>
              <a:spcAft>
                <a:spcPts val="0"/>
              </a:spcAft>
              <a:buClr>
                <a:schemeClr val="dk1"/>
              </a:buClr>
              <a:buSzPts val="1400"/>
              <a:buFont typeface="Arial"/>
              <a:buChar char="●"/>
            </a:pPr>
            <a:r>
              <a:rPr b="0" i="0" lang="en-GB" sz="1400" u="none" cap="none" strike="noStrike">
                <a:solidFill>
                  <a:schemeClr val="dk1"/>
                </a:solidFill>
                <a:latin typeface="Arial"/>
                <a:ea typeface="Arial"/>
                <a:cs typeface="Arial"/>
                <a:sym typeface="Arial"/>
              </a:rPr>
              <a:t>The daily Scrum meetings and frequent reviews require substantial resources.</a:t>
            </a:r>
            <a:endParaRPr b="0" i="0" sz="1400" u="none" cap="none" strike="noStrike">
              <a:solidFill>
                <a:schemeClr val="dk1"/>
              </a:solidFill>
              <a:latin typeface="Arial"/>
              <a:ea typeface="Arial"/>
              <a:cs typeface="Arial"/>
              <a:sym typeface="Arial"/>
            </a:endParaRPr>
          </a:p>
          <a:p>
            <a:pPr indent="0" lvl="0" marL="0" marR="0" rtl="0" algn="l">
              <a:lnSpc>
                <a:spcPct val="115000"/>
              </a:lnSpc>
              <a:spcBef>
                <a:spcPts val="1800"/>
              </a:spcBef>
              <a:spcAft>
                <a:spcPts val="0"/>
              </a:spcAft>
              <a:buClr>
                <a:schemeClr val="dk1"/>
              </a:buClr>
              <a:buSzPts val="1100"/>
              <a:buFont typeface="Arial"/>
              <a:buNone/>
            </a:pPr>
            <a:r>
              <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300"/>
              </a:spcBef>
              <a:spcAft>
                <a:spcPts val="0"/>
              </a:spcAft>
              <a:buClr>
                <a:srgbClr val="000000"/>
              </a:buClr>
              <a:buSzPts val="1300"/>
              <a:buFont typeface="Arial"/>
              <a:buNone/>
            </a:pPr>
            <a:r>
              <a:t/>
            </a:r>
            <a:endParaRPr b="1" i="0" sz="1300" u="none" cap="none" strike="noStrike">
              <a:solidFill>
                <a:srgbClr val="273239"/>
              </a:solidFill>
              <a:highlight>
                <a:srgbClr val="FFFFFF"/>
              </a:highlight>
              <a:latin typeface="Nunito"/>
              <a:ea typeface="Nunito"/>
              <a:cs typeface="Nunito"/>
              <a:sym typeface="Nunito"/>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2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t/>
            </a:r>
            <a:endParaRPr/>
          </a:p>
        </p:txBody>
      </p:sp>
      <p:sp>
        <p:nvSpPr>
          <p:cNvPr id="183" name="Google Shape;183;p2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t/>
            </a:r>
            <a:endParaRPr/>
          </a:p>
        </p:txBody>
      </p:sp>
      <p:pic>
        <p:nvPicPr>
          <p:cNvPr id="184" name="Google Shape;184;p21"/>
          <p:cNvPicPr preferRelativeResize="0"/>
          <p:nvPr/>
        </p:nvPicPr>
        <p:blipFill rotWithShape="1">
          <a:blip r:embed="rId3">
            <a:alphaModFix/>
          </a:blip>
          <a:srcRect b="0" l="0" r="0" t="0"/>
          <a:stretch/>
        </p:blipFill>
        <p:spPr>
          <a:xfrm>
            <a:off x="0" y="160592"/>
            <a:ext cx="9144000" cy="497471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2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GB"/>
              <a:t>Lean</a:t>
            </a:r>
            <a:endParaRPr/>
          </a:p>
        </p:txBody>
      </p:sp>
      <p:sp>
        <p:nvSpPr>
          <p:cNvPr id="190" name="Google Shape;190;p22"/>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n-GB" sz="1200">
                <a:solidFill>
                  <a:srgbClr val="200F3B"/>
                </a:solidFill>
              </a:rPr>
              <a:t>“Lean” is a quality improvement and management philosophy that began in manufacturing</a:t>
            </a:r>
            <a:r>
              <a:rPr lang="en-GB" sz="1200">
                <a:solidFill>
                  <a:schemeClr val="dk1"/>
                </a:solidFill>
              </a:rPr>
              <a:t>.</a:t>
            </a:r>
            <a:endParaRPr sz="1200">
              <a:solidFill>
                <a:schemeClr val="dk1"/>
              </a:solidFill>
            </a:endParaRPr>
          </a:p>
          <a:p>
            <a:pPr indent="0" lvl="0" marL="0" rtl="0" algn="l">
              <a:lnSpc>
                <a:spcPct val="115000"/>
              </a:lnSpc>
              <a:spcBef>
                <a:spcPts val="1200"/>
              </a:spcBef>
              <a:spcAft>
                <a:spcPts val="0"/>
              </a:spcAft>
              <a:buSzPts val="1800"/>
              <a:buNone/>
            </a:pPr>
            <a:r>
              <a:rPr lang="en-GB" sz="1200">
                <a:solidFill>
                  <a:srgbClr val="200F3B"/>
                </a:solidFill>
              </a:rPr>
              <a:t>In project management there are wastes like excessive documentation, excessive planning and control, unproductive meetings, avoidable rework, excessive definition of detailed requirements, unproductive multi-tasking. Lean PM eliminates these wastes</a:t>
            </a:r>
            <a:r>
              <a:rPr lang="en-GB" sz="1200">
                <a:solidFill>
                  <a:schemeClr val="dk1"/>
                </a:solidFill>
              </a:rPr>
              <a:t>.</a:t>
            </a:r>
            <a:endParaRPr sz="1200">
              <a:solidFill>
                <a:schemeClr val="dk1"/>
              </a:solidFill>
            </a:endParaRPr>
          </a:p>
          <a:p>
            <a:pPr indent="0" lvl="0" marL="0" rtl="0" algn="l">
              <a:lnSpc>
                <a:spcPct val="115000"/>
              </a:lnSpc>
              <a:spcBef>
                <a:spcPts val="1200"/>
              </a:spcBef>
              <a:spcAft>
                <a:spcPts val="0"/>
              </a:spcAft>
              <a:buSzPts val="1800"/>
              <a:buNone/>
            </a:pPr>
            <a:r>
              <a:rPr lang="en-GB" sz="1200">
                <a:solidFill>
                  <a:schemeClr val="dk1"/>
                </a:solidFill>
              </a:rPr>
              <a:t>It works on five components:</a:t>
            </a:r>
            <a:endParaRPr sz="1200">
              <a:solidFill>
                <a:schemeClr val="dk1"/>
              </a:solidFill>
            </a:endParaRPr>
          </a:p>
          <a:p>
            <a:pPr indent="-304800" lvl="0" marL="457200" rtl="0" algn="l">
              <a:lnSpc>
                <a:spcPct val="115000"/>
              </a:lnSpc>
              <a:spcBef>
                <a:spcPts val="1200"/>
              </a:spcBef>
              <a:spcAft>
                <a:spcPts val="0"/>
              </a:spcAft>
              <a:buClr>
                <a:schemeClr val="dk1"/>
              </a:buClr>
              <a:buSzPts val="1200"/>
              <a:buAutoNum type="arabicPeriod"/>
            </a:pPr>
            <a:r>
              <a:rPr lang="en-GB" sz="1200">
                <a:solidFill>
                  <a:schemeClr val="dk1"/>
                </a:solidFill>
              </a:rPr>
              <a:t>Understand what the customer really wants and considers important.</a:t>
            </a:r>
            <a:endParaRPr sz="1200">
              <a:solidFill>
                <a:schemeClr val="dk1"/>
              </a:solidFill>
            </a:endParaRPr>
          </a:p>
          <a:p>
            <a:pPr indent="-304800" lvl="0" marL="457200" rtl="0" algn="l">
              <a:lnSpc>
                <a:spcPct val="115000"/>
              </a:lnSpc>
              <a:spcBef>
                <a:spcPts val="0"/>
              </a:spcBef>
              <a:spcAft>
                <a:spcPts val="0"/>
              </a:spcAft>
              <a:buClr>
                <a:schemeClr val="dk1"/>
              </a:buClr>
              <a:buSzPts val="1200"/>
              <a:buAutoNum type="arabicPeriod"/>
            </a:pPr>
            <a:r>
              <a:rPr lang="en-GB" sz="1200">
                <a:solidFill>
                  <a:schemeClr val="dk1"/>
                </a:solidFill>
              </a:rPr>
              <a:t>Find all the steps needed to create the product or service and remove unnecessary activities.</a:t>
            </a:r>
            <a:endParaRPr sz="1200">
              <a:solidFill>
                <a:schemeClr val="dk1"/>
              </a:solidFill>
            </a:endParaRPr>
          </a:p>
          <a:p>
            <a:pPr indent="-304800" lvl="0" marL="457200" rtl="0" algn="l">
              <a:lnSpc>
                <a:spcPct val="115000"/>
              </a:lnSpc>
              <a:spcBef>
                <a:spcPts val="0"/>
              </a:spcBef>
              <a:spcAft>
                <a:spcPts val="0"/>
              </a:spcAft>
              <a:buClr>
                <a:schemeClr val="dk1"/>
              </a:buClr>
              <a:buSzPts val="1200"/>
              <a:buAutoNum type="arabicPeriod"/>
            </a:pPr>
            <a:r>
              <a:rPr lang="en-GB" sz="1200">
                <a:solidFill>
                  <a:schemeClr val="dk1"/>
                </a:solidFill>
              </a:rPr>
              <a:t>Deliver products or services when customers need them, without delays. </a:t>
            </a:r>
            <a:endParaRPr sz="1200">
              <a:solidFill>
                <a:schemeClr val="dk1"/>
              </a:solidFill>
            </a:endParaRPr>
          </a:p>
          <a:p>
            <a:pPr indent="-304800" lvl="0" marL="457200" rtl="0" algn="l">
              <a:lnSpc>
                <a:spcPct val="115000"/>
              </a:lnSpc>
              <a:spcBef>
                <a:spcPts val="0"/>
              </a:spcBef>
              <a:spcAft>
                <a:spcPts val="0"/>
              </a:spcAft>
              <a:buClr>
                <a:schemeClr val="dk1"/>
              </a:buClr>
              <a:buSzPts val="1200"/>
              <a:buAutoNum type="arabicPeriod"/>
            </a:pPr>
            <a:r>
              <a:rPr lang="en-GB" sz="1200">
                <a:solidFill>
                  <a:schemeClr val="dk1"/>
                </a:solidFill>
              </a:rPr>
              <a:t>Encourage employees to share ideas and give them responsibility to improve work. </a:t>
            </a:r>
            <a:endParaRPr sz="1200">
              <a:solidFill>
                <a:schemeClr val="dk1"/>
              </a:solidFill>
            </a:endParaRPr>
          </a:p>
          <a:p>
            <a:pPr indent="-304800" lvl="0" marL="457200" rtl="0" algn="l">
              <a:lnSpc>
                <a:spcPct val="115000"/>
              </a:lnSpc>
              <a:spcBef>
                <a:spcPts val="0"/>
              </a:spcBef>
              <a:spcAft>
                <a:spcPts val="0"/>
              </a:spcAft>
              <a:buClr>
                <a:schemeClr val="dk1"/>
              </a:buClr>
              <a:buSzPts val="1200"/>
              <a:buAutoNum type="arabicPeriod"/>
            </a:pPr>
            <a:r>
              <a:rPr lang="en-GB" sz="1200">
                <a:solidFill>
                  <a:schemeClr val="dk1"/>
                </a:solidFill>
              </a:rPr>
              <a:t>Keep looking for ways to make processes better and more efficient all the time.  </a:t>
            </a:r>
            <a:endParaRPr sz="1200">
              <a:solidFill>
                <a:schemeClr val="dk1"/>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23"/>
          <p:cNvSpPr txBox="1"/>
          <p:nvPr>
            <p:ph type="title"/>
          </p:nvPr>
        </p:nvSpPr>
        <p:spPr>
          <a:xfrm>
            <a:off x="311700" y="1977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GB"/>
              <a:t>Kanban Board</a:t>
            </a:r>
            <a:endParaRPr/>
          </a:p>
        </p:txBody>
      </p:sp>
      <p:sp>
        <p:nvSpPr>
          <p:cNvPr id="196" name="Google Shape;196;p23"/>
          <p:cNvSpPr txBox="1"/>
          <p:nvPr>
            <p:ph idx="1" type="body"/>
          </p:nvPr>
        </p:nvSpPr>
        <p:spPr>
          <a:xfrm>
            <a:off x="311700" y="595600"/>
            <a:ext cx="8520600" cy="1255800"/>
          </a:xfrm>
          <a:prstGeom prst="rect">
            <a:avLst/>
          </a:prstGeom>
          <a:noFill/>
          <a:ln>
            <a:noFill/>
          </a:ln>
        </p:spPr>
        <p:txBody>
          <a:bodyPr anchorCtr="0" anchor="t" bIns="91425" lIns="91425" spcFirstLastPara="1" rIns="91425" wrap="square" tIns="91425">
            <a:normAutofit/>
          </a:bodyPr>
          <a:lstStyle/>
          <a:p>
            <a:pPr indent="0" lvl="0" marL="0" rtl="0" algn="just">
              <a:lnSpc>
                <a:spcPct val="115000"/>
              </a:lnSpc>
              <a:spcBef>
                <a:spcPts val="0"/>
              </a:spcBef>
              <a:spcAft>
                <a:spcPts val="0"/>
              </a:spcAft>
              <a:buClr>
                <a:schemeClr val="dk1"/>
              </a:buClr>
              <a:buSzPts val="1100"/>
              <a:buFont typeface="Arial"/>
              <a:buNone/>
            </a:pPr>
            <a:r>
              <a:rPr lang="en-GB" sz="1200">
                <a:solidFill>
                  <a:srgbClr val="292A2E"/>
                </a:solidFill>
              </a:rPr>
              <a:t>A kanban board is an agile project management tool designed to help visualize work, limit work-in-progress, and maximize efficiency (or flow). It can help both agile and DevOps teams establish order in their daily work.</a:t>
            </a:r>
            <a:endParaRPr sz="1200">
              <a:solidFill>
                <a:srgbClr val="292A2E"/>
              </a:solidFill>
            </a:endParaRPr>
          </a:p>
          <a:p>
            <a:pPr indent="0" lvl="0" marL="0" rtl="0" algn="just">
              <a:lnSpc>
                <a:spcPct val="115000"/>
              </a:lnSpc>
              <a:spcBef>
                <a:spcPts val="0"/>
              </a:spcBef>
              <a:spcAft>
                <a:spcPts val="0"/>
              </a:spcAft>
              <a:buSzPts val="1800"/>
              <a:buNone/>
            </a:pPr>
            <a:r>
              <a:rPr lang="en-GB" sz="1200">
                <a:solidFill>
                  <a:srgbClr val="292A2E"/>
                </a:solidFill>
              </a:rPr>
              <a:t>Kanban boards use cards, columns, and continuous improvement to help technology and service teams commit to the right amount of work, and get it done.</a:t>
            </a:r>
            <a:endParaRPr sz="1200"/>
          </a:p>
        </p:txBody>
      </p:sp>
      <p:pic>
        <p:nvPicPr>
          <p:cNvPr id="197" name="Google Shape;197;p23"/>
          <p:cNvPicPr preferRelativeResize="0"/>
          <p:nvPr/>
        </p:nvPicPr>
        <p:blipFill rotWithShape="1">
          <a:blip r:embed="rId3">
            <a:alphaModFix/>
          </a:blip>
          <a:srcRect b="0" l="0" r="0" t="0"/>
          <a:stretch/>
        </p:blipFill>
        <p:spPr>
          <a:xfrm>
            <a:off x="3533625" y="1351675"/>
            <a:ext cx="4991627" cy="3743725"/>
          </a:xfrm>
          <a:prstGeom prst="rect">
            <a:avLst/>
          </a:prstGeom>
          <a:noFill/>
          <a:ln>
            <a:noFill/>
          </a:ln>
        </p:spPr>
      </p:pic>
      <p:sp>
        <p:nvSpPr>
          <p:cNvPr id="198" name="Google Shape;198;p23"/>
          <p:cNvSpPr txBox="1"/>
          <p:nvPr/>
        </p:nvSpPr>
        <p:spPr>
          <a:xfrm>
            <a:off x="141750" y="1498500"/>
            <a:ext cx="3280800" cy="3752700"/>
          </a:xfrm>
          <a:prstGeom prst="rect">
            <a:avLst/>
          </a:prstGeom>
          <a:noFill/>
          <a:ln>
            <a:noFill/>
          </a:ln>
        </p:spPr>
        <p:txBody>
          <a:bodyPr anchorCtr="0" anchor="t" bIns="91425" lIns="91425" spcFirstLastPara="1" rIns="91425" wrap="square" tIns="91425">
            <a:spAutoFit/>
          </a:bodyPr>
          <a:lstStyle/>
          <a:p>
            <a:pPr indent="-304800" lvl="0" marL="457200" marR="0" rtl="0" algn="l">
              <a:lnSpc>
                <a:spcPct val="115000"/>
              </a:lnSpc>
              <a:spcBef>
                <a:spcPts val="0"/>
              </a:spcBef>
              <a:spcAft>
                <a:spcPts val="0"/>
              </a:spcAft>
              <a:buClr>
                <a:schemeClr val="dk1"/>
              </a:buClr>
              <a:buSzPts val="1200"/>
              <a:buFont typeface="Roboto"/>
              <a:buAutoNum type="arabicPeriod"/>
            </a:pPr>
            <a:r>
              <a:rPr b="0" i="1" lang="en-GB" sz="1100" u="none" cap="none" strike="noStrike">
                <a:solidFill>
                  <a:schemeClr val="dk1"/>
                </a:solidFill>
                <a:latin typeface="Arial"/>
                <a:ea typeface="Arial"/>
                <a:cs typeface="Arial"/>
                <a:sym typeface="Arial"/>
              </a:rPr>
              <a:t>Visual Signals:</a:t>
            </a:r>
            <a:r>
              <a:rPr b="0" i="0" lang="en-GB" sz="1100" u="none" cap="none" strike="noStrike">
                <a:solidFill>
                  <a:schemeClr val="dk1"/>
                </a:solidFill>
                <a:latin typeface="Arial"/>
                <a:ea typeface="Arial"/>
                <a:cs typeface="Arial"/>
                <a:sym typeface="Arial"/>
              </a:rPr>
              <a:t> Cards on the Kanban board show tasks and help everyone see what work is being done.</a:t>
            </a:r>
            <a:endParaRPr b="0" i="0" sz="1100" u="none" cap="none" strike="noStrike">
              <a:solidFill>
                <a:schemeClr val="dk1"/>
              </a:solidFill>
              <a:latin typeface="Arial"/>
              <a:ea typeface="Arial"/>
              <a:cs typeface="Arial"/>
              <a:sym typeface="Arial"/>
            </a:endParaRPr>
          </a:p>
          <a:p>
            <a:pPr indent="-304800" lvl="0" marL="457200" marR="0" rtl="0" algn="l">
              <a:lnSpc>
                <a:spcPct val="115000"/>
              </a:lnSpc>
              <a:spcBef>
                <a:spcPts val="0"/>
              </a:spcBef>
              <a:spcAft>
                <a:spcPts val="0"/>
              </a:spcAft>
              <a:buClr>
                <a:schemeClr val="dk1"/>
              </a:buClr>
              <a:buSzPts val="1200"/>
              <a:buFont typeface="Roboto"/>
              <a:buAutoNum type="arabicPeriod"/>
            </a:pPr>
            <a:r>
              <a:rPr b="0" i="1" lang="en-GB" sz="1100" u="none" cap="none" strike="noStrike">
                <a:solidFill>
                  <a:schemeClr val="dk1"/>
                </a:solidFill>
                <a:latin typeface="Arial"/>
                <a:ea typeface="Arial"/>
                <a:cs typeface="Arial"/>
                <a:sym typeface="Arial"/>
              </a:rPr>
              <a:t>Columns:</a:t>
            </a:r>
            <a:r>
              <a:rPr b="0" i="0" lang="en-GB" sz="1100" u="none" cap="none" strike="noStrike">
                <a:solidFill>
                  <a:schemeClr val="dk1"/>
                </a:solidFill>
                <a:latin typeface="Arial"/>
                <a:ea typeface="Arial"/>
                <a:cs typeface="Arial"/>
                <a:sym typeface="Arial"/>
              </a:rPr>
              <a:t> Columns represent different stages of work, such as To Do, In Progress, and Done.</a:t>
            </a:r>
            <a:endParaRPr b="0" i="0" sz="1100" u="none" cap="none" strike="noStrike">
              <a:solidFill>
                <a:schemeClr val="dk1"/>
              </a:solidFill>
              <a:latin typeface="Arial"/>
              <a:ea typeface="Arial"/>
              <a:cs typeface="Arial"/>
              <a:sym typeface="Arial"/>
            </a:endParaRPr>
          </a:p>
          <a:p>
            <a:pPr indent="-304800" lvl="0" marL="457200" marR="0" rtl="0" algn="l">
              <a:lnSpc>
                <a:spcPct val="115000"/>
              </a:lnSpc>
              <a:spcBef>
                <a:spcPts val="0"/>
              </a:spcBef>
              <a:spcAft>
                <a:spcPts val="0"/>
              </a:spcAft>
              <a:buClr>
                <a:schemeClr val="dk1"/>
              </a:buClr>
              <a:buSzPts val="1200"/>
              <a:buFont typeface="Roboto"/>
              <a:buAutoNum type="arabicPeriod"/>
            </a:pPr>
            <a:r>
              <a:rPr b="0" i="1" lang="en-GB" sz="1100" u="none" cap="none" strike="noStrike">
                <a:solidFill>
                  <a:schemeClr val="dk1"/>
                </a:solidFill>
                <a:latin typeface="Arial"/>
                <a:ea typeface="Arial"/>
                <a:cs typeface="Arial"/>
                <a:sym typeface="Arial"/>
              </a:rPr>
              <a:t>Work In Progress (WIP) Limits:</a:t>
            </a:r>
            <a:r>
              <a:rPr b="0" i="0" lang="en-GB" sz="1100" u="none" cap="none" strike="noStrike">
                <a:solidFill>
                  <a:schemeClr val="dk1"/>
                </a:solidFill>
                <a:latin typeface="Arial"/>
                <a:ea typeface="Arial"/>
                <a:cs typeface="Arial"/>
                <a:sym typeface="Arial"/>
              </a:rPr>
              <a:t> WIP limits set the maximum number of tasks allowed in a stage at one time to avoid overload and identify bottlenecks.</a:t>
            </a:r>
            <a:endParaRPr b="0" i="0" sz="1100" u="none" cap="none" strike="noStrike">
              <a:solidFill>
                <a:schemeClr val="dk1"/>
              </a:solidFill>
              <a:latin typeface="Arial"/>
              <a:ea typeface="Arial"/>
              <a:cs typeface="Arial"/>
              <a:sym typeface="Arial"/>
            </a:endParaRPr>
          </a:p>
          <a:p>
            <a:pPr indent="-304800" lvl="0" marL="457200" marR="0" rtl="0" algn="l">
              <a:lnSpc>
                <a:spcPct val="115000"/>
              </a:lnSpc>
              <a:spcBef>
                <a:spcPts val="0"/>
              </a:spcBef>
              <a:spcAft>
                <a:spcPts val="0"/>
              </a:spcAft>
              <a:buClr>
                <a:schemeClr val="dk1"/>
              </a:buClr>
              <a:buSzPts val="1200"/>
              <a:buFont typeface="Roboto"/>
              <a:buAutoNum type="arabicPeriod"/>
            </a:pPr>
            <a:r>
              <a:rPr b="0" i="1" lang="en-GB" sz="1100" u="none" cap="none" strike="noStrike">
                <a:solidFill>
                  <a:schemeClr val="dk1"/>
                </a:solidFill>
                <a:latin typeface="Arial"/>
                <a:ea typeface="Arial"/>
                <a:cs typeface="Arial"/>
                <a:sym typeface="Arial"/>
              </a:rPr>
              <a:t>Commitment Point: </a:t>
            </a:r>
            <a:r>
              <a:rPr b="0" i="0" lang="en-GB" sz="1100" u="none" cap="none" strike="noStrike">
                <a:solidFill>
                  <a:schemeClr val="dk1"/>
                </a:solidFill>
                <a:latin typeface="Arial"/>
                <a:ea typeface="Arial"/>
                <a:cs typeface="Arial"/>
                <a:sym typeface="Arial"/>
              </a:rPr>
              <a:t>The point where a team selects an idea from the backlog and starts working on it.</a:t>
            </a:r>
            <a:endParaRPr b="0" i="0" sz="1100" u="none" cap="none" strike="noStrike">
              <a:solidFill>
                <a:schemeClr val="dk1"/>
              </a:solidFill>
              <a:latin typeface="Arial"/>
              <a:ea typeface="Arial"/>
              <a:cs typeface="Arial"/>
              <a:sym typeface="Arial"/>
            </a:endParaRPr>
          </a:p>
          <a:p>
            <a:pPr indent="-304800" lvl="0" marL="457200" marR="0" rtl="0" algn="l">
              <a:lnSpc>
                <a:spcPct val="115000"/>
              </a:lnSpc>
              <a:spcBef>
                <a:spcPts val="0"/>
              </a:spcBef>
              <a:spcAft>
                <a:spcPts val="0"/>
              </a:spcAft>
              <a:buClr>
                <a:schemeClr val="dk1"/>
              </a:buClr>
              <a:buSzPts val="1200"/>
              <a:buFont typeface="Roboto"/>
              <a:buAutoNum type="arabicPeriod"/>
            </a:pPr>
            <a:r>
              <a:rPr b="0" i="1" lang="en-GB" sz="1100" u="none" cap="none" strike="noStrike">
                <a:solidFill>
                  <a:schemeClr val="dk1"/>
                </a:solidFill>
                <a:latin typeface="Arial"/>
                <a:ea typeface="Arial"/>
                <a:cs typeface="Arial"/>
                <a:sym typeface="Arial"/>
              </a:rPr>
              <a:t>Delivery Point:</a:t>
            </a:r>
            <a:r>
              <a:rPr b="0" i="0" lang="en-GB" sz="1100" u="none" cap="none" strike="noStrike">
                <a:solidFill>
                  <a:schemeClr val="dk1"/>
                </a:solidFill>
                <a:latin typeface="Arial"/>
                <a:ea typeface="Arial"/>
                <a:cs typeface="Arial"/>
                <a:sym typeface="Arial"/>
              </a:rPr>
              <a:t> The stage where the completed product or service is delivered to the customer. The time from commitment to delivery is called Lead Time.</a:t>
            </a:r>
            <a:endParaRPr b="0" i="0" sz="1200" u="none" cap="none" strike="noStrike">
              <a:solidFill>
                <a:srgbClr val="292A2E"/>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24"/>
          <p:cNvSpPr txBox="1"/>
          <p:nvPr>
            <p:ph type="title"/>
          </p:nvPr>
        </p:nvSpPr>
        <p:spPr>
          <a:xfrm>
            <a:off x="311700" y="86400"/>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90909"/>
              </a:lnSpc>
              <a:spcBef>
                <a:spcPts val="0"/>
              </a:spcBef>
              <a:spcAft>
                <a:spcPts val="900"/>
              </a:spcAft>
              <a:buClr>
                <a:schemeClr val="dk1"/>
              </a:buClr>
              <a:buSzPts val="1100"/>
              <a:buFont typeface="Arial"/>
              <a:buNone/>
            </a:pPr>
            <a:r>
              <a:rPr lang="en-GB" sz="3000">
                <a:solidFill>
                  <a:srgbClr val="2B3857"/>
                </a:solidFill>
                <a:highlight>
                  <a:srgbClr val="FFFFFF"/>
                </a:highlight>
                <a:latin typeface="Roboto"/>
                <a:ea typeface="Roboto"/>
                <a:cs typeface="Roboto"/>
                <a:sym typeface="Roboto"/>
              </a:rPr>
              <a:t>An Agile team</a:t>
            </a:r>
            <a:endParaRPr sz="3000"/>
          </a:p>
        </p:txBody>
      </p:sp>
      <p:sp>
        <p:nvSpPr>
          <p:cNvPr id="204" name="Google Shape;204;p24"/>
          <p:cNvSpPr txBox="1"/>
          <p:nvPr>
            <p:ph idx="1" type="body"/>
          </p:nvPr>
        </p:nvSpPr>
        <p:spPr>
          <a:xfrm>
            <a:off x="311700" y="710575"/>
            <a:ext cx="8520600" cy="3858300"/>
          </a:xfrm>
          <a:prstGeom prst="rect">
            <a:avLst/>
          </a:prstGeom>
          <a:noFill/>
          <a:ln>
            <a:noFill/>
          </a:ln>
        </p:spPr>
        <p:txBody>
          <a:bodyPr anchorCtr="0" anchor="t" bIns="91425" lIns="91425" spcFirstLastPara="1" rIns="91425" wrap="square" tIns="91425">
            <a:normAutofit/>
          </a:bodyPr>
          <a:lstStyle/>
          <a:p>
            <a:pPr indent="0" lvl="0" marL="0" rtl="0" algn="l">
              <a:lnSpc>
                <a:spcPct val="190909"/>
              </a:lnSpc>
              <a:spcBef>
                <a:spcPts val="0"/>
              </a:spcBef>
              <a:spcAft>
                <a:spcPts val="0"/>
              </a:spcAft>
              <a:buClr>
                <a:schemeClr val="dk1"/>
              </a:buClr>
              <a:buSzPts val="1100"/>
              <a:buFont typeface="Arial"/>
              <a:buNone/>
            </a:pPr>
            <a:r>
              <a:rPr lang="en-GB">
                <a:solidFill>
                  <a:srgbClr val="2B3857"/>
                </a:solidFill>
                <a:highlight>
                  <a:srgbClr val="FFFFFF"/>
                </a:highlight>
              </a:rPr>
              <a:t>An Agile team is a group of employees, contractors, or freelancers responsible for executing an Agile project. Agile teams are typically co-located and often wholly dedicated to the project during its timeline, with no obligations to other projects. </a:t>
            </a:r>
            <a:endParaRPr>
              <a:solidFill>
                <a:srgbClr val="2B3857"/>
              </a:solidFill>
              <a:highlight>
                <a:srgbClr val="FFFFFF"/>
              </a:highlight>
            </a:endParaRPr>
          </a:p>
          <a:p>
            <a:pPr indent="0" lvl="0" marL="0" rtl="0" algn="l">
              <a:lnSpc>
                <a:spcPct val="190909"/>
              </a:lnSpc>
              <a:spcBef>
                <a:spcPts val="900"/>
              </a:spcBef>
              <a:spcAft>
                <a:spcPts val="0"/>
              </a:spcAft>
              <a:buClr>
                <a:schemeClr val="dk1"/>
              </a:buClr>
              <a:buSzPts val="1100"/>
              <a:buFont typeface="Arial"/>
              <a:buNone/>
            </a:pPr>
            <a:r>
              <a:rPr lang="en-GB">
                <a:solidFill>
                  <a:srgbClr val="2B3857"/>
                </a:solidFill>
                <a:highlight>
                  <a:srgbClr val="FFFFFF"/>
                </a:highlight>
              </a:rPr>
              <a:t>An Agile team needs every person required to produce the end product or service. The team is typically cross-functional, and roles will vary depending on the project’s needs and the type of Agile framework chosen. </a:t>
            </a:r>
            <a:endParaRPr>
              <a:solidFill>
                <a:srgbClr val="2B3857"/>
              </a:solidFill>
              <a:highlight>
                <a:srgbClr val="FFFFFF"/>
              </a:highlight>
            </a:endParaRPr>
          </a:p>
          <a:p>
            <a:pPr indent="0" lvl="0" marL="0" rtl="0" algn="l">
              <a:lnSpc>
                <a:spcPct val="115000"/>
              </a:lnSpc>
              <a:spcBef>
                <a:spcPts val="900"/>
              </a:spcBef>
              <a:spcAft>
                <a:spcPts val="1200"/>
              </a:spcAft>
              <a:buSzPts val="1800"/>
              <a:buNone/>
            </a:pPr>
            <a:r>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2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t/>
            </a:r>
            <a:endParaRPr/>
          </a:p>
        </p:txBody>
      </p:sp>
      <p:sp>
        <p:nvSpPr>
          <p:cNvPr id="210" name="Google Shape;210;p2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t/>
            </a:r>
            <a:endParaRPr/>
          </a:p>
        </p:txBody>
      </p:sp>
      <p:pic>
        <p:nvPicPr>
          <p:cNvPr id="211" name="Google Shape;211;p25"/>
          <p:cNvPicPr preferRelativeResize="0"/>
          <p:nvPr/>
        </p:nvPicPr>
        <p:blipFill rotWithShape="1">
          <a:blip r:embed="rId3">
            <a:alphaModFix/>
          </a:blip>
          <a:srcRect b="0" l="0" r="0" t="0"/>
          <a:stretch/>
        </p:blipFill>
        <p:spPr>
          <a:xfrm>
            <a:off x="141800" y="82875"/>
            <a:ext cx="8856100" cy="497535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26"/>
          <p:cNvSpPr txBox="1"/>
          <p:nvPr>
            <p:ph type="title"/>
          </p:nvPr>
        </p:nvSpPr>
        <p:spPr>
          <a:xfrm>
            <a:off x="311700" y="191900"/>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GB"/>
              <a:t>Agile Manifesto:</a:t>
            </a:r>
            <a:endParaRPr/>
          </a:p>
        </p:txBody>
      </p:sp>
      <p:sp>
        <p:nvSpPr>
          <p:cNvPr id="217" name="Google Shape;217;p26"/>
          <p:cNvSpPr txBox="1"/>
          <p:nvPr>
            <p:ph idx="1" type="body"/>
          </p:nvPr>
        </p:nvSpPr>
        <p:spPr>
          <a:xfrm>
            <a:off x="311700" y="901125"/>
            <a:ext cx="8520600" cy="39588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n-GB" sz="1600">
                <a:solidFill>
                  <a:schemeClr val="dk1"/>
                </a:solidFill>
              </a:rPr>
              <a:t>It is a foundation guide for the modern software development created in 2001 to promote the flexibility, collaboration and customer focused delivery. There are four core values: </a:t>
            </a:r>
            <a:endParaRPr sz="1600">
              <a:solidFill>
                <a:schemeClr val="dk1"/>
              </a:solidFill>
            </a:endParaRPr>
          </a:p>
          <a:p>
            <a:pPr indent="-330200" lvl="0" marL="457200" rtl="0" algn="l">
              <a:lnSpc>
                <a:spcPct val="115000"/>
              </a:lnSpc>
              <a:spcBef>
                <a:spcPts val="1200"/>
              </a:spcBef>
              <a:spcAft>
                <a:spcPts val="0"/>
              </a:spcAft>
              <a:buClr>
                <a:schemeClr val="dk1"/>
              </a:buClr>
              <a:buSzPts val="1600"/>
              <a:buAutoNum type="arabicPeriod"/>
            </a:pPr>
            <a:r>
              <a:rPr lang="en-GB" sz="1600">
                <a:solidFill>
                  <a:schemeClr val="dk1"/>
                </a:solidFill>
              </a:rPr>
              <a:t>Individuals </a:t>
            </a:r>
            <a:r>
              <a:rPr i="1" lang="en-GB" sz="1600">
                <a:solidFill>
                  <a:schemeClr val="dk1"/>
                </a:solidFill>
              </a:rPr>
              <a:t>over</a:t>
            </a:r>
            <a:r>
              <a:rPr lang="en-GB" sz="1600">
                <a:solidFill>
                  <a:schemeClr val="dk1"/>
                </a:solidFill>
              </a:rPr>
              <a:t> processes and tools.</a:t>
            </a:r>
            <a:endParaRPr sz="1600">
              <a:solidFill>
                <a:schemeClr val="dk1"/>
              </a:solidFill>
            </a:endParaRPr>
          </a:p>
          <a:p>
            <a:pPr indent="-330200" lvl="0" marL="457200" rtl="0" algn="l">
              <a:lnSpc>
                <a:spcPct val="115000"/>
              </a:lnSpc>
              <a:spcBef>
                <a:spcPts val="0"/>
              </a:spcBef>
              <a:spcAft>
                <a:spcPts val="0"/>
              </a:spcAft>
              <a:buClr>
                <a:schemeClr val="dk1"/>
              </a:buClr>
              <a:buSzPts val="1600"/>
              <a:buAutoNum type="arabicPeriod"/>
            </a:pPr>
            <a:r>
              <a:rPr lang="en-GB" sz="1600">
                <a:solidFill>
                  <a:schemeClr val="dk1"/>
                </a:solidFill>
              </a:rPr>
              <a:t>Working software </a:t>
            </a:r>
            <a:r>
              <a:rPr i="1" lang="en-GB" sz="1600">
                <a:solidFill>
                  <a:schemeClr val="dk1"/>
                </a:solidFill>
              </a:rPr>
              <a:t>over</a:t>
            </a:r>
            <a:r>
              <a:rPr lang="en-GB" sz="1600">
                <a:solidFill>
                  <a:schemeClr val="dk1"/>
                </a:solidFill>
              </a:rPr>
              <a:t> documentation</a:t>
            </a:r>
            <a:endParaRPr sz="1600">
              <a:solidFill>
                <a:schemeClr val="dk1"/>
              </a:solidFill>
            </a:endParaRPr>
          </a:p>
          <a:p>
            <a:pPr indent="-330200" lvl="0" marL="457200" rtl="0" algn="l">
              <a:lnSpc>
                <a:spcPct val="115000"/>
              </a:lnSpc>
              <a:spcBef>
                <a:spcPts val="0"/>
              </a:spcBef>
              <a:spcAft>
                <a:spcPts val="0"/>
              </a:spcAft>
              <a:buClr>
                <a:schemeClr val="dk1"/>
              </a:buClr>
              <a:buSzPts val="1600"/>
              <a:buAutoNum type="arabicPeriod"/>
            </a:pPr>
            <a:r>
              <a:rPr lang="en-GB" sz="1600">
                <a:solidFill>
                  <a:schemeClr val="dk1"/>
                </a:solidFill>
              </a:rPr>
              <a:t>Customer collaboration </a:t>
            </a:r>
            <a:r>
              <a:rPr i="1" lang="en-GB" sz="1600">
                <a:solidFill>
                  <a:schemeClr val="dk1"/>
                </a:solidFill>
              </a:rPr>
              <a:t>over</a:t>
            </a:r>
            <a:r>
              <a:rPr lang="en-GB" sz="1600">
                <a:solidFill>
                  <a:schemeClr val="dk1"/>
                </a:solidFill>
              </a:rPr>
              <a:t> contract negotiation</a:t>
            </a:r>
            <a:endParaRPr sz="1600">
              <a:solidFill>
                <a:schemeClr val="dk1"/>
              </a:solidFill>
            </a:endParaRPr>
          </a:p>
          <a:p>
            <a:pPr indent="-330200" lvl="0" marL="457200" rtl="0" algn="l">
              <a:lnSpc>
                <a:spcPct val="115000"/>
              </a:lnSpc>
              <a:spcBef>
                <a:spcPts val="0"/>
              </a:spcBef>
              <a:spcAft>
                <a:spcPts val="0"/>
              </a:spcAft>
              <a:buClr>
                <a:schemeClr val="dk1"/>
              </a:buClr>
              <a:buSzPts val="1600"/>
              <a:buAutoNum type="arabicPeriod"/>
            </a:pPr>
            <a:r>
              <a:rPr lang="en-GB" sz="1600">
                <a:solidFill>
                  <a:schemeClr val="dk1"/>
                </a:solidFill>
              </a:rPr>
              <a:t>Responding to change </a:t>
            </a:r>
            <a:r>
              <a:rPr i="1" lang="en-GB" sz="1600">
                <a:solidFill>
                  <a:schemeClr val="dk1"/>
                </a:solidFill>
              </a:rPr>
              <a:t>over</a:t>
            </a:r>
            <a:r>
              <a:rPr lang="en-GB" sz="1600">
                <a:solidFill>
                  <a:schemeClr val="dk1"/>
                </a:solidFill>
              </a:rPr>
              <a:t> following a plan. </a:t>
            </a:r>
            <a:endParaRPr sz="1600">
              <a:solidFill>
                <a:schemeClr val="dk1"/>
              </a:solidFill>
            </a:endParaRPr>
          </a:p>
          <a:p>
            <a:pPr indent="0" lvl="0" marL="0" rtl="0" algn="l">
              <a:lnSpc>
                <a:spcPct val="115000"/>
              </a:lnSpc>
              <a:spcBef>
                <a:spcPts val="1200"/>
              </a:spcBef>
              <a:spcAft>
                <a:spcPts val="0"/>
              </a:spcAft>
              <a:buSzPts val="1800"/>
              <a:buNone/>
            </a:pPr>
            <a:r>
              <a:rPr lang="en-GB" sz="1600">
                <a:solidFill>
                  <a:schemeClr val="dk1"/>
                </a:solidFill>
              </a:rPr>
              <a:t>It works on 12 principals. </a:t>
            </a:r>
            <a:endParaRPr sz="1600">
              <a:solidFill>
                <a:schemeClr val="dk1"/>
              </a:solidFill>
            </a:endParaRPr>
          </a:p>
          <a:p>
            <a:pPr indent="0" lvl="0" marL="0" rtl="0" algn="l">
              <a:lnSpc>
                <a:spcPct val="115000"/>
              </a:lnSpc>
              <a:spcBef>
                <a:spcPts val="1200"/>
              </a:spcBef>
              <a:spcAft>
                <a:spcPts val="1200"/>
              </a:spcAft>
              <a:buSzPts val="1800"/>
              <a:buNone/>
            </a:pPr>
            <a:r>
              <a:t/>
            </a:r>
            <a:endParaRPr sz="1600">
              <a:solidFill>
                <a:schemeClr val="dk1"/>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2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GB"/>
              <a:t>12 principles of agile manifesto </a:t>
            </a:r>
            <a:endParaRPr/>
          </a:p>
        </p:txBody>
      </p:sp>
      <p:pic>
        <p:nvPicPr>
          <p:cNvPr id="223" name="Google Shape;223;p27"/>
          <p:cNvPicPr preferRelativeResize="0"/>
          <p:nvPr/>
        </p:nvPicPr>
        <p:blipFill rotWithShape="1">
          <a:blip r:embed="rId3">
            <a:alphaModFix/>
          </a:blip>
          <a:srcRect b="9264" l="0" r="0" t="0"/>
          <a:stretch/>
        </p:blipFill>
        <p:spPr>
          <a:xfrm>
            <a:off x="618150" y="1210625"/>
            <a:ext cx="7641950" cy="3467125"/>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28"/>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fontScale="90000"/>
          </a:bodyPr>
          <a:lstStyle/>
          <a:p>
            <a:pPr indent="0" lvl="0" marL="0" rtl="0" algn="ctr">
              <a:lnSpc>
                <a:spcPct val="100000"/>
              </a:lnSpc>
              <a:spcBef>
                <a:spcPts val="0"/>
              </a:spcBef>
              <a:spcAft>
                <a:spcPts val="0"/>
              </a:spcAft>
              <a:buSzPct val="111111"/>
              <a:buNone/>
            </a:pPr>
            <a:r>
              <a:rPr lang="en-GB"/>
              <a:t>Product Inception: Product vision, stakeholders, initial backlog creation</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29"/>
          <p:cNvSpPr txBox="1"/>
          <p:nvPr>
            <p:ph type="title"/>
          </p:nvPr>
        </p:nvSpPr>
        <p:spPr>
          <a:xfrm>
            <a:off x="311700" y="60593"/>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00000"/>
              </a:lnSpc>
              <a:spcBef>
                <a:spcPts val="0"/>
              </a:spcBef>
              <a:spcAft>
                <a:spcPts val="0"/>
              </a:spcAft>
              <a:buClr>
                <a:schemeClr val="dk1"/>
              </a:buClr>
              <a:buSzPct val="30556"/>
              <a:buFont typeface="Arial"/>
              <a:buNone/>
            </a:pPr>
            <a:r>
              <a:rPr lang="en-GB" sz="3600"/>
              <a:t>Product Inception</a:t>
            </a:r>
            <a:endParaRPr b="1"/>
          </a:p>
        </p:txBody>
      </p:sp>
      <p:sp>
        <p:nvSpPr>
          <p:cNvPr id="234" name="Google Shape;234;p29"/>
          <p:cNvSpPr txBox="1"/>
          <p:nvPr>
            <p:ph idx="1" type="body"/>
          </p:nvPr>
        </p:nvSpPr>
        <p:spPr>
          <a:xfrm>
            <a:off x="311700" y="741393"/>
            <a:ext cx="8520600" cy="4064100"/>
          </a:xfrm>
          <a:prstGeom prst="rect">
            <a:avLst/>
          </a:prstGeom>
          <a:noFill/>
          <a:ln>
            <a:noFill/>
          </a:ln>
        </p:spPr>
        <p:txBody>
          <a:bodyPr anchorCtr="0" anchor="t" bIns="91425" lIns="91425" spcFirstLastPara="1" rIns="91425" wrap="square" tIns="91425">
            <a:normAutofit/>
          </a:bodyPr>
          <a:lstStyle/>
          <a:p>
            <a:pPr indent="0" lvl="0" marL="0" rtl="0" algn="just">
              <a:lnSpc>
                <a:spcPct val="115000"/>
              </a:lnSpc>
              <a:spcBef>
                <a:spcPts val="0"/>
              </a:spcBef>
              <a:spcAft>
                <a:spcPts val="0"/>
              </a:spcAft>
              <a:buSzPts val="1800"/>
              <a:buNone/>
            </a:pPr>
            <a:r>
              <a:rPr lang="en-GB">
                <a:solidFill>
                  <a:schemeClr val="dk1"/>
                </a:solidFill>
              </a:rPr>
              <a:t>Product Inception is the phase where the team establishes the core product vision, aligns cross-functional stakeholders, and builds the initial product backlog. </a:t>
            </a:r>
            <a:endParaRPr>
              <a:solidFill>
                <a:schemeClr val="dk1"/>
              </a:solidFill>
            </a:endParaRPr>
          </a:p>
          <a:p>
            <a:pPr indent="0" lvl="0" marL="0" rtl="0" algn="just">
              <a:lnSpc>
                <a:spcPct val="115000"/>
              </a:lnSpc>
              <a:spcBef>
                <a:spcPts val="1200"/>
              </a:spcBef>
              <a:spcAft>
                <a:spcPts val="0"/>
              </a:spcAft>
              <a:buSzPts val="1800"/>
              <a:buNone/>
            </a:pPr>
            <a:r>
              <a:rPr lang="en-GB">
                <a:solidFill>
                  <a:schemeClr val="dk1"/>
                </a:solidFill>
              </a:rPr>
              <a:t>It is the phase in the product life cycle where stakeholders aligns, define the core problem, and establish a shared vision before any code is written.</a:t>
            </a:r>
            <a:endParaRPr>
              <a:solidFill>
                <a:schemeClr val="dk1"/>
              </a:solidFill>
            </a:endParaRPr>
          </a:p>
          <a:p>
            <a:pPr indent="0" lvl="0" marL="0" rtl="0" algn="just">
              <a:lnSpc>
                <a:spcPct val="115000"/>
              </a:lnSpc>
              <a:spcBef>
                <a:spcPts val="1200"/>
              </a:spcBef>
              <a:spcAft>
                <a:spcPts val="0"/>
              </a:spcAft>
              <a:buSzPts val="1800"/>
              <a:buNone/>
            </a:pPr>
            <a:r>
              <a:rPr lang="en-GB">
                <a:solidFill>
                  <a:schemeClr val="dk1"/>
                </a:solidFill>
              </a:rPr>
              <a:t>It focuses on : 1. Define why, who and what  2. Determining the scope   3.  Align cross-functional teams. </a:t>
            </a:r>
            <a:endParaRPr>
              <a:solidFill>
                <a:schemeClr val="dk1"/>
              </a:solidFill>
            </a:endParaRPr>
          </a:p>
          <a:p>
            <a:pPr indent="0" lvl="0" marL="0" rtl="0" algn="just">
              <a:lnSpc>
                <a:spcPct val="115000"/>
              </a:lnSpc>
              <a:spcBef>
                <a:spcPts val="1200"/>
              </a:spcBef>
              <a:spcAft>
                <a:spcPts val="0"/>
              </a:spcAft>
              <a:buSzPts val="1800"/>
              <a:buNone/>
            </a:pPr>
            <a:r>
              <a:rPr lang="en-GB">
                <a:solidFill>
                  <a:schemeClr val="dk1"/>
                </a:solidFill>
              </a:rPr>
              <a:t>Common methodologies:</a:t>
            </a:r>
            <a:endParaRPr>
              <a:solidFill>
                <a:schemeClr val="dk1"/>
              </a:solidFill>
            </a:endParaRPr>
          </a:p>
          <a:p>
            <a:pPr indent="0" lvl="0" marL="0" rtl="0" algn="just">
              <a:lnSpc>
                <a:spcPct val="115000"/>
              </a:lnSpc>
              <a:spcBef>
                <a:spcPts val="1200"/>
              </a:spcBef>
              <a:spcAft>
                <a:spcPts val="1200"/>
              </a:spcAft>
              <a:buSzPts val="1800"/>
              <a:buNone/>
            </a:pPr>
            <a:r>
              <a:rPr lang="en-GB">
                <a:solidFill>
                  <a:schemeClr val="dk1"/>
                </a:solidFill>
              </a:rPr>
              <a:t> 1. Lean inception   2. Design sprints . </a:t>
            </a:r>
            <a:endParaRPr>
              <a:solidFill>
                <a:schemeClr val="dk1"/>
              </a:solidFill>
            </a:endParaRPr>
          </a:p>
        </p:txBody>
      </p:sp>
      <p:pic>
        <p:nvPicPr>
          <p:cNvPr id="235" name="Google Shape;235;p29"/>
          <p:cNvPicPr preferRelativeResize="0"/>
          <p:nvPr/>
        </p:nvPicPr>
        <p:blipFill rotWithShape="1">
          <a:blip r:embed="rId3">
            <a:alphaModFix/>
          </a:blip>
          <a:srcRect b="0" l="0" r="0" t="0"/>
          <a:stretch/>
        </p:blipFill>
        <p:spPr>
          <a:xfrm>
            <a:off x="4115100" y="2831525"/>
            <a:ext cx="5028900" cy="1679179"/>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30"/>
          <p:cNvSpPr txBox="1"/>
          <p:nvPr>
            <p:ph type="title"/>
          </p:nvPr>
        </p:nvSpPr>
        <p:spPr>
          <a:xfrm>
            <a:off x="311700" y="101782"/>
            <a:ext cx="8520600" cy="572700"/>
          </a:xfrm>
          <a:prstGeom prst="rect">
            <a:avLst/>
          </a:prstGeom>
          <a:noFill/>
          <a:ln>
            <a:noFill/>
          </a:ln>
        </p:spPr>
        <p:txBody>
          <a:bodyPr anchorCtr="0" anchor="t" bIns="91425" lIns="91425" spcFirstLastPara="1" rIns="91425" wrap="square" tIns="91425">
            <a:normAutofit fontScale="90000"/>
          </a:bodyPr>
          <a:lstStyle/>
          <a:p>
            <a:pPr indent="-388620" lvl="0" marL="457200" rtl="0" algn="l">
              <a:lnSpc>
                <a:spcPct val="100000"/>
              </a:lnSpc>
              <a:spcBef>
                <a:spcPts val="0"/>
              </a:spcBef>
              <a:spcAft>
                <a:spcPts val="0"/>
              </a:spcAft>
              <a:buSzPct val="100000"/>
              <a:buAutoNum type="arabicPeriod"/>
            </a:pPr>
            <a:r>
              <a:rPr lang="en-GB"/>
              <a:t>Product vision </a:t>
            </a:r>
            <a:endParaRPr/>
          </a:p>
        </p:txBody>
      </p:sp>
      <p:sp>
        <p:nvSpPr>
          <p:cNvPr id="241" name="Google Shape;241;p30"/>
          <p:cNvSpPr txBox="1"/>
          <p:nvPr>
            <p:ph idx="1" type="body"/>
          </p:nvPr>
        </p:nvSpPr>
        <p:spPr>
          <a:xfrm>
            <a:off x="311700" y="658209"/>
            <a:ext cx="8520600" cy="39963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SzPts val="1800"/>
              <a:buNone/>
            </a:pPr>
            <a:r>
              <a:rPr lang="en-GB" sz="1600">
                <a:solidFill>
                  <a:schemeClr val="dk1"/>
                </a:solidFill>
              </a:rPr>
              <a:t>Desired output of the product inception is to </a:t>
            </a:r>
            <a:r>
              <a:rPr lang="en-GB" sz="1600">
                <a:solidFill>
                  <a:schemeClr val="dk1"/>
                </a:solidFill>
                <a:highlight>
                  <a:srgbClr val="FFFFFF"/>
                </a:highlight>
              </a:rPr>
              <a:t>Align on goals, vision, and context for a project/product/feature set so a team can make intelligent decisions while executing. </a:t>
            </a:r>
            <a:endParaRPr sz="1600">
              <a:solidFill>
                <a:schemeClr val="dk1"/>
              </a:solidFill>
              <a:highlight>
                <a:srgbClr val="FFFFFF"/>
              </a:highlight>
            </a:endParaRPr>
          </a:p>
          <a:p>
            <a:pPr indent="0" lvl="0" marL="0" rtl="0" algn="l">
              <a:lnSpc>
                <a:spcPct val="115000"/>
              </a:lnSpc>
              <a:spcBef>
                <a:spcPts val="0"/>
              </a:spcBef>
              <a:spcAft>
                <a:spcPts val="0"/>
              </a:spcAft>
              <a:buSzPts val="1800"/>
              <a:buNone/>
            </a:pPr>
            <a:r>
              <a:rPr lang="en-GB" sz="1600">
                <a:solidFill>
                  <a:schemeClr val="dk1"/>
                </a:solidFill>
                <a:highlight>
                  <a:srgbClr val="FFFFFF"/>
                </a:highlight>
              </a:rPr>
              <a:t>It </a:t>
            </a:r>
            <a:r>
              <a:rPr lang="en-GB" sz="1600">
                <a:solidFill>
                  <a:schemeClr val="dk1"/>
                </a:solidFill>
              </a:rPr>
              <a:t>describes </a:t>
            </a:r>
            <a:r>
              <a:rPr i="1" lang="en-GB" sz="1600">
                <a:solidFill>
                  <a:schemeClr val="dk1"/>
                </a:solidFill>
              </a:rPr>
              <a:t>what the product aims to achieve and why it exists.</a:t>
            </a:r>
            <a:r>
              <a:rPr lang="en-GB" sz="1600">
                <a:solidFill>
                  <a:schemeClr val="dk1"/>
                </a:solidFill>
              </a:rPr>
              <a:t> </a:t>
            </a:r>
            <a:endParaRPr sz="1600">
              <a:solidFill>
                <a:schemeClr val="dk1"/>
              </a:solidFill>
            </a:endParaRPr>
          </a:p>
          <a:p>
            <a:pPr indent="0" lvl="0" marL="0" rtl="0" algn="l">
              <a:lnSpc>
                <a:spcPct val="115000"/>
              </a:lnSpc>
              <a:spcBef>
                <a:spcPts val="0"/>
              </a:spcBef>
              <a:spcAft>
                <a:spcPts val="0"/>
              </a:spcAft>
              <a:buSzPts val="1800"/>
              <a:buNone/>
            </a:pPr>
            <a:r>
              <a:rPr lang="en-GB" sz="1600">
                <a:solidFill>
                  <a:schemeClr val="dk1"/>
                </a:solidFill>
              </a:rPr>
              <a:t>The main purpose of the product vision are: </a:t>
            </a:r>
            <a:endParaRPr sz="1600">
              <a:solidFill>
                <a:schemeClr val="dk1"/>
              </a:solidFill>
            </a:endParaRPr>
          </a:p>
          <a:p>
            <a:pPr indent="457200" lvl="0" marL="0" rtl="0" algn="l">
              <a:lnSpc>
                <a:spcPct val="115000"/>
              </a:lnSpc>
              <a:spcBef>
                <a:spcPts val="0"/>
              </a:spcBef>
              <a:spcAft>
                <a:spcPts val="0"/>
              </a:spcAft>
              <a:buSzPts val="1800"/>
              <a:buNone/>
            </a:pPr>
            <a:r>
              <a:t/>
            </a:r>
            <a:endParaRPr sz="1600">
              <a:solidFill>
                <a:schemeClr val="dk1"/>
              </a:solidFill>
            </a:endParaRPr>
          </a:p>
          <a:p>
            <a:pPr indent="457200" lvl="0" marL="0" rtl="0" algn="l">
              <a:lnSpc>
                <a:spcPct val="115000"/>
              </a:lnSpc>
              <a:spcBef>
                <a:spcPts val="0"/>
              </a:spcBef>
              <a:spcAft>
                <a:spcPts val="0"/>
              </a:spcAft>
              <a:buSzPts val="1800"/>
              <a:buNone/>
            </a:pPr>
            <a:r>
              <a:rPr lang="en-GB" sz="1600">
                <a:solidFill>
                  <a:schemeClr val="dk1"/>
                </a:solidFill>
              </a:rPr>
              <a:t>1. Aligns everyone on the product goals</a:t>
            </a:r>
            <a:endParaRPr sz="1600">
              <a:solidFill>
                <a:schemeClr val="dk1"/>
              </a:solidFill>
            </a:endParaRPr>
          </a:p>
          <a:p>
            <a:pPr indent="457200" lvl="0" marL="0" rtl="0" algn="l">
              <a:lnSpc>
                <a:spcPct val="115000"/>
              </a:lnSpc>
              <a:spcBef>
                <a:spcPts val="0"/>
              </a:spcBef>
              <a:spcAft>
                <a:spcPts val="0"/>
              </a:spcAft>
              <a:buSzPts val="1800"/>
              <a:buNone/>
            </a:pPr>
            <a:r>
              <a:rPr lang="en-GB" sz="1600">
                <a:solidFill>
                  <a:schemeClr val="dk1"/>
                </a:solidFill>
              </a:rPr>
              <a:t>2. Provide direction for decision- making.</a:t>
            </a:r>
            <a:endParaRPr sz="1600">
              <a:solidFill>
                <a:schemeClr val="dk1"/>
              </a:solidFill>
            </a:endParaRPr>
          </a:p>
          <a:p>
            <a:pPr indent="457200" lvl="0" marL="0" rtl="0" algn="l">
              <a:lnSpc>
                <a:spcPct val="115000"/>
              </a:lnSpc>
              <a:spcBef>
                <a:spcPts val="0"/>
              </a:spcBef>
              <a:spcAft>
                <a:spcPts val="0"/>
              </a:spcAft>
              <a:buSzPts val="1800"/>
              <a:buNone/>
            </a:pPr>
            <a:r>
              <a:rPr lang="en-GB" sz="1600">
                <a:solidFill>
                  <a:schemeClr val="dk1"/>
                </a:solidFill>
              </a:rPr>
              <a:t>3. Communicates value to customers and stakeholders.</a:t>
            </a:r>
            <a:endParaRPr sz="1600">
              <a:solidFill>
                <a:schemeClr val="dk1"/>
              </a:solidFill>
            </a:endParaRPr>
          </a:p>
          <a:p>
            <a:pPr indent="0" lvl="0" marL="0" rtl="0" algn="l">
              <a:lnSpc>
                <a:spcPct val="115000"/>
              </a:lnSpc>
              <a:spcBef>
                <a:spcPts val="0"/>
              </a:spcBef>
              <a:spcAft>
                <a:spcPts val="0"/>
              </a:spcAft>
              <a:buSzPts val="1800"/>
              <a:buNone/>
            </a:pPr>
            <a:r>
              <a:t/>
            </a:r>
            <a:endParaRPr sz="1400">
              <a:solidFill>
                <a:schemeClr val="dk1"/>
              </a:solidFill>
            </a:endParaRPr>
          </a:p>
          <a:p>
            <a:pPr indent="0" lvl="0" marL="0" rtl="0" algn="just">
              <a:lnSpc>
                <a:spcPct val="115000"/>
              </a:lnSpc>
              <a:spcBef>
                <a:spcPts val="0"/>
              </a:spcBef>
              <a:spcAft>
                <a:spcPts val="0"/>
              </a:spcAft>
              <a:buSzPts val="1800"/>
              <a:buNone/>
            </a:pPr>
            <a:r>
              <a:rPr lang="en-GB" sz="1600">
                <a:solidFill>
                  <a:schemeClr val="dk1"/>
                </a:solidFill>
              </a:rPr>
              <a:t>Vision statement: For </a:t>
            </a:r>
            <a:r>
              <a:rPr lang="en-GB" sz="1600" u="sng">
                <a:solidFill>
                  <a:schemeClr val="dk1"/>
                </a:solidFill>
              </a:rPr>
              <a:t>[target customers]</a:t>
            </a:r>
            <a:r>
              <a:rPr lang="en-GB" sz="1600">
                <a:solidFill>
                  <a:schemeClr val="dk1"/>
                </a:solidFill>
              </a:rPr>
              <a:t>, who </a:t>
            </a:r>
            <a:r>
              <a:rPr lang="en-GB" sz="1600" u="sng">
                <a:solidFill>
                  <a:schemeClr val="dk1"/>
                </a:solidFill>
              </a:rPr>
              <a:t>[need/problem]</a:t>
            </a:r>
            <a:r>
              <a:rPr lang="en-GB" sz="1600">
                <a:solidFill>
                  <a:schemeClr val="dk1"/>
                </a:solidFill>
              </a:rPr>
              <a:t>, the </a:t>
            </a:r>
            <a:r>
              <a:rPr lang="en-GB" sz="1600" u="sng">
                <a:solidFill>
                  <a:schemeClr val="dk1"/>
                </a:solidFill>
              </a:rPr>
              <a:t>[product name]</a:t>
            </a:r>
            <a:r>
              <a:rPr lang="en-GB" sz="1600">
                <a:solidFill>
                  <a:schemeClr val="dk1"/>
                </a:solidFill>
              </a:rPr>
              <a:t> is a </a:t>
            </a:r>
            <a:r>
              <a:rPr lang="en-GB" sz="1600" u="sng">
                <a:solidFill>
                  <a:schemeClr val="dk1"/>
                </a:solidFill>
              </a:rPr>
              <a:t>[product category]</a:t>
            </a:r>
            <a:r>
              <a:rPr lang="en-GB" sz="1600">
                <a:solidFill>
                  <a:schemeClr val="dk1"/>
                </a:solidFill>
              </a:rPr>
              <a:t> that </a:t>
            </a:r>
            <a:r>
              <a:rPr lang="en-GB" sz="1600" u="sng">
                <a:solidFill>
                  <a:schemeClr val="dk1"/>
                </a:solidFill>
              </a:rPr>
              <a:t>[key benefit]</a:t>
            </a:r>
            <a:r>
              <a:rPr lang="en-GB" sz="1600">
                <a:solidFill>
                  <a:schemeClr val="dk1"/>
                </a:solidFill>
              </a:rPr>
              <a:t>. Unlike </a:t>
            </a:r>
            <a:r>
              <a:rPr lang="en-GB" sz="1600" u="sng">
                <a:solidFill>
                  <a:schemeClr val="dk1"/>
                </a:solidFill>
              </a:rPr>
              <a:t>[competitor/alternative],</a:t>
            </a:r>
            <a:r>
              <a:rPr lang="en-GB" sz="1600">
                <a:solidFill>
                  <a:schemeClr val="dk1"/>
                </a:solidFill>
              </a:rPr>
              <a:t> our product </a:t>
            </a:r>
            <a:r>
              <a:rPr lang="en-GB" sz="1600" u="sng">
                <a:solidFill>
                  <a:schemeClr val="dk1"/>
                </a:solidFill>
              </a:rPr>
              <a:t>[unique differentiator]. </a:t>
            </a:r>
            <a:endParaRPr sz="1600" u="sng">
              <a:solidFill>
                <a:schemeClr val="dk1"/>
              </a:solidFill>
            </a:endParaRPr>
          </a:p>
          <a:p>
            <a:pPr indent="0" lvl="0" marL="0" rtl="0" algn="just">
              <a:lnSpc>
                <a:spcPct val="115000"/>
              </a:lnSpc>
              <a:spcBef>
                <a:spcPts val="0"/>
              </a:spcBef>
              <a:spcAft>
                <a:spcPts val="0"/>
              </a:spcAft>
              <a:buSzPts val="1800"/>
              <a:buNone/>
            </a:pPr>
            <a:r>
              <a:rPr lang="en-GB" sz="1600">
                <a:solidFill>
                  <a:schemeClr val="dk1"/>
                </a:solidFill>
              </a:rPr>
              <a:t>Example:</a:t>
            </a:r>
            <a:endParaRPr sz="1600">
              <a:solidFill>
                <a:schemeClr val="dk1"/>
              </a:solidFill>
            </a:endParaRPr>
          </a:p>
          <a:p>
            <a:pPr indent="0" lvl="0" marL="0" rtl="0" algn="just">
              <a:lnSpc>
                <a:spcPct val="115000"/>
              </a:lnSpc>
              <a:spcBef>
                <a:spcPts val="0"/>
              </a:spcBef>
              <a:spcAft>
                <a:spcPts val="0"/>
              </a:spcAft>
              <a:buSzPts val="1800"/>
              <a:buNone/>
            </a:pPr>
            <a:r>
              <a:rPr lang="en-GB" sz="1600">
                <a:solidFill>
                  <a:schemeClr val="dk1"/>
                </a:solidFill>
              </a:rPr>
              <a:t>For university students who struggle to manage assignments, the StudyPlanner app is a productivity tool that organizes schedules and deadlines in one place. Unlike generic calendar apps, it provides academic-specific planning features </a:t>
            </a:r>
            <a:endParaRPr sz="1600">
              <a:solidFill>
                <a:schemeClr val="dk1"/>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31"/>
          <p:cNvSpPr txBox="1"/>
          <p:nvPr>
            <p:ph type="title"/>
          </p:nvPr>
        </p:nvSpPr>
        <p:spPr>
          <a:xfrm>
            <a:off x="311700" y="101782"/>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GB"/>
              <a:t>2. Stakeholders</a:t>
            </a:r>
            <a:endParaRPr/>
          </a:p>
        </p:txBody>
      </p:sp>
      <p:sp>
        <p:nvSpPr>
          <p:cNvPr id="247" name="Google Shape;247;p31"/>
          <p:cNvSpPr txBox="1"/>
          <p:nvPr>
            <p:ph idx="1" type="body"/>
          </p:nvPr>
        </p:nvSpPr>
        <p:spPr>
          <a:xfrm>
            <a:off x="1162925" y="755127"/>
            <a:ext cx="2805000" cy="42012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b="1" lang="en-GB">
                <a:solidFill>
                  <a:schemeClr val="dk1"/>
                </a:solidFill>
              </a:rPr>
              <a:t>Internal Stakeholders:</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Product Owner</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Product Manager</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Development Team</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UX/UI Designers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QA Team</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Marketing Team</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Sales Team</a:t>
            </a:r>
            <a:endParaRPr>
              <a:solidFill>
                <a:schemeClr val="dk1"/>
              </a:solidFill>
            </a:endParaRPr>
          </a:p>
          <a:p>
            <a:pPr indent="0" lvl="0" marL="0" rtl="0" algn="l">
              <a:lnSpc>
                <a:spcPct val="115000"/>
              </a:lnSpc>
              <a:spcBef>
                <a:spcPts val="1200"/>
              </a:spcBef>
              <a:spcAft>
                <a:spcPts val="1200"/>
              </a:spcAft>
              <a:buSzPts val="1800"/>
              <a:buNone/>
            </a:pPr>
            <a:r>
              <a:rPr lang="en-GB">
                <a:solidFill>
                  <a:schemeClr val="dk1"/>
                </a:solidFill>
              </a:rPr>
              <a:t>Senior Management</a:t>
            </a:r>
            <a:endParaRPr>
              <a:solidFill>
                <a:schemeClr val="dk1"/>
              </a:solidFill>
            </a:endParaRPr>
          </a:p>
        </p:txBody>
      </p:sp>
      <p:sp>
        <p:nvSpPr>
          <p:cNvPr id="248" name="Google Shape;248;p31"/>
          <p:cNvSpPr txBox="1"/>
          <p:nvPr>
            <p:ph idx="1" type="body"/>
          </p:nvPr>
        </p:nvSpPr>
        <p:spPr>
          <a:xfrm>
            <a:off x="4679150" y="864949"/>
            <a:ext cx="2805000" cy="42012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b="1" lang="en-GB">
                <a:solidFill>
                  <a:schemeClr val="dk1"/>
                </a:solidFill>
              </a:rPr>
              <a:t>External Stakeholders:</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Customers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End Users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Investors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Regulatory Bodies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Partners and Vendors</a:t>
            </a:r>
            <a:endParaRPr>
              <a:solidFill>
                <a:schemeClr val="dk1"/>
              </a:solidFill>
            </a:endParaRPr>
          </a:p>
          <a:p>
            <a:pPr indent="0" lvl="0" marL="0" rtl="0" algn="l">
              <a:lnSpc>
                <a:spcPct val="115000"/>
              </a:lnSpc>
              <a:spcBef>
                <a:spcPts val="1200"/>
              </a:spcBef>
              <a:spcAft>
                <a:spcPts val="1200"/>
              </a:spcAft>
              <a:buSzPts val="1800"/>
              <a:buNone/>
            </a:pPr>
            <a:r>
              <a:t/>
            </a:r>
            <a:endParaRPr>
              <a:solidFill>
                <a:schemeClr val="dk1"/>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32"/>
          <p:cNvSpPr txBox="1"/>
          <p:nvPr>
            <p:ph idx="1" type="body"/>
          </p:nvPr>
        </p:nvSpPr>
        <p:spPr>
          <a:xfrm>
            <a:off x="311700" y="370700"/>
            <a:ext cx="8520600" cy="41982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n-GB">
                <a:solidFill>
                  <a:schemeClr val="dk1"/>
                </a:solidFill>
              </a:rPr>
              <a:t>Stakeholder Matrix:</a:t>
            </a:r>
            <a:endParaRPr>
              <a:solidFill>
                <a:schemeClr val="dk1"/>
              </a:solidFill>
            </a:endParaRPr>
          </a:p>
          <a:p>
            <a:pPr indent="0" lvl="0" marL="0" rtl="0" algn="l">
              <a:lnSpc>
                <a:spcPct val="115000"/>
              </a:lnSpc>
              <a:spcBef>
                <a:spcPts val="1200"/>
              </a:spcBef>
              <a:spcAft>
                <a:spcPts val="1200"/>
              </a:spcAft>
              <a:buSzPts val="1800"/>
              <a:buNone/>
            </a:pPr>
            <a:r>
              <a:t/>
            </a:r>
            <a:endParaRPr/>
          </a:p>
        </p:txBody>
      </p:sp>
      <p:graphicFrame>
        <p:nvGraphicFramePr>
          <p:cNvPr id="254" name="Google Shape;254;p32"/>
          <p:cNvGraphicFramePr/>
          <p:nvPr/>
        </p:nvGraphicFramePr>
        <p:xfrm>
          <a:off x="815200" y="1262250"/>
          <a:ext cx="3000000" cy="3000000"/>
        </p:xfrm>
        <a:graphic>
          <a:graphicData uri="http://schemas.openxmlformats.org/drawingml/2006/table">
            <a:tbl>
              <a:tblPr>
                <a:noFill/>
                <a:tableStyleId>{5F784CCF-224E-4AC6-9B68-D81CFF91F574}</a:tableStyleId>
              </a:tblPr>
              <a:tblGrid>
                <a:gridCol w="1912725"/>
                <a:gridCol w="1912725"/>
                <a:gridCol w="1912725"/>
                <a:gridCol w="1912725"/>
              </a:tblGrid>
              <a:tr h="522525">
                <a:tc>
                  <a:txBody>
                    <a:bodyPr/>
                    <a:lstStyle/>
                    <a:p>
                      <a:pPr indent="0" lvl="0" marL="0" marR="0" rtl="0" algn="ctr">
                        <a:lnSpc>
                          <a:spcPct val="115000"/>
                        </a:lnSpc>
                        <a:spcBef>
                          <a:spcPts val="0"/>
                        </a:spcBef>
                        <a:spcAft>
                          <a:spcPts val="0"/>
                        </a:spcAft>
                        <a:buClr>
                          <a:srgbClr val="000000"/>
                        </a:buClr>
                        <a:buSzPts val="1400"/>
                        <a:buFont typeface="Arial"/>
                        <a:buNone/>
                      </a:pPr>
                      <a:r>
                        <a:rPr b="1" lang="en-GB" sz="1400" u="none" cap="none" strike="noStrike">
                          <a:solidFill>
                            <a:schemeClr val="dk1"/>
                          </a:solidFill>
                        </a:rPr>
                        <a:t>Stakeholder</a:t>
                      </a:r>
                      <a:endParaRPr b="1" sz="1400" u="none" cap="none" strike="noStrike">
                        <a:solidFill>
                          <a:schemeClr val="dk1"/>
                        </a:solidFill>
                      </a:endParaRPr>
                    </a:p>
                  </a:txBody>
                  <a:tcPr marT="91425" marB="91425" marR="91425" marL="91425">
                    <a:lnB cap="flat" cmpd="sng" w="9525">
                      <a:solidFill>
                        <a:schemeClr val="dk1"/>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400"/>
                        <a:buFont typeface="Arial"/>
                        <a:buNone/>
                      </a:pPr>
                      <a:r>
                        <a:rPr b="1" lang="en-GB" sz="1400" u="none" cap="none" strike="noStrike">
                          <a:solidFill>
                            <a:schemeClr val="dk1"/>
                          </a:solidFill>
                        </a:rPr>
                        <a:t>Interest</a:t>
                      </a:r>
                      <a:endParaRPr b="1" sz="1400" u="none" cap="none" strike="noStrike">
                        <a:solidFill>
                          <a:schemeClr val="dk1"/>
                        </a:solidFill>
                      </a:endParaRPr>
                    </a:p>
                  </a:txBody>
                  <a:tcPr marT="91425" marB="91425" marR="91425" marL="91425">
                    <a:lnB cap="flat" cmpd="sng" w="9525">
                      <a:solidFill>
                        <a:schemeClr val="dk1"/>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400"/>
                        <a:buFont typeface="Arial"/>
                        <a:buNone/>
                      </a:pPr>
                      <a:r>
                        <a:rPr b="1" lang="en-GB" sz="1400" u="none" cap="none" strike="noStrike">
                          <a:solidFill>
                            <a:schemeClr val="dk1"/>
                          </a:solidFill>
                        </a:rPr>
                        <a:t>Influence</a:t>
                      </a:r>
                      <a:endParaRPr b="1" sz="1400" u="none" cap="none" strike="noStrike">
                        <a:solidFill>
                          <a:schemeClr val="dk1"/>
                        </a:solidFill>
                      </a:endParaRPr>
                    </a:p>
                  </a:txBody>
                  <a:tcPr marT="91425" marB="91425" marR="91425" marL="91425">
                    <a:lnB cap="flat" cmpd="sng" w="9525">
                      <a:solidFill>
                        <a:schemeClr val="dk1"/>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400"/>
                        <a:buFont typeface="Arial"/>
                        <a:buNone/>
                      </a:pPr>
                      <a:r>
                        <a:rPr b="1" lang="en-GB" sz="1400" u="none" cap="none" strike="noStrike">
                          <a:solidFill>
                            <a:schemeClr val="dk1"/>
                          </a:solidFill>
                        </a:rPr>
                        <a:t>Engagement</a:t>
                      </a:r>
                      <a:endParaRPr b="1" sz="1400" u="none" cap="none" strike="noStrike">
                        <a:solidFill>
                          <a:schemeClr val="dk1"/>
                        </a:solidFill>
                      </a:endParaRPr>
                    </a:p>
                  </a:txBody>
                  <a:tcPr marT="91425" marB="91425" marR="91425" marL="91425">
                    <a:lnB cap="flat" cmpd="sng" w="9525">
                      <a:solidFill>
                        <a:schemeClr val="dk1"/>
                      </a:solidFill>
                      <a:prstDash val="solid"/>
                      <a:round/>
                      <a:headEnd len="sm" w="sm" type="none"/>
                      <a:tailEnd len="sm" w="sm" type="none"/>
                    </a:lnB>
                  </a:tcPr>
                </a:tc>
              </a:tr>
              <a:tr h="522525">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solidFill>
                            <a:schemeClr val="dk1"/>
                          </a:solidFill>
                        </a:rPr>
                        <a:t>Product Owner</a:t>
                      </a:r>
                      <a:endParaRPr sz="1400" u="none" cap="none" strike="noStrike">
                        <a:solidFill>
                          <a:schemeClr val="dk1"/>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solidFill>
                            <a:schemeClr val="dk1"/>
                          </a:solidFill>
                        </a:rPr>
                        <a:t>High</a:t>
                      </a:r>
                      <a:endParaRPr sz="1400" u="none" cap="none" strike="noStrike">
                        <a:solidFill>
                          <a:schemeClr val="dk1"/>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solidFill>
                            <a:schemeClr val="dk1"/>
                          </a:solidFill>
                        </a:rPr>
                        <a:t>High</a:t>
                      </a:r>
                      <a:endParaRPr sz="1400" u="none" cap="none" strike="noStrike">
                        <a:solidFill>
                          <a:schemeClr val="dk1"/>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solidFill>
                            <a:schemeClr val="dk1"/>
                          </a:solidFill>
                        </a:rPr>
                        <a:t>Manage closely</a:t>
                      </a:r>
                      <a:endParaRPr sz="1400" u="none" cap="none" strike="noStrike">
                        <a:solidFill>
                          <a:schemeClr val="dk1"/>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522525">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solidFill>
                            <a:schemeClr val="dk1"/>
                          </a:solidFill>
                        </a:rPr>
                        <a:t>Customers</a:t>
                      </a:r>
                      <a:endParaRPr sz="1400" u="none" cap="none" strike="noStrike">
                        <a:solidFill>
                          <a:schemeClr val="dk1"/>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solidFill>
                            <a:schemeClr val="dk1"/>
                          </a:solidFill>
                        </a:rPr>
                        <a:t>High</a:t>
                      </a:r>
                      <a:endParaRPr sz="1400" u="none" cap="none" strike="noStrike">
                        <a:solidFill>
                          <a:schemeClr val="dk1"/>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solidFill>
                            <a:schemeClr val="dk1"/>
                          </a:solidFill>
                        </a:rPr>
                        <a:t>Medium</a:t>
                      </a:r>
                      <a:endParaRPr sz="1400" u="none" cap="none" strike="noStrike">
                        <a:solidFill>
                          <a:schemeClr val="dk1"/>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solidFill>
                            <a:schemeClr val="dk1"/>
                          </a:solidFill>
                        </a:rPr>
                        <a:t>Regular feedback</a:t>
                      </a:r>
                      <a:endParaRPr sz="1400" u="none" cap="none" strike="noStrike">
                        <a:solidFill>
                          <a:schemeClr val="dk1"/>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522525">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solidFill>
                            <a:schemeClr val="dk1"/>
                          </a:solidFill>
                        </a:rPr>
                        <a:t>Executives</a:t>
                      </a:r>
                      <a:endParaRPr sz="1400" u="none" cap="none" strike="noStrike">
                        <a:solidFill>
                          <a:schemeClr val="dk1"/>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solidFill>
                            <a:schemeClr val="dk1"/>
                          </a:solidFill>
                        </a:rPr>
                        <a:t>Medium</a:t>
                      </a:r>
                      <a:endParaRPr sz="1400" u="none" cap="none" strike="noStrike">
                        <a:solidFill>
                          <a:schemeClr val="dk1"/>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solidFill>
                            <a:schemeClr val="dk1"/>
                          </a:solidFill>
                        </a:rPr>
                        <a:t>High</a:t>
                      </a:r>
                      <a:endParaRPr sz="1400" u="none" cap="none" strike="noStrike">
                        <a:solidFill>
                          <a:schemeClr val="dk1"/>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solidFill>
                            <a:schemeClr val="dk1"/>
                          </a:solidFill>
                        </a:rPr>
                        <a:t>Keep satisfied</a:t>
                      </a:r>
                      <a:endParaRPr sz="1400" u="none" cap="none" strike="noStrike">
                        <a:solidFill>
                          <a:schemeClr val="dk1"/>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522525">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solidFill>
                            <a:schemeClr val="dk1"/>
                          </a:solidFill>
                        </a:rPr>
                        <a:t>Vendors</a:t>
                      </a:r>
                      <a:endParaRPr sz="1400" u="none" cap="none" strike="noStrike">
                        <a:solidFill>
                          <a:schemeClr val="dk1"/>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solidFill>
                            <a:schemeClr val="dk1"/>
                          </a:solidFill>
                        </a:rPr>
                        <a:t>Low</a:t>
                      </a:r>
                      <a:endParaRPr sz="1400" u="none" cap="none" strike="noStrike">
                        <a:solidFill>
                          <a:schemeClr val="dk1"/>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solidFill>
                            <a:schemeClr val="dk1"/>
                          </a:solidFill>
                        </a:rPr>
                        <a:t>Medium</a:t>
                      </a:r>
                      <a:endParaRPr sz="1400" u="none" cap="none" strike="noStrike">
                        <a:solidFill>
                          <a:schemeClr val="dk1"/>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solidFill>
                            <a:schemeClr val="dk1"/>
                          </a:solidFill>
                        </a:rPr>
                        <a:t>Monitor</a:t>
                      </a:r>
                      <a:endParaRPr sz="1400" u="none" cap="none" strike="noStrike">
                        <a:solidFill>
                          <a:schemeClr val="dk1"/>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