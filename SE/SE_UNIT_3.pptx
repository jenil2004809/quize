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5143500" cx="9144000"/>
  <p:notesSz cx="6858000" cy="9144000"/>
  <p:embeddedFontLst>
    <p:embeddedFont>
      <p:font typeface="Roboto"/>
      <p:regular r:id="rId62"/>
      <p:bold r:id="rId63"/>
      <p:italic r:id="rId64"/>
      <p:boldItalic r:id="rId65"/>
    </p:embeddedFont>
    <p:embeddedFont>
      <p:font typeface="Nunito"/>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EBA74EA-FC26-44C8-80AF-B5D10A0C4C8F}">
  <a:tblStyle styleId="{EEBA74EA-FC26-44C8-80AF-B5D10A0C4C8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regular.fntdata"/><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Roboto-italic.fntdata"/><Relationship Id="rId63" Type="http://schemas.openxmlformats.org/officeDocument/2006/relationships/font" Target="fonts/Roboto-bold.fntdata"/><Relationship Id="rId22" Type="http://schemas.openxmlformats.org/officeDocument/2006/relationships/slide" Target="slides/slide16.xml"/><Relationship Id="rId66" Type="http://schemas.openxmlformats.org/officeDocument/2006/relationships/font" Target="fonts/Nunito-regular.fntdata"/><Relationship Id="rId21" Type="http://schemas.openxmlformats.org/officeDocument/2006/relationships/slide" Target="slides/slide15.xml"/><Relationship Id="rId65" Type="http://schemas.openxmlformats.org/officeDocument/2006/relationships/font" Target="fonts/Roboto-boldItalic.fntdata"/><Relationship Id="rId24" Type="http://schemas.openxmlformats.org/officeDocument/2006/relationships/slide" Target="slides/slide18.xml"/><Relationship Id="rId68" Type="http://schemas.openxmlformats.org/officeDocument/2006/relationships/font" Target="fonts/Nunito-italic.fntdata"/><Relationship Id="rId23" Type="http://schemas.openxmlformats.org/officeDocument/2006/relationships/slide" Target="slides/slide17.xml"/><Relationship Id="rId67" Type="http://schemas.openxmlformats.org/officeDocument/2006/relationships/font" Target="fonts/Nunito-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Nunito-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eddda7ac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eddda7ac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eddda7acc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eddda7acc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ddda7acc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eddda7acc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ddda7acc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ddda7acc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ddda7acc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ddda7acc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ddda7acc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ddda7acc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ddda7acc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ddda7acc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ddda7acc4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ddda7acc4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16e0781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16e0781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16e07817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16e07817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16e07817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f16e07817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e023ca9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e023ca9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e023ca9c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ee023ca9c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ee023ca9c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ee023ca9c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e023ca9c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e023ca9c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e023ca9c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ee023ca9c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e023ca9c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ee023ca9c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e023ca9c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ee023ca9c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e023ca9c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ee023ca9c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e023ca9c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e023ca9c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e023ca9c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e023ca9c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e023ca9c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ee023ca9c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e023ca9cd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e023ca9c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e023ca9c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ee023ca9c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e023ca9c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ee023ca9c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e023ca9cd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ee023ca9cd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e023ca9cd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ee023ca9cd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ee023ca9cd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ee023ca9cd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ee023ca9cd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ee023ca9cd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e023ca9cd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e023ca9cd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ee023ca9cd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ee023ca9cd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ee023ca9c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ee023ca9c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ee023ca9c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ee023ca9c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ee023ca9cd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ee023ca9cd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ef46b8c812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ef46b8c812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ee023ca9cd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ee023ca9cd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ee023ca9cd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ee023ca9cd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ee023ca9cd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ee023ca9cd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ee023ca9cd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ee023ca9cd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ee023ca9cd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ee023ca9cd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ef46b8c812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ef46b8c812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ee023ca9cd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ee023ca9cd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ee023ca9cd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ee023ca9cd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e023ca9cd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ee023ca9cd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ef46b8c812_3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ef46b8c812_3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ef46b8c812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ef46b8c812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ef46b8c812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ef46b8c812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ef46b8c812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ef46b8c812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f46b8c812_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ef46b8c812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ef46b8c812_3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ef46b8c812_3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ef46b8c812_3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ef46b8c812_3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ef46b8c812_3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ef46b8c812_3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ef46b8c812_3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ef46b8c812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ef46b8c812_3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ef46b8c812_3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084950"/>
            <a:ext cx="8520600" cy="3174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GB"/>
              <a:t>Unit 3</a:t>
            </a:r>
            <a:endParaRPr b="1"/>
          </a:p>
          <a:p>
            <a:pPr indent="0" lvl="0" marL="0" rtl="0" algn="ctr">
              <a:spcBef>
                <a:spcPts val="0"/>
              </a:spcBef>
              <a:spcAft>
                <a:spcPts val="0"/>
              </a:spcAft>
              <a:buNone/>
            </a:pPr>
            <a:r>
              <a:rPr b="1" lang="en-GB" sz="2800"/>
              <a:t>MCA0302</a:t>
            </a:r>
            <a:endParaRPr b="1" sz="2800"/>
          </a:p>
          <a:p>
            <a:pPr indent="0" lvl="0" marL="0" rtl="0" algn="ctr">
              <a:spcBef>
                <a:spcPts val="0"/>
              </a:spcBef>
              <a:spcAft>
                <a:spcPts val="0"/>
              </a:spcAft>
              <a:buClr>
                <a:schemeClr val="dk1"/>
              </a:buClr>
              <a:buSzPts val="990"/>
              <a:buFont typeface="Arial"/>
              <a:buNone/>
            </a:pPr>
            <a:r>
              <a:t/>
            </a:r>
            <a:endParaRPr b="1"/>
          </a:p>
          <a:p>
            <a:pPr indent="0" lvl="0" marL="0" rtl="0" algn="ctr">
              <a:spcBef>
                <a:spcPts val="0"/>
              </a:spcBef>
              <a:spcAft>
                <a:spcPts val="0"/>
              </a:spcAft>
              <a:buClr>
                <a:schemeClr val="dk1"/>
              </a:buClr>
              <a:buSzPts val="990"/>
              <a:buFont typeface="Arial"/>
              <a:buNone/>
            </a:pPr>
            <a:r>
              <a:t/>
            </a:r>
            <a:endParaRPr b="1"/>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What is a Sprint?</a:t>
            </a:r>
            <a:endParaRPr b="1"/>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b="1" lang="en-GB">
                <a:solidFill>
                  <a:schemeClr val="dk1"/>
                </a:solidFill>
              </a:rPr>
              <a:t>A sprint is a time-boxed effort to complete a specific set of work. </a:t>
            </a:r>
            <a:r>
              <a:rPr lang="en-GB">
                <a:solidFill>
                  <a:schemeClr val="dk1"/>
                </a:solidFill>
              </a:rPr>
              <a:t>It is typically one to four weeks in duration. Sprints are a key part of the Scrum framework and provide a structure for iterative, incremental product development. The sprint begins with a sprint planning meeting, where the team sets a goal for the sprint and identifies the work that needs to be done to achieve that goal. The team then works together to complete the work during the sprint. At the end of the sprint, </a:t>
            </a:r>
            <a:r>
              <a:rPr b="1" lang="en-GB">
                <a:solidFill>
                  <a:schemeClr val="dk1"/>
                </a:solidFill>
              </a:rPr>
              <a:t>the team holds a retrospective meeting to review what went well and what could be improved.</a:t>
            </a:r>
            <a:endParaRPr b="1">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Need for the sprint .</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lnSpc>
                <a:spcPct val="150000"/>
              </a:lnSpc>
              <a:spcBef>
                <a:spcPts val="0"/>
              </a:spcBef>
              <a:spcAft>
                <a:spcPts val="0"/>
              </a:spcAft>
              <a:buClr>
                <a:schemeClr val="dk1"/>
              </a:buClr>
              <a:buSzPts val="1800"/>
              <a:buAutoNum type="arabicPeriod"/>
            </a:pPr>
            <a:r>
              <a:rPr b="1" lang="en-GB">
                <a:solidFill>
                  <a:schemeClr val="dk1"/>
                </a:solidFill>
              </a:rPr>
              <a:t>Makes project more manageable: </a:t>
            </a:r>
            <a:r>
              <a:rPr lang="en-GB">
                <a:solidFill>
                  <a:schemeClr val="dk1"/>
                </a:solidFill>
              </a:rPr>
              <a:t>Breaking the project into sprints makes it more manageable, allowing the team to produce high-quality work.</a:t>
            </a:r>
            <a:endParaRPr>
              <a:solidFill>
                <a:schemeClr val="dk1"/>
              </a:solidFill>
            </a:endParaRPr>
          </a:p>
          <a:p>
            <a:pPr indent="-342900" lvl="0" marL="457200" rtl="0" algn="just">
              <a:lnSpc>
                <a:spcPct val="150000"/>
              </a:lnSpc>
              <a:spcBef>
                <a:spcPts val="0"/>
              </a:spcBef>
              <a:spcAft>
                <a:spcPts val="0"/>
              </a:spcAft>
              <a:buClr>
                <a:schemeClr val="dk1"/>
              </a:buClr>
              <a:buSzPts val="1800"/>
              <a:buAutoNum type="arabicPeriod"/>
            </a:pPr>
            <a:r>
              <a:rPr b="1" lang="en-GB">
                <a:solidFill>
                  <a:schemeClr val="dk1"/>
                </a:solidFill>
              </a:rPr>
              <a:t>Flexibility:</a:t>
            </a:r>
            <a:r>
              <a:rPr lang="en-GB">
                <a:solidFill>
                  <a:schemeClr val="dk1"/>
                </a:solidFill>
              </a:rPr>
              <a:t> Sprints give teams the flexibility to adapt to changes.</a:t>
            </a:r>
            <a:endParaRPr>
              <a:solidFill>
                <a:schemeClr val="dk1"/>
              </a:solidFill>
            </a:endParaRPr>
          </a:p>
          <a:p>
            <a:pPr indent="-342900" lvl="0" marL="457200" rtl="0" algn="just">
              <a:lnSpc>
                <a:spcPct val="150000"/>
              </a:lnSpc>
              <a:spcBef>
                <a:spcPts val="0"/>
              </a:spcBef>
              <a:spcAft>
                <a:spcPts val="0"/>
              </a:spcAft>
              <a:buClr>
                <a:schemeClr val="dk1"/>
              </a:buClr>
              <a:buSzPts val="1800"/>
              <a:buAutoNum type="arabicPeriod"/>
            </a:pPr>
            <a:r>
              <a:rPr b="1" lang="en-GB">
                <a:solidFill>
                  <a:schemeClr val="dk1"/>
                </a:solidFill>
              </a:rPr>
              <a:t>Supports product owner: </a:t>
            </a:r>
            <a:r>
              <a:rPr lang="en-GB">
                <a:solidFill>
                  <a:schemeClr val="dk1"/>
                </a:solidFill>
              </a:rPr>
              <a:t>Sprints supports the product owner to create a roadmap of the product to be developed.</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Sprint workflow and process :</a:t>
            </a:r>
            <a:endParaRPr b="1"/>
          </a:p>
        </p:txBody>
      </p:sp>
      <p:sp>
        <p:nvSpPr>
          <p:cNvPr id="72" name="Google Shape;72;p16"/>
          <p:cNvSpPr txBox="1"/>
          <p:nvPr>
            <p:ph idx="1" type="body"/>
          </p:nvPr>
        </p:nvSpPr>
        <p:spPr>
          <a:xfrm>
            <a:off x="311700" y="1152475"/>
            <a:ext cx="8520600" cy="3790200"/>
          </a:xfrm>
          <a:prstGeom prst="rect">
            <a:avLst/>
          </a:prstGeom>
        </p:spPr>
        <p:txBody>
          <a:bodyPr anchorCtr="0" anchor="t" bIns="91425" lIns="91425" spcFirstLastPara="1" rIns="91425" wrap="square" tIns="91425">
            <a:normAutofit fontScale="62500" lnSpcReduction="10000"/>
          </a:bodyPr>
          <a:lstStyle/>
          <a:p>
            <a:pPr indent="-300038" lvl="0" marL="457200" rtl="0" algn="just">
              <a:spcBef>
                <a:spcPts val="0"/>
              </a:spcBef>
              <a:spcAft>
                <a:spcPts val="0"/>
              </a:spcAft>
              <a:buClr>
                <a:schemeClr val="dk1"/>
              </a:buClr>
              <a:buSzPct val="100000"/>
              <a:buAutoNum type="arabicPeriod"/>
            </a:pPr>
            <a:r>
              <a:rPr b="1" lang="en-GB">
                <a:solidFill>
                  <a:schemeClr val="dk1"/>
                </a:solidFill>
              </a:rPr>
              <a:t>Product Backlog : </a:t>
            </a:r>
            <a:r>
              <a:rPr lang="en-GB">
                <a:solidFill>
                  <a:schemeClr val="dk1"/>
                </a:solidFill>
              </a:rPr>
              <a:t>This is the list of set tasks that must be completed before the product is released. It is built by the product owner. The product owner gives a list of prioritized items to the scrum master and scrum team.</a:t>
            </a:r>
            <a:endParaRPr>
              <a:solidFill>
                <a:schemeClr val="dk1"/>
              </a:solidFill>
            </a:endParaRPr>
          </a:p>
          <a:p>
            <a:pPr indent="0" lvl="0" marL="914400" rtl="0" algn="just">
              <a:spcBef>
                <a:spcPts val="1200"/>
              </a:spcBef>
              <a:spcAft>
                <a:spcPts val="0"/>
              </a:spcAft>
              <a:buNone/>
            </a:pPr>
            <a:r>
              <a:rPr b="1" lang="en-GB">
                <a:solidFill>
                  <a:schemeClr val="dk1"/>
                </a:solidFill>
              </a:rPr>
              <a:t>Sprint Planning: </a:t>
            </a:r>
            <a:r>
              <a:rPr lang="en-GB">
                <a:solidFill>
                  <a:schemeClr val="dk1"/>
                </a:solidFill>
              </a:rPr>
              <a:t>It is a collaborative event where the team answers questions like what work can be done in this sprint and how the chosen work will be done. Here the team discusses the top-priority user stories, which focus on features like the type of end user, what they want and why they want it.</a:t>
            </a:r>
            <a:endParaRPr>
              <a:solidFill>
                <a:schemeClr val="dk1"/>
              </a:solidFill>
            </a:endParaRPr>
          </a:p>
          <a:p>
            <a:pPr indent="-300038" lvl="0" marL="457200" rtl="0" algn="just">
              <a:spcBef>
                <a:spcPts val="1200"/>
              </a:spcBef>
              <a:spcAft>
                <a:spcPts val="0"/>
              </a:spcAft>
              <a:buClr>
                <a:schemeClr val="dk1"/>
              </a:buClr>
              <a:buSzPct val="100000"/>
              <a:buAutoNum type="arabicPeriod"/>
            </a:pPr>
            <a:r>
              <a:rPr b="1" lang="en-GB">
                <a:solidFill>
                  <a:schemeClr val="dk1"/>
                </a:solidFill>
              </a:rPr>
              <a:t>Sprint backlog : </a:t>
            </a:r>
            <a:r>
              <a:rPr lang="en-GB">
                <a:solidFill>
                  <a:schemeClr val="dk1"/>
                </a:solidFill>
              </a:rPr>
              <a:t>This list is agreed upon by the entire team and defines what the development team will complete during the sprint.</a:t>
            </a:r>
            <a:endParaRPr>
              <a:solidFill>
                <a:schemeClr val="dk1"/>
              </a:solidFill>
            </a:endParaRPr>
          </a:p>
          <a:p>
            <a:pPr indent="0" lvl="0" marL="914400" rtl="0" algn="just">
              <a:spcBef>
                <a:spcPts val="1200"/>
              </a:spcBef>
              <a:spcAft>
                <a:spcPts val="0"/>
              </a:spcAft>
              <a:buNone/>
            </a:pPr>
            <a:r>
              <a:rPr b="1" lang="en-GB">
                <a:solidFill>
                  <a:schemeClr val="dk1"/>
                </a:solidFill>
              </a:rPr>
              <a:t>Daily Scrum :</a:t>
            </a:r>
            <a:r>
              <a:rPr lang="en-GB">
                <a:solidFill>
                  <a:schemeClr val="dk1"/>
                </a:solidFill>
              </a:rPr>
              <a:t> The team checks in during the daily scrum also known as standup about the work progress. The goal here is to address the challenges that would impact the team's ability to deliver the sprint goal.</a:t>
            </a:r>
            <a:endParaRPr>
              <a:solidFill>
                <a:schemeClr val="dk1"/>
              </a:solidFill>
            </a:endParaRPr>
          </a:p>
          <a:p>
            <a:pPr indent="-300038" lvl="0" marL="457200" rtl="0" algn="just">
              <a:spcBef>
                <a:spcPts val="1200"/>
              </a:spcBef>
              <a:spcAft>
                <a:spcPts val="0"/>
              </a:spcAft>
              <a:buClr>
                <a:schemeClr val="dk1"/>
              </a:buClr>
              <a:buSzPct val="100000"/>
              <a:buAutoNum type="arabicPeriod"/>
            </a:pPr>
            <a:r>
              <a:rPr b="1" lang="en-GB">
                <a:solidFill>
                  <a:schemeClr val="dk1"/>
                </a:solidFill>
              </a:rPr>
              <a:t>Increment/Demo:</a:t>
            </a:r>
            <a:r>
              <a:rPr lang="en-GB">
                <a:solidFill>
                  <a:schemeClr val="dk1"/>
                </a:solidFill>
              </a:rPr>
              <a:t> At the end of a sprint cycle two meetings are held:</a:t>
            </a:r>
            <a:endParaRPr>
              <a:solidFill>
                <a:schemeClr val="dk1"/>
              </a:solidFill>
            </a:endParaRPr>
          </a:p>
          <a:p>
            <a:pPr indent="0" lvl="0" marL="914400" rtl="0" algn="just">
              <a:spcBef>
                <a:spcPts val="1200"/>
              </a:spcBef>
              <a:spcAft>
                <a:spcPts val="0"/>
              </a:spcAft>
              <a:buNone/>
            </a:pPr>
            <a:r>
              <a:rPr b="1" lang="en-GB">
                <a:solidFill>
                  <a:schemeClr val="dk1"/>
                </a:solidFill>
              </a:rPr>
              <a:t>Sprint review: </a:t>
            </a:r>
            <a:r>
              <a:rPr lang="en-GB">
                <a:solidFill>
                  <a:schemeClr val="dk1"/>
                </a:solidFill>
              </a:rPr>
              <a:t>Sprint review is the team's opportunity to showcase their work to stakeholders and team members before it is moved for production. </a:t>
            </a:r>
            <a:endParaRPr>
              <a:solidFill>
                <a:schemeClr val="dk1"/>
              </a:solidFill>
            </a:endParaRPr>
          </a:p>
          <a:p>
            <a:pPr indent="0" lvl="0" marL="914400" rtl="0" algn="just">
              <a:spcBef>
                <a:spcPts val="1200"/>
              </a:spcBef>
              <a:spcAft>
                <a:spcPts val="1200"/>
              </a:spcAft>
              <a:buNone/>
            </a:pPr>
            <a:r>
              <a:rPr lang="en-GB">
                <a:solidFill>
                  <a:schemeClr val="dk1"/>
                </a:solidFill>
              </a:rPr>
              <a:t>Sprint retro: This is the meeting at the end of the sprint cycle where the team identifies areas of improvement for the next sprint.</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240057"/>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t>SPRINT CYCLE</a:t>
            </a:r>
            <a:endParaRPr b="1"/>
          </a:p>
        </p:txBody>
      </p:sp>
      <p:pic>
        <p:nvPicPr>
          <p:cNvPr id="78" name="Google Shape;78;p17" title="scrumprocessatlassian.png"/>
          <p:cNvPicPr preferRelativeResize="0"/>
          <p:nvPr/>
        </p:nvPicPr>
        <p:blipFill>
          <a:blip r:embed="rId3">
            <a:alphaModFix/>
          </a:blip>
          <a:stretch>
            <a:fillRect/>
          </a:stretch>
        </p:blipFill>
        <p:spPr>
          <a:xfrm>
            <a:off x="2440608" y="793875"/>
            <a:ext cx="4262775" cy="43496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What is an Iteration ?</a:t>
            </a:r>
            <a:endParaRPr b="1"/>
          </a:p>
        </p:txBody>
      </p:sp>
      <p:sp>
        <p:nvSpPr>
          <p:cNvPr id="84" name="Google Shape;8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GB"/>
              <a:t>An iteration is a development cycle in which </a:t>
            </a:r>
            <a:r>
              <a:rPr b="1" lang="en-GB">
                <a:solidFill>
                  <a:schemeClr val="dk1"/>
                </a:solidFill>
              </a:rPr>
              <a:t>work is completed on a specific set of features or functions.</a:t>
            </a:r>
            <a:r>
              <a:rPr lang="en-GB"/>
              <a:t> It typically </a:t>
            </a:r>
            <a:r>
              <a:rPr b="1" lang="en-GB">
                <a:solidFill>
                  <a:schemeClr val="dk1"/>
                </a:solidFill>
              </a:rPr>
              <a:t>lasts between one and four weeks.</a:t>
            </a:r>
            <a:r>
              <a:rPr lang="en-GB"/>
              <a:t> Each iteration begins with an iteration planning meeting, where the team decides which work will be completed during that time period. Team members then commit to completing that work by the end of the iteration. At the end of the iteration, the team holds an iteration review meeting, where they demo the work that was completed and get feedback from stakeholders. </a:t>
            </a:r>
            <a:r>
              <a:rPr b="1" lang="en-GB">
                <a:solidFill>
                  <a:schemeClr val="dk1"/>
                </a:solidFill>
              </a:rPr>
              <a:t>The goal is for each iteration to result in a shippable product increment.</a:t>
            </a:r>
            <a:endParaRPr b="1">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What is an Increment ?</a:t>
            </a:r>
            <a:endParaRPr b="1"/>
          </a:p>
        </p:txBody>
      </p:sp>
      <p:sp>
        <p:nvSpPr>
          <p:cNvPr id="90" name="Google Shape;9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317183" lvl="0" marL="457200" rtl="0" algn="just">
              <a:lnSpc>
                <a:spcPct val="150000"/>
              </a:lnSpc>
              <a:spcBef>
                <a:spcPts val="0"/>
              </a:spcBef>
              <a:spcAft>
                <a:spcPts val="0"/>
              </a:spcAft>
              <a:buSzPct val="100000"/>
              <a:buAutoNum type="arabicPeriod"/>
            </a:pPr>
            <a:r>
              <a:rPr lang="en-GB"/>
              <a:t>In software development, </a:t>
            </a:r>
            <a:r>
              <a:rPr b="1" lang="en-GB">
                <a:solidFill>
                  <a:schemeClr val="dk1"/>
                </a:solidFill>
              </a:rPr>
              <a:t>an increment is a completed and usable piece of work that adds value to the product.</a:t>
            </a:r>
            <a:r>
              <a:rPr lang="en-GB"/>
              <a:t> An </a:t>
            </a:r>
            <a:r>
              <a:rPr b="1" lang="en-GB">
                <a:solidFill>
                  <a:schemeClr val="dk1"/>
                </a:solidFill>
              </a:rPr>
              <a:t>increment is usually delivered at the end of each sprint in a Scrum project.</a:t>
            </a:r>
            <a:r>
              <a:rPr lang="en-GB"/>
              <a:t> </a:t>
            </a:r>
            <a:endParaRPr/>
          </a:p>
          <a:p>
            <a:pPr indent="-317183" lvl="0" marL="457200" rtl="0" algn="just">
              <a:lnSpc>
                <a:spcPct val="150000"/>
              </a:lnSpc>
              <a:spcBef>
                <a:spcPts val="0"/>
              </a:spcBef>
              <a:spcAft>
                <a:spcPts val="0"/>
              </a:spcAft>
              <a:buSzPct val="100000"/>
              <a:buAutoNum type="arabicPeriod"/>
            </a:pPr>
            <a:r>
              <a:rPr lang="en-GB"/>
              <a:t>The </a:t>
            </a:r>
            <a:r>
              <a:rPr b="1" lang="en-GB">
                <a:solidFill>
                  <a:schemeClr val="dk1"/>
                </a:solidFill>
              </a:rPr>
              <a:t>main characteristic of an increment is that it is done and can be used, even if it’s not yet perfect.</a:t>
            </a:r>
            <a:r>
              <a:rPr lang="en-GB"/>
              <a:t> This means that increments must meet certain quality criteria, such as being tested and free of bugs. </a:t>
            </a:r>
            <a:endParaRPr/>
          </a:p>
          <a:p>
            <a:pPr indent="-317183" lvl="0" marL="457200" rtl="0" algn="just">
              <a:lnSpc>
                <a:spcPct val="150000"/>
              </a:lnSpc>
              <a:spcBef>
                <a:spcPts val="0"/>
              </a:spcBef>
              <a:spcAft>
                <a:spcPts val="0"/>
              </a:spcAft>
              <a:buSzPct val="100000"/>
              <a:buAutoNum type="arabicPeriod"/>
            </a:pPr>
            <a:r>
              <a:rPr b="1" lang="en-GB">
                <a:solidFill>
                  <a:schemeClr val="dk1"/>
                </a:solidFill>
              </a:rPr>
              <a:t>The increment must also be usable by the customer or end-user, even if it doesn’t have all the features they want.</a:t>
            </a:r>
            <a:r>
              <a:rPr lang="en-GB"/>
              <a:t> </a:t>
            </a:r>
            <a:endParaRPr/>
          </a:p>
          <a:p>
            <a:pPr indent="-317183" lvl="0" marL="457200" rtl="0" algn="just">
              <a:lnSpc>
                <a:spcPct val="150000"/>
              </a:lnSpc>
              <a:spcBef>
                <a:spcPts val="0"/>
              </a:spcBef>
              <a:spcAft>
                <a:spcPts val="0"/>
              </a:spcAft>
              <a:buClr>
                <a:schemeClr val="dk1"/>
              </a:buClr>
              <a:buSzPct val="100000"/>
              <a:buAutoNum type="arabicPeriod"/>
            </a:pPr>
            <a:r>
              <a:rPr b="1" lang="en-GB">
                <a:solidFill>
                  <a:schemeClr val="dk1"/>
                </a:solidFill>
              </a:rPr>
              <a:t>The goal of delivering an increment at the end of each sprint is to get feedback from customers as early as possible so that any necessary changes can be made before too much work has been done on the product.</a:t>
            </a:r>
            <a:endParaRPr b="1">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graphicFrame>
        <p:nvGraphicFramePr>
          <p:cNvPr id="95" name="Google Shape;95;p20"/>
          <p:cNvGraphicFramePr/>
          <p:nvPr/>
        </p:nvGraphicFramePr>
        <p:xfrm>
          <a:off x="952500" y="95250"/>
          <a:ext cx="3000000" cy="3000000"/>
        </p:xfrm>
        <a:graphic>
          <a:graphicData uri="http://schemas.openxmlformats.org/drawingml/2006/table">
            <a:tbl>
              <a:tblPr>
                <a:noFill/>
                <a:tableStyleId>{EEBA74EA-FC26-44C8-80AF-B5D10A0C4C8F}</a:tableStyleId>
              </a:tblPr>
              <a:tblGrid>
                <a:gridCol w="1809750"/>
                <a:gridCol w="1809750"/>
                <a:gridCol w="1809750"/>
                <a:gridCol w="1809750"/>
              </a:tblGrid>
              <a:tr h="381000">
                <a:tc gridSpan="4">
                  <a:txBody>
                    <a:bodyPr/>
                    <a:lstStyle/>
                    <a:p>
                      <a:pPr indent="0" lvl="0" marL="0" rtl="0" algn="ctr">
                        <a:spcBef>
                          <a:spcPts val="0"/>
                        </a:spcBef>
                        <a:spcAft>
                          <a:spcPts val="0"/>
                        </a:spcAft>
                        <a:buNone/>
                      </a:pPr>
                      <a:r>
                        <a:rPr b="1" lang="en-GB" sz="2800">
                          <a:solidFill>
                            <a:schemeClr val="dk1"/>
                          </a:solidFill>
                        </a:rPr>
                        <a:t>Sprint </a:t>
                      </a:r>
                      <a:r>
                        <a:rPr lang="en-GB" sz="2800">
                          <a:solidFill>
                            <a:schemeClr val="dk1"/>
                          </a:solidFill>
                        </a:rPr>
                        <a:t>vs</a:t>
                      </a:r>
                      <a:r>
                        <a:rPr b="1" lang="en-GB" sz="2800">
                          <a:solidFill>
                            <a:schemeClr val="dk1"/>
                          </a:solidFill>
                        </a:rPr>
                        <a:t> Iteration </a:t>
                      </a:r>
                      <a:r>
                        <a:rPr lang="en-GB" sz="2800">
                          <a:solidFill>
                            <a:schemeClr val="dk1"/>
                          </a:solidFill>
                        </a:rPr>
                        <a:t>vs</a:t>
                      </a:r>
                      <a:r>
                        <a:rPr b="1" lang="en-GB" sz="2800">
                          <a:solidFill>
                            <a:schemeClr val="dk1"/>
                          </a:solidFill>
                        </a:rPr>
                        <a:t> Increment</a:t>
                      </a:r>
                      <a:endParaRPr/>
                    </a:p>
                  </a:txBody>
                  <a:tcPr marT="91425" marB="91425" marR="91425" marL="91425"/>
                </a:tc>
                <a:tc hMerge="1"/>
                <a:tc hMerge="1"/>
                <a:tc hMerge="1"/>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GB" sz="1500"/>
                        <a:t> Sprint</a:t>
                      </a:r>
                      <a:endParaRPr b="1" sz="1500"/>
                    </a:p>
                  </a:txBody>
                  <a:tcPr marT="91425" marB="91425" marR="91425" marL="91425"/>
                </a:tc>
                <a:tc>
                  <a:txBody>
                    <a:bodyPr/>
                    <a:lstStyle/>
                    <a:p>
                      <a:pPr indent="0" lvl="0" marL="0" rtl="0" algn="l">
                        <a:spcBef>
                          <a:spcPts val="0"/>
                        </a:spcBef>
                        <a:spcAft>
                          <a:spcPts val="0"/>
                        </a:spcAft>
                        <a:buNone/>
                      </a:pPr>
                      <a:r>
                        <a:rPr b="1" lang="en-GB" sz="1500"/>
                        <a:t>Iteration</a:t>
                      </a:r>
                      <a:endParaRPr b="1" sz="1500"/>
                    </a:p>
                  </a:txBody>
                  <a:tcPr marT="91425" marB="91425" marR="91425" marL="91425"/>
                </a:tc>
                <a:tc>
                  <a:txBody>
                    <a:bodyPr/>
                    <a:lstStyle/>
                    <a:p>
                      <a:pPr indent="0" lvl="0" marL="0" rtl="0" algn="l">
                        <a:spcBef>
                          <a:spcPts val="0"/>
                        </a:spcBef>
                        <a:spcAft>
                          <a:spcPts val="0"/>
                        </a:spcAft>
                        <a:buNone/>
                      </a:pPr>
                      <a:r>
                        <a:rPr b="1" lang="en-GB" sz="1500"/>
                        <a:t>Increment</a:t>
                      </a:r>
                      <a:endParaRPr b="1" sz="1500"/>
                    </a:p>
                  </a:txBody>
                  <a:tcPr marT="91425" marB="91425" marR="91425" marL="91425"/>
                </a:tc>
              </a:tr>
              <a:tr h="381000">
                <a:tc>
                  <a:txBody>
                    <a:bodyPr/>
                    <a:lstStyle/>
                    <a:p>
                      <a:pPr indent="0" lvl="0" marL="0" rtl="0" algn="l">
                        <a:spcBef>
                          <a:spcPts val="0"/>
                        </a:spcBef>
                        <a:spcAft>
                          <a:spcPts val="0"/>
                        </a:spcAft>
                        <a:buNone/>
                      </a:pPr>
                      <a:r>
                        <a:rPr b="1" lang="en-GB" sz="1500"/>
                        <a:t>Definition</a:t>
                      </a:r>
                      <a:endParaRPr b="1" sz="1500"/>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A sprint is a time-boxed effort to complete a set of predetermined work.</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 An iteration is a single development cycle within a project.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An increment is the result of an iteration and contains all new or changed work items which have been completed. </a:t>
                      </a:r>
                      <a:r>
                        <a:rPr lang="en-GB" sz="1100">
                          <a:solidFill>
                            <a:schemeClr val="dk1"/>
                          </a:solidFill>
                        </a:rPr>
                        <a:t> </a:t>
                      </a:r>
                      <a:endParaRPr/>
                    </a:p>
                  </a:txBody>
                  <a:tcPr marT="91425" marB="91425" marR="91425" marL="91425"/>
                </a:tc>
              </a:tr>
              <a:tr h="381000">
                <a:tc>
                  <a:txBody>
                    <a:bodyPr/>
                    <a:lstStyle/>
                    <a:p>
                      <a:pPr indent="0" lvl="0" marL="0" rtl="0" algn="l">
                        <a:spcBef>
                          <a:spcPts val="0"/>
                        </a:spcBef>
                        <a:spcAft>
                          <a:spcPts val="0"/>
                        </a:spcAft>
                        <a:buNone/>
                      </a:pPr>
                      <a:r>
                        <a:rPr b="1" lang="en-GB" sz="1500"/>
                        <a:t>Length of time</a:t>
                      </a:r>
                      <a:endParaRPr b="1" sz="1500"/>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1 week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 1-4 weeks</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1 month</a:t>
                      </a:r>
                      <a:r>
                        <a:rPr lang="en-GB" sz="1100">
                          <a:solidFill>
                            <a:schemeClr val="dk1"/>
                          </a:solidFill>
                        </a:rPr>
                        <a:t> </a:t>
                      </a:r>
                      <a:endParaRPr/>
                    </a:p>
                  </a:txBody>
                  <a:tcPr marT="91425" marB="91425" marR="91425" marL="91425"/>
                </a:tc>
              </a:tr>
              <a:tr h="381000">
                <a:tc>
                  <a:txBody>
                    <a:bodyPr/>
                    <a:lstStyle/>
                    <a:p>
                      <a:pPr indent="0" lvl="0" marL="0" rtl="0" algn="l">
                        <a:spcBef>
                          <a:spcPts val="0"/>
                        </a:spcBef>
                        <a:spcAft>
                          <a:spcPts val="0"/>
                        </a:spcAft>
                        <a:buNone/>
                      </a:pPr>
                      <a:r>
                        <a:rPr b="1" lang="en-GB" sz="1500"/>
                        <a:t>Purpose</a:t>
                      </a:r>
                      <a:endParaRPr b="1" sz="1500"/>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Sprints are used to achieve specific goals within a project.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Iterations are used to implement features and functionality.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Increments are used to deliver working software at the end of each sprint.</a:t>
                      </a:r>
                      <a:r>
                        <a:rPr lang="en-GB" sz="1100">
                          <a:solidFill>
                            <a:schemeClr val="dk1"/>
                          </a:solidFill>
                        </a:rPr>
                        <a:t> </a:t>
                      </a:r>
                      <a:endParaRPr/>
                    </a:p>
                  </a:txBody>
                  <a:tcPr marT="91425" marB="91425" marR="91425" marL="91425"/>
                </a:tc>
              </a:tr>
              <a:tr h="381000">
                <a:tc>
                  <a:txBody>
                    <a:bodyPr/>
                    <a:lstStyle/>
                    <a:p>
                      <a:pPr indent="0" lvl="0" marL="0" rtl="0" algn="l">
                        <a:spcBef>
                          <a:spcPts val="0"/>
                        </a:spcBef>
                        <a:spcAft>
                          <a:spcPts val="0"/>
                        </a:spcAft>
                        <a:buNone/>
                      </a:pPr>
                      <a:r>
                        <a:rPr b="1" lang="en-GB" sz="1500"/>
                        <a:t>Scope</a:t>
                      </a:r>
                      <a:endParaRPr b="1" sz="1500"/>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Sprints have a fixed scope, meaning that the goals for the sprint are set at the beginning and cannot be changed.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Iterations may have a variable scope, meaning that the goals for the iteration can be changed as the iteration progresses.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Increments always have the same scope as the sprints they are part of.</a:t>
                      </a:r>
                      <a:r>
                        <a:rPr lang="en-GB" sz="1100">
                          <a:solidFill>
                            <a:schemeClr val="dk1"/>
                          </a:solidFill>
                        </a:rPr>
                        <a:t> </a:t>
                      </a:r>
                      <a:endParaRPr/>
                    </a:p>
                  </a:txBody>
                  <a:tcPr marT="91425" marB="91425" marR="91425" marL="91425"/>
                </a:tc>
              </a:tr>
              <a:tr h="381000">
                <a:tc>
                  <a:txBody>
                    <a:bodyPr/>
                    <a:lstStyle/>
                    <a:p>
                      <a:pPr indent="0" lvl="0" marL="0" rtl="0" algn="l">
                        <a:spcBef>
                          <a:spcPts val="0"/>
                        </a:spcBef>
                        <a:spcAft>
                          <a:spcPts val="0"/>
                        </a:spcAft>
                        <a:buNone/>
                      </a:pPr>
                      <a:r>
                        <a:rPr b="1" lang="en-GB" sz="1500"/>
                        <a:t>Work completed</a:t>
                      </a:r>
                      <a:endParaRPr b="1" sz="1500"/>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At the end of a sprint, all of the work for that sprint should be completed.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At the end of an iteration, some of the work for that iteration may be completed.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Increments always contain all of the work for that sprint.</a:t>
                      </a:r>
                      <a:r>
                        <a:rPr lang="en-GB" sz="1100">
                          <a:solidFill>
                            <a:schemeClr val="dk1"/>
                          </a:solidFill>
                        </a:rPr>
                        <a:t> </a:t>
                      </a:r>
                      <a:endParaRPr/>
                    </a:p>
                  </a:txBody>
                  <a:tcPr marT="91425" marB="91425" marR="91425" marL="91425"/>
                </a:tc>
              </a:tr>
              <a:tr h="381000">
                <a:tc>
                  <a:txBody>
                    <a:bodyPr/>
                    <a:lstStyle/>
                    <a:p>
                      <a:pPr indent="0" lvl="0" marL="0" rtl="0" algn="l">
                        <a:spcBef>
                          <a:spcPts val="0"/>
                        </a:spcBef>
                        <a:spcAft>
                          <a:spcPts val="0"/>
                        </a:spcAft>
                        <a:buNone/>
                      </a:pPr>
                      <a:r>
                        <a:rPr b="1" lang="en-GB" sz="1500"/>
                        <a:t>Deliverables</a:t>
                      </a:r>
                      <a:endParaRPr b="1" sz="1500"/>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At the end of a sprint, the deliverables are typically a demo of the completed work and a retrospective report.</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At the end of an iteration, the deliverables may be a demo of the completed work, a retrospective report, and/or code.</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Increments always contain working software.</a:t>
                      </a:r>
                      <a:r>
                        <a:rPr lang="en-GB" sz="1100">
                          <a:solidFill>
                            <a:schemeClr val="dk1"/>
                          </a:solidFill>
                        </a:rPr>
                        <a:t> </a:t>
                      </a:r>
                      <a:endParaRPr/>
                    </a:p>
                  </a:txBody>
                  <a:tcPr marT="91425" marB="91425" marR="91425" marL="91425"/>
                </a:tc>
              </a:tr>
              <a:tr h="381000">
                <a:tc>
                  <a:txBody>
                    <a:bodyPr/>
                    <a:lstStyle/>
                    <a:p>
                      <a:pPr indent="0" lvl="0" marL="0" rtl="0" algn="l">
                        <a:spcBef>
                          <a:spcPts val="0"/>
                        </a:spcBef>
                        <a:spcAft>
                          <a:spcPts val="0"/>
                        </a:spcAft>
                        <a:buNone/>
                      </a:pPr>
                      <a:r>
                        <a:rPr b="1" lang="en-GB" sz="1500"/>
                        <a:t>Testing</a:t>
                      </a:r>
                      <a:endParaRPr b="1" sz="1500"/>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Sprints typically include testing as part of the work to be completed.</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 Iterations may or may not include testing as part of the work to be completed.</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Increments always include testing as part of the work to be completed.</a:t>
                      </a:r>
                      <a:r>
                        <a:rPr lang="en-GB" sz="1100">
                          <a:solidFill>
                            <a:schemeClr val="dk1"/>
                          </a:solidFill>
                        </a:rPr>
                        <a:t> </a:t>
                      </a:r>
                      <a:endParaRPr/>
                    </a:p>
                  </a:txBody>
                  <a:tcPr marT="91425" marB="91425" marR="91425" marL="91425"/>
                </a:tc>
              </a:tr>
              <a:tr h="381000">
                <a:tc>
                  <a:txBody>
                    <a:bodyPr/>
                    <a:lstStyle/>
                    <a:p>
                      <a:pPr indent="0" lvl="0" marL="0" rtl="0" algn="l">
                        <a:spcBef>
                          <a:spcPts val="0"/>
                        </a:spcBef>
                        <a:spcAft>
                          <a:spcPts val="0"/>
                        </a:spcAft>
                        <a:buNone/>
                      </a:pPr>
                      <a:r>
                        <a:rPr b="1" lang="en-GB" sz="1500"/>
                        <a:t>Changes</a:t>
                      </a:r>
                      <a:endParaRPr b="1" sz="1500"/>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Sprints typically have a very limited number of changes that can be made.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Iterations may have a few more changes that can be made.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Increments always contain all of the changes for that sprint.</a:t>
                      </a:r>
                      <a:r>
                        <a:rPr lang="en-GB" sz="1100">
                          <a:solidFill>
                            <a:schemeClr val="dk1"/>
                          </a:solidFill>
                        </a:rPr>
                        <a:t> </a:t>
                      </a:r>
                      <a:endParaRPr/>
                    </a:p>
                  </a:txBody>
                  <a:tcPr marT="91425" marB="91425" marR="91425" marL="91425"/>
                </a:tc>
              </a:tr>
              <a:tr h="381000">
                <a:tc>
                  <a:txBody>
                    <a:bodyPr/>
                    <a:lstStyle/>
                    <a:p>
                      <a:pPr indent="0" lvl="0" marL="0" rtl="0" algn="l">
                        <a:spcBef>
                          <a:spcPts val="0"/>
                        </a:spcBef>
                        <a:spcAft>
                          <a:spcPts val="0"/>
                        </a:spcAft>
                        <a:buNone/>
                      </a:pPr>
                      <a:r>
                        <a:rPr b="1" lang="en-GB" sz="1500"/>
                        <a:t>Documentation</a:t>
                      </a:r>
                      <a:endParaRPr b="1" sz="1500"/>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Sprints typically do not include documentation as part of the work to be completed.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Iterations may include documentation as part of the work to be completed.</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 Increments always include documentation as part of the work to be completed.</a:t>
                      </a:r>
                      <a:r>
                        <a:rPr lang="en-GB" sz="1100">
                          <a:solidFill>
                            <a:schemeClr val="dk1"/>
                          </a:solidFill>
                        </a:rPr>
                        <a:t> </a:t>
                      </a:r>
                      <a:endParaRPr/>
                    </a:p>
                  </a:txBody>
                  <a:tcPr marT="91425" marB="91425" marR="91425" marL="91425"/>
                </a:tc>
              </a:tr>
              <a:tr h="381000">
                <a:tc>
                  <a:txBody>
                    <a:bodyPr/>
                    <a:lstStyle/>
                    <a:p>
                      <a:pPr indent="0" lvl="0" marL="0" rtl="0" algn="l">
                        <a:spcBef>
                          <a:spcPts val="0"/>
                        </a:spcBef>
                        <a:spcAft>
                          <a:spcPts val="0"/>
                        </a:spcAft>
                        <a:buNone/>
                      </a:pPr>
                      <a:r>
                        <a:rPr b="1" lang="en-GB" sz="1500"/>
                        <a:t>Sign-off</a:t>
                      </a:r>
                      <a:endParaRPr b="1" sz="1500"/>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At the end of a sprint, the project manager, product owner, and team members will sign off on the work completed.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At the end of an iteration, the project manager, product owner, and/or team members may sign off on the work completed.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Increments always require sign-off from the project manager, product owner, and team members.</a:t>
                      </a:r>
                      <a:r>
                        <a:rPr lang="en-GB" sz="1100">
                          <a:solidFill>
                            <a:schemeClr val="dk1"/>
                          </a:solidFill>
                        </a:rPr>
                        <a:t> </a:t>
                      </a:r>
                      <a:endParaRPr/>
                    </a:p>
                  </a:txBody>
                  <a:tcPr marT="91425" marB="91425" marR="91425" marL="91425"/>
                </a:tc>
              </a:tr>
              <a:tr h="381000">
                <a:tc>
                  <a:txBody>
                    <a:bodyPr/>
                    <a:lstStyle/>
                    <a:p>
                      <a:pPr indent="0" lvl="0" marL="0" rtl="0" algn="l">
                        <a:spcBef>
                          <a:spcPts val="0"/>
                        </a:spcBef>
                        <a:spcAft>
                          <a:spcPts val="0"/>
                        </a:spcAft>
                        <a:buNone/>
                      </a:pPr>
                      <a:r>
                        <a:rPr b="1" lang="en-GB" sz="1500"/>
                        <a:t>Go/No-Go</a:t>
                      </a:r>
                      <a:endParaRPr b="1" sz="1500"/>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At the end of a sprint, the project manager, product owner, and team will decide whether or not to continue with the project based on the work completed.</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 At the end of an iteration, the project manager, product owner, and/or team may decide to continue with the project or not based on the work completed. </a:t>
                      </a:r>
                      <a:r>
                        <a:rPr lang="en-GB" sz="1100">
                          <a:solidFill>
                            <a:schemeClr val="dk1"/>
                          </a:solidFill>
                        </a:rPr>
                        <a:t> </a:t>
                      </a:r>
                      <a:endParaRPr/>
                    </a:p>
                  </a:txBody>
                  <a:tcPr marT="91425" marB="91425" marR="91425" marL="91425"/>
                </a:tc>
                <a:tc>
                  <a:txBody>
                    <a:bodyPr/>
                    <a:lstStyle/>
                    <a:p>
                      <a:pPr indent="0" lvl="0" marL="0" rtl="0" algn="l">
                        <a:spcBef>
                          <a:spcPts val="0"/>
                        </a:spcBef>
                        <a:spcAft>
                          <a:spcPts val="0"/>
                        </a:spcAft>
                        <a:buNone/>
                      </a:pPr>
                      <a:r>
                        <a:rPr lang="en-GB" sz="1250">
                          <a:solidFill>
                            <a:srgbClr val="273239"/>
                          </a:solidFill>
                          <a:highlight>
                            <a:srgbClr val="FFFFFF"/>
                          </a:highlight>
                          <a:latin typeface="Nunito"/>
                          <a:ea typeface="Nunito"/>
                          <a:cs typeface="Nunito"/>
                          <a:sym typeface="Nunito"/>
                        </a:rPr>
                        <a:t>Increments always require a go/no-go decision from the project manager, product owner, and team.</a:t>
                      </a:r>
                      <a:r>
                        <a:rPr lang="en-GB" sz="1100">
                          <a:solidFill>
                            <a:schemeClr val="dk1"/>
                          </a:solidFill>
                        </a:rPr>
                        <a:t> </a:t>
                      </a: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type="title"/>
          </p:nvPr>
        </p:nvSpPr>
        <p:spPr>
          <a:xfrm>
            <a:off x="311700" y="167715"/>
            <a:ext cx="8520600" cy="57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b="1" lang="en-GB"/>
              <a:t>Sprint Velocity in Scrum: </a:t>
            </a:r>
            <a:endParaRPr b="1"/>
          </a:p>
          <a:p>
            <a:pPr indent="0" lvl="0" marL="0" rtl="0" algn="r">
              <a:spcBef>
                <a:spcPts val="0"/>
              </a:spcBef>
              <a:spcAft>
                <a:spcPts val="0"/>
              </a:spcAft>
              <a:buNone/>
            </a:pPr>
            <a:r>
              <a:rPr b="1" lang="en-GB"/>
              <a:t>How to Measure and Improve Performance ?</a:t>
            </a:r>
            <a:endParaRPr b="1"/>
          </a:p>
        </p:txBody>
      </p:sp>
      <p:sp>
        <p:nvSpPr>
          <p:cNvPr id="101" name="Google Shape;101;p21"/>
          <p:cNvSpPr txBox="1"/>
          <p:nvPr>
            <p:ph idx="1" type="body"/>
          </p:nvPr>
        </p:nvSpPr>
        <p:spPr>
          <a:xfrm>
            <a:off x="311700" y="1104247"/>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b="1">
              <a:solidFill>
                <a:schemeClr val="dk1"/>
              </a:solidFill>
            </a:endParaRPr>
          </a:p>
          <a:p>
            <a:pPr indent="-342900" lvl="0" marL="457200" rtl="0" algn="l">
              <a:lnSpc>
                <a:spcPct val="150000"/>
              </a:lnSpc>
              <a:spcBef>
                <a:spcPts val="1200"/>
              </a:spcBef>
              <a:spcAft>
                <a:spcPts val="0"/>
              </a:spcAft>
              <a:buSzPts val="1800"/>
              <a:buChar char="●"/>
            </a:pPr>
            <a:r>
              <a:rPr lang="en-GB"/>
              <a:t>Sprint velocity measures the amount of work a team completes in a sprint, typically using story points.</a:t>
            </a:r>
            <a:endParaRPr/>
          </a:p>
          <a:p>
            <a:pPr indent="-342900" lvl="0" marL="457200" rtl="0" algn="l">
              <a:lnSpc>
                <a:spcPct val="150000"/>
              </a:lnSpc>
              <a:spcBef>
                <a:spcPts val="0"/>
              </a:spcBef>
              <a:spcAft>
                <a:spcPts val="0"/>
              </a:spcAft>
              <a:buSzPts val="1800"/>
              <a:buChar char="●"/>
            </a:pPr>
            <a:r>
              <a:rPr lang="en-GB"/>
              <a:t>Tracking velocity helps teams forecast future capacity, plan sprints, and identify opportunities for improvement.</a:t>
            </a:r>
            <a:endParaRPr/>
          </a:p>
          <a:p>
            <a:pPr indent="-342900" lvl="0" marL="457200" rtl="0" algn="l">
              <a:lnSpc>
                <a:spcPct val="150000"/>
              </a:lnSpc>
              <a:spcBef>
                <a:spcPts val="0"/>
              </a:spcBef>
              <a:spcAft>
                <a:spcPts val="0"/>
              </a:spcAft>
              <a:buSzPts val="1800"/>
              <a:buChar char="●"/>
            </a:pPr>
            <a:r>
              <a:rPr lang="en-GB"/>
              <a:t>Factors like team size, skill, and story complexity influence velocity, which should be averaged over multiple sprints.</a:t>
            </a:r>
            <a:endParaRPr/>
          </a:p>
          <a:p>
            <a:pPr indent="-342900" lvl="0" marL="457200" rtl="0" algn="l">
              <a:lnSpc>
                <a:spcPct val="150000"/>
              </a:lnSpc>
              <a:spcBef>
                <a:spcPts val="0"/>
              </a:spcBef>
              <a:spcAft>
                <a:spcPts val="0"/>
              </a:spcAft>
              <a:buSzPts val="1800"/>
              <a:buChar char="●"/>
            </a:pPr>
            <a:r>
              <a:rPr lang="en-GB"/>
              <a:t>Monitor and review velocity trends to set realistic sprint goals and continuously improve team performance.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ph type="title"/>
          </p:nvPr>
        </p:nvSpPr>
        <p:spPr>
          <a:xfrm>
            <a:off x="311700" y="21731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How to calculate velocity in Scrum ?</a:t>
            </a:r>
            <a:endParaRPr b="1"/>
          </a:p>
        </p:txBody>
      </p:sp>
      <p:sp>
        <p:nvSpPr>
          <p:cNvPr id="107" name="Google Shape;107;p22"/>
          <p:cNvSpPr txBox="1"/>
          <p:nvPr>
            <p:ph idx="1" type="body"/>
          </p:nvPr>
        </p:nvSpPr>
        <p:spPr>
          <a:xfrm>
            <a:off x="311700" y="764023"/>
            <a:ext cx="8520600" cy="4218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sz="1400"/>
              <a:t>You typically calculate sprint velocity at the end of each sprint by totaling the story points or other units of measurement for all fully completed user stories.</a:t>
            </a:r>
            <a:endParaRPr sz="1400"/>
          </a:p>
          <a:p>
            <a:pPr indent="0" lvl="0" marL="0" rtl="0" algn="l">
              <a:spcBef>
                <a:spcPts val="1200"/>
              </a:spcBef>
              <a:spcAft>
                <a:spcPts val="0"/>
              </a:spcAft>
              <a:buNone/>
            </a:pPr>
            <a:r>
              <a:rPr lang="en-GB"/>
              <a:t>Here is the step-by-step process of how to calculate velocity in Scrum:</a:t>
            </a:r>
            <a:endParaRPr/>
          </a:p>
          <a:p>
            <a:pPr indent="0" lvl="0" marL="0" rtl="0" algn="l">
              <a:spcBef>
                <a:spcPts val="1200"/>
              </a:spcBef>
              <a:spcAft>
                <a:spcPts val="0"/>
              </a:spcAft>
              <a:buNone/>
            </a:pPr>
            <a:r>
              <a:rPr b="1" lang="en-GB">
                <a:solidFill>
                  <a:schemeClr val="dk1"/>
                </a:solidFill>
              </a:rPr>
              <a:t>1. Plan a sprint</a:t>
            </a:r>
            <a:endParaRPr b="1">
              <a:solidFill>
                <a:schemeClr val="dk1"/>
              </a:solidFill>
            </a:endParaRPr>
          </a:p>
          <a:p>
            <a:pPr indent="0" lvl="0" marL="0" rtl="0" algn="l">
              <a:spcBef>
                <a:spcPts val="1200"/>
              </a:spcBef>
              <a:spcAft>
                <a:spcPts val="0"/>
              </a:spcAft>
              <a:buNone/>
            </a:pPr>
            <a:r>
              <a:rPr lang="en-GB" sz="1200"/>
              <a:t>Before a sprint begins, outline and assign points to all the user stories in the product backlog. For instance:</a:t>
            </a:r>
            <a:endParaRPr sz="1200"/>
          </a:p>
          <a:p>
            <a:pPr indent="-304800" lvl="0" marL="457200" rtl="0" algn="l">
              <a:spcBef>
                <a:spcPts val="1200"/>
              </a:spcBef>
              <a:spcAft>
                <a:spcPts val="0"/>
              </a:spcAft>
              <a:buSzPts val="1200"/>
              <a:buChar char="●"/>
            </a:pPr>
            <a:r>
              <a:rPr lang="en-GB" sz="1200"/>
              <a:t>Assign user authentication: 5 points</a:t>
            </a:r>
            <a:endParaRPr sz="1200"/>
          </a:p>
          <a:p>
            <a:pPr indent="-304800" lvl="0" marL="457200" rtl="0" algn="l">
              <a:spcBef>
                <a:spcPts val="0"/>
              </a:spcBef>
              <a:spcAft>
                <a:spcPts val="0"/>
              </a:spcAft>
              <a:buSzPts val="1200"/>
              <a:buChar char="●"/>
            </a:pPr>
            <a:r>
              <a:rPr lang="en-GB" sz="1200"/>
              <a:t>Add payment gateway integration: 8 points</a:t>
            </a:r>
            <a:endParaRPr sz="1200"/>
          </a:p>
          <a:p>
            <a:pPr indent="-304800" lvl="0" marL="457200" rtl="0" algn="l">
              <a:spcBef>
                <a:spcPts val="0"/>
              </a:spcBef>
              <a:spcAft>
                <a:spcPts val="0"/>
              </a:spcAft>
              <a:buSzPts val="1200"/>
              <a:buChar char="●"/>
            </a:pPr>
            <a:r>
              <a:rPr lang="en-GB" sz="1200"/>
              <a:t>Implement search functionality: 3 points</a:t>
            </a:r>
            <a:endParaRPr sz="1200"/>
          </a:p>
          <a:p>
            <a:pPr indent="-304800" lvl="0" marL="457200" rtl="0" algn="l">
              <a:spcBef>
                <a:spcPts val="0"/>
              </a:spcBef>
              <a:spcAft>
                <a:spcPts val="0"/>
              </a:spcAft>
              <a:buSzPts val="1200"/>
              <a:buChar char="●"/>
            </a:pPr>
            <a:r>
              <a:rPr lang="en-GB" sz="1200"/>
              <a:t>Develop a user profile page: 13 points</a:t>
            </a:r>
            <a:endParaRPr sz="1200"/>
          </a:p>
          <a:p>
            <a:pPr indent="-304800" lvl="0" marL="457200" rtl="0" algn="l">
              <a:spcBef>
                <a:spcPts val="0"/>
              </a:spcBef>
              <a:spcAft>
                <a:spcPts val="0"/>
              </a:spcAft>
              <a:buSzPts val="1200"/>
              <a:buChar char="●"/>
            </a:pPr>
            <a:r>
              <a:rPr lang="en-GB" sz="1200"/>
              <a:t>Implement email notifications: 2 points</a:t>
            </a:r>
            <a:endParaRPr sz="1200"/>
          </a:p>
          <a:p>
            <a:pPr indent="-304800" lvl="0" marL="457200" rtl="0" algn="l">
              <a:spcBef>
                <a:spcPts val="0"/>
              </a:spcBef>
              <a:spcAft>
                <a:spcPts val="0"/>
              </a:spcAft>
              <a:buSzPts val="1200"/>
              <a:buChar char="●"/>
            </a:pPr>
            <a:r>
              <a:rPr lang="en-GB" sz="1200"/>
              <a:t>Optimize database queries: 21 points</a:t>
            </a:r>
            <a:endParaRPr sz="1200"/>
          </a:p>
          <a:p>
            <a:pPr indent="-304800" lvl="0" marL="457200" rtl="0" algn="l">
              <a:spcBef>
                <a:spcPts val="0"/>
              </a:spcBef>
              <a:spcAft>
                <a:spcPts val="0"/>
              </a:spcAft>
              <a:buSzPts val="1200"/>
              <a:buChar char="●"/>
            </a:pPr>
            <a:r>
              <a:rPr lang="en-GB" sz="1200"/>
              <a:t>Create an admin dashboard: 5 points</a:t>
            </a:r>
            <a:endParaRPr sz="1200"/>
          </a:p>
          <a:p>
            <a:pPr indent="0" lvl="0" marL="0" rtl="0" algn="just">
              <a:spcBef>
                <a:spcPts val="1200"/>
              </a:spcBef>
              <a:spcAft>
                <a:spcPts val="1200"/>
              </a:spcAft>
              <a:buNone/>
            </a:pPr>
            <a:r>
              <a:rPr lang="en-GB" sz="1200"/>
              <a:t>The team should commit to completing user stories in the upcoming sprint based on the average velocity from previous sprints and other factors, such as holidays or external dependencies. For example, if the average velocity is 15 points with no holidays or external dependencies, the team could commit to user stories totaling around 15 points for the next sprint.</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idx="1" type="body"/>
          </p:nvPr>
        </p:nvSpPr>
        <p:spPr>
          <a:xfrm>
            <a:off x="311700" y="187525"/>
            <a:ext cx="8520600" cy="480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solidFill>
                  <a:schemeClr val="dk1"/>
                </a:solidFill>
              </a:rPr>
              <a:t>2. List completed user stories</a:t>
            </a:r>
            <a:endParaRPr b="1">
              <a:solidFill>
                <a:schemeClr val="dk1"/>
              </a:solidFill>
            </a:endParaRPr>
          </a:p>
          <a:p>
            <a:pPr indent="0" lvl="0" marL="0" rtl="0" algn="l">
              <a:spcBef>
                <a:spcPts val="1200"/>
              </a:spcBef>
              <a:spcAft>
                <a:spcPts val="0"/>
              </a:spcAft>
              <a:buNone/>
            </a:pPr>
            <a:r>
              <a:rPr lang="en-GB" sz="1400"/>
              <a:t>Create a list of all the fully completed user stories at the end of each sprint. These should be stories that have met their acceptance criteria and that the Scrum Master and Product Owner have approved.</a:t>
            </a:r>
            <a:endParaRPr sz="1400"/>
          </a:p>
          <a:p>
            <a:pPr indent="0" lvl="0" marL="0" rtl="0" algn="l">
              <a:spcBef>
                <a:spcPts val="1200"/>
              </a:spcBef>
              <a:spcAft>
                <a:spcPts val="0"/>
              </a:spcAft>
              <a:buNone/>
            </a:pPr>
            <a:r>
              <a:rPr lang="en-GB" sz="1400"/>
              <a:t>If a user story is 90% done, it is not fully complete. The team should move it to the next sprint and re-evaluate the points based on the remaining tasks.</a:t>
            </a:r>
            <a:endParaRPr sz="1400"/>
          </a:p>
          <a:p>
            <a:pPr indent="0" lvl="0" marL="0" rtl="0" algn="l">
              <a:spcBef>
                <a:spcPts val="1200"/>
              </a:spcBef>
              <a:spcAft>
                <a:spcPts val="0"/>
              </a:spcAft>
              <a:buNone/>
            </a:pPr>
            <a:r>
              <a:rPr b="1" lang="en-GB">
                <a:solidFill>
                  <a:schemeClr val="dk1"/>
                </a:solidFill>
              </a:rPr>
              <a:t>3. Check story points</a:t>
            </a:r>
            <a:endParaRPr b="1">
              <a:solidFill>
                <a:schemeClr val="dk1"/>
              </a:solidFill>
            </a:endParaRPr>
          </a:p>
          <a:p>
            <a:pPr indent="0" lvl="0" marL="0" rtl="0" algn="l">
              <a:spcBef>
                <a:spcPts val="1200"/>
              </a:spcBef>
              <a:spcAft>
                <a:spcPts val="0"/>
              </a:spcAft>
              <a:buNone/>
            </a:pPr>
            <a:r>
              <a:rPr lang="en-GB" sz="1200"/>
              <a:t>The team should have already assigned story points to each completed user story. If story points need re-evaluation, this is the time to do it.</a:t>
            </a:r>
            <a:endParaRPr sz="1200"/>
          </a:p>
          <a:p>
            <a:pPr indent="0" lvl="0" marL="0" rtl="0" algn="l">
              <a:spcBef>
                <a:spcPts val="1200"/>
              </a:spcBef>
              <a:spcAft>
                <a:spcPts val="0"/>
              </a:spcAft>
              <a:buNone/>
            </a:pPr>
            <a:r>
              <a:rPr lang="en-GB" sz="1200"/>
              <a:t>For instance, let's say the team has completed three user stories in the current sprint assign user authentication, add payment gateway integration, and implement search functionality. You could assign those tasks with the following story points:</a:t>
            </a:r>
            <a:endParaRPr sz="1200"/>
          </a:p>
          <a:p>
            <a:pPr indent="0" lvl="0" marL="0" rtl="0" algn="l">
              <a:spcBef>
                <a:spcPts val="1200"/>
              </a:spcBef>
              <a:spcAft>
                <a:spcPts val="0"/>
              </a:spcAft>
              <a:buNone/>
            </a:pPr>
            <a:r>
              <a:rPr lang="en-GB" sz="1200"/>
              <a:t>Assign user authentication: 5 points</a:t>
            </a:r>
            <a:endParaRPr sz="1200"/>
          </a:p>
          <a:p>
            <a:pPr indent="0" lvl="0" marL="0" rtl="0" algn="l">
              <a:spcBef>
                <a:spcPts val="1200"/>
              </a:spcBef>
              <a:spcAft>
                <a:spcPts val="0"/>
              </a:spcAft>
              <a:buNone/>
            </a:pPr>
            <a:r>
              <a:rPr lang="en-GB" sz="1200"/>
              <a:t>Add payment gateway integration: 8 points</a:t>
            </a:r>
            <a:endParaRPr sz="1200"/>
          </a:p>
          <a:p>
            <a:pPr indent="0" lvl="0" marL="0" rtl="0" algn="l">
              <a:spcBef>
                <a:spcPts val="1200"/>
              </a:spcBef>
              <a:spcAft>
                <a:spcPts val="1200"/>
              </a:spcAft>
              <a:buNone/>
            </a:pPr>
            <a:r>
              <a:rPr lang="en-GB" sz="1200"/>
              <a:t>Implement search functionality: 3 points</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4"/>
          <p:cNvSpPr txBox="1"/>
          <p:nvPr>
            <p:ph idx="1" type="body"/>
          </p:nvPr>
        </p:nvSpPr>
        <p:spPr>
          <a:xfrm>
            <a:off x="311700" y="187525"/>
            <a:ext cx="8520600" cy="480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solidFill>
                  <a:schemeClr val="dk1"/>
                </a:solidFill>
              </a:rPr>
              <a:t>4. Sum points to find velocity</a:t>
            </a:r>
            <a:endParaRPr b="1">
              <a:solidFill>
                <a:schemeClr val="dk1"/>
              </a:solidFill>
            </a:endParaRPr>
          </a:p>
          <a:p>
            <a:pPr indent="0" lvl="0" marL="0" rtl="0" algn="l">
              <a:spcBef>
                <a:spcPts val="1200"/>
              </a:spcBef>
              <a:spcAft>
                <a:spcPts val="0"/>
              </a:spcAft>
              <a:buNone/>
            </a:pPr>
            <a:r>
              <a:rPr lang="en-GB" sz="1400"/>
              <a:t>Next, you must total the story points for all the completed user stories. The sum of the story points represents the sprint velocity.</a:t>
            </a:r>
            <a:endParaRPr sz="1400"/>
          </a:p>
          <a:p>
            <a:pPr indent="0" lvl="0" marL="0" rtl="0" algn="l">
              <a:spcBef>
                <a:spcPts val="1200"/>
              </a:spcBef>
              <a:spcAft>
                <a:spcPts val="0"/>
              </a:spcAft>
              <a:buNone/>
            </a:pPr>
            <a:r>
              <a:rPr lang="en-GB" sz="1400"/>
              <a:t>In the above scenario, the total would be 5 points + 8 points + 3 points = 16 points, which is the velocity for this sprint.</a:t>
            </a:r>
            <a:endParaRPr sz="1400"/>
          </a:p>
          <a:p>
            <a:pPr indent="0" lvl="0" marL="0" rtl="0" algn="l">
              <a:spcBef>
                <a:spcPts val="1200"/>
              </a:spcBef>
              <a:spcAft>
                <a:spcPts val="0"/>
              </a:spcAft>
              <a:buNone/>
            </a:pPr>
            <a:r>
              <a:rPr b="1" lang="en-GB">
                <a:solidFill>
                  <a:schemeClr val="dk1"/>
                </a:solidFill>
              </a:rPr>
              <a:t>5. Average velocity</a:t>
            </a:r>
            <a:endParaRPr b="1">
              <a:solidFill>
                <a:schemeClr val="dk1"/>
              </a:solidFill>
            </a:endParaRPr>
          </a:p>
          <a:p>
            <a:pPr indent="0" lvl="0" marL="0" rtl="0" algn="l">
              <a:spcBef>
                <a:spcPts val="1200"/>
              </a:spcBef>
              <a:spcAft>
                <a:spcPts val="0"/>
              </a:spcAft>
              <a:buNone/>
            </a:pPr>
            <a:r>
              <a:rPr lang="en-GB" sz="1200"/>
              <a:t>Calculating the average sprint velocity over the number of sprints the team completes can provide a more reliable measure for future sprints. This measure benefits newly formed teams or those that have changed in size or structure.</a:t>
            </a:r>
            <a:endParaRPr sz="1200"/>
          </a:p>
          <a:p>
            <a:pPr indent="0" lvl="0" marL="0" rtl="0" algn="l">
              <a:spcBef>
                <a:spcPts val="1200"/>
              </a:spcBef>
              <a:spcAft>
                <a:spcPts val="1200"/>
              </a:spcAft>
              <a:buNone/>
            </a:pPr>
            <a:r>
              <a:rPr lang="en-GB" sz="1200"/>
              <a:t>For example, if the velocities for the last three sprints were 14, 16, and 15, the average velocity would be (14 + 16 + 15) / 3 = 15 points.</a:t>
            </a: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5"/>
          <p:cNvSpPr txBox="1"/>
          <p:nvPr>
            <p:ph type="title"/>
          </p:nvPr>
        </p:nvSpPr>
        <p:spPr>
          <a:xfrm>
            <a:off x="311700" y="116716"/>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Sprint / Iteration Planning Meeting</a:t>
            </a:r>
            <a:endParaRPr b="1"/>
          </a:p>
        </p:txBody>
      </p:sp>
      <p:sp>
        <p:nvSpPr>
          <p:cNvPr id="123" name="Google Shape;123;p25"/>
          <p:cNvSpPr txBox="1"/>
          <p:nvPr>
            <p:ph idx="1" type="body"/>
          </p:nvPr>
        </p:nvSpPr>
        <p:spPr>
          <a:xfrm>
            <a:off x="311700" y="807100"/>
            <a:ext cx="8520600" cy="440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1"/>
                </a:solidFill>
              </a:rPr>
              <a:t>A Sprint Planning Meeting (in Scrum) or Iteration Planning Meeting (in Agile methodologies) is a meeting conducted at the beginning of a sprint/iteration to determine the work that will be completed during that time period.</a:t>
            </a:r>
            <a:endParaRPr sz="1600">
              <a:solidFill>
                <a:schemeClr val="dk1"/>
              </a:solidFill>
            </a:endParaRPr>
          </a:p>
          <a:p>
            <a:pPr indent="0" lvl="0" marL="0" rtl="0" algn="l">
              <a:spcBef>
                <a:spcPts val="1200"/>
              </a:spcBef>
              <a:spcAft>
                <a:spcPts val="0"/>
              </a:spcAft>
              <a:buClr>
                <a:schemeClr val="dk1"/>
              </a:buClr>
              <a:buSzPts val="1100"/>
              <a:buFont typeface="Arial"/>
              <a:buNone/>
            </a:pPr>
            <a:r>
              <a:rPr b="1" lang="en-GB" sz="1600">
                <a:solidFill>
                  <a:schemeClr val="dk1"/>
                </a:solidFill>
              </a:rPr>
              <a:t>Objectives</a:t>
            </a:r>
            <a:endParaRPr b="1" sz="1600">
              <a:solidFill>
                <a:schemeClr val="dk1"/>
              </a:solidFill>
            </a:endParaRPr>
          </a:p>
          <a:p>
            <a:pPr indent="-330200" lvl="0" marL="457200" rtl="0" algn="l">
              <a:spcBef>
                <a:spcPts val="1200"/>
              </a:spcBef>
              <a:spcAft>
                <a:spcPts val="0"/>
              </a:spcAft>
              <a:buClr>
                <a:schemeClr val="dk1"/>
              </a:buClr>
              <a:buSzPts val="1600"/>
              <a:buAutoNum type="arabicPeriod"/>
            </a:pPr>
            <a:r>
              <a:rPr lang="en-GB" sz="1600">
                <a:solidFill>
                  <a:schemeClr val="dk1"/>
                </a:solidFill>
              </a:rPr>
              <a:t>Define the </a:t>
            </a:r>
            <a:r>
              <a:rPr b="1" lang="en-GB" sz="1600">
                <a:solidFill>
                  <a:schemeClr val="dk1"/>
                </a:solidFill>
              </a:rPr>
              <a:t>Sprint Goal</a:t>
            </a:r>
            <a:r>
              <a:rPr lang="en-GB" sz="1600">
                <a:solidFill>
                  <a:schemeClr val="dk1"/>
                </a:solidFill>
              </a:rPr>
              <a:t>.</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Select items from the </a:t>
            </a:r>
            <a:r>
              <a:rPr b="1" lang="en-GB" sz="1600">
                <a:solidFill>
                  <a:schemeClr val="dk1"/>
                </a:solidFill>
              </a:rPr>
              <a:t>Product Backlog</a:t>
            </a:r>
            <a:r>
              <a:rPr lang="en-GB" sz="1600">
                <a:solidFill>
                  <a:schemeClr val="dk1"/>
                </a:solidFill>
              </a:rPr>
              <a:t> that will be developed.</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Break selected items into tasks.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Estimate effort and allocate responsibilities.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Create the </a:t>
            </a:r>
            <a:r>
              <a:rPr b="1" lang="en-GB" sz="1600">
                <a:solidFill>
                  <a:schemeClr val="dk1"/>
                </a:solidFill>
              </a:rPr>
              <a:t>Sprint Backlog</a:t>
            </a:r>
            <a:r>
              <a:rPr lang="en-GB" sz="1600">
                <a:solidFill>
                  <a:schemeClr val="dk1"/>
                </a:solidFill>
              </a:rPr>
              <a:t>.</a:t>
            </a:r>
            <a:endParaRPr sz="1600">
              <a:solidFill>
                <a:schemeClr val="dk1"/>
              </a:solidFill>
            </a:endParaRPr>
          </a:p>
          <a:p>
            <a:pPr indent="0" lvl="0" marL="0" rtl="0" algn="l">
              <a:spcBef>
                <a:spcPts val="1200"/>
              </a:spcBef>
              <a:spcAft>
                <a:spcPts val="0"/>
              </a:spcAft>
              <a:buNone/>
            </a:pPr>
            <a:r>
              <a:rPr b="1" lang="en-GB" sz="1600">
                <a:solidFill>
                  <a:schemeClr val="dk1"/>
                </a:solidFill>
              </a:rPr>
              <a:t>Participants</a:t>
            </a:r>
            <a:endParaRPr b="1" sz="1600">
              <a:solidFill>
                <a:schemeClr val="dk1"/>
              </a:solidFill>
            </a:endParaRPr>
          </a:p>
          <a:p>
            <a:pPr indent="-330200" lvl="0" marL="457200" rtl="0" algn="l">
              <a:spcBef>
                <a:spcPts val="1200"/>
              </a:spcBef>
              <a:spcAft>
                <a:spcPts val="0"/>
              </a:spcAft>
              <a:buClr>
                <a:schemeClr val="dk1"/>
              </a:buClr>
              <a:buSzPts val="1600"/>
              <a:buChar char="●"/>
            </a:pPr>
            <a:r>
              <a:rPr b="1" lang="en-GB" sz="1600">
                <a:solidFill>
                  <a:schemeClr val="dk1"/>
                </a:solidFill>
              </a:rPr>
              <a:t>Product Owner</a:t>
            </a:r>
            <a:r>
              <a:rPr lang="en-GB" sz="1600">
                <a:solidFill>
                  <a:schemeClr val="dk1"/>
                </a:solidFill>
              </a:rPr>
              <a:t> – Presents and prioritizes backlog items.</a:t>
            </a:r>
            <a:endParaRPr sz="1600">
              <a:solidFill>
                <a:schemeClr val="dk1"/>
              </a:solidFill>
            </a:endParaRPr>
          </a:p>
          <a:p>
            <a:pPr indent="-330200" lvl="0" marL="457200" rtl="0" algn="l">
              <a:spcBef>
                <a:spcPts val="0"/>
              </a:spcBef>
              <a:spcAft>
                <a:spcPts val="0"/>
              </a:spcAft>
              <a:buClr>
                <a:schemeClr val="dk1"/>
              </a:buClr>
              <a:buSzPts val="1600"/>
              <a:buChar char="●"/>
            </a:pPr>
            <a:r>
              <a:rPr b="1" lang="en-GB" sz="1600">
                <a:solidFill>
                  <a:schemeClr val="dk1"/>
                </a:solidFill>
              </a:rPr>
              <a:t>Scrum Master</a:t>
            </a:r>
            <a:r>
              <a:rPr lang="en-GB" sz="1600">
                <a:solidFill>
                  <a:schemeClr val="dk1"/>
                </a:solidFill>
              </a:rPr>
              <a:t> – Facilitates the meeting.</a:t>
            </a:r>
            <a:endParaRPr sz="1600">
              <a:solidFill>
                <a:schemeClr val="dk1"/>
              </a:solidFill>
            </a:endParaRPr>
          </a:p>
          <a:p>
            <a:pPr indent="-330200" lvl="0" marL="457200" rtl="0" algn="l">
              <a:spcBef>
                <a:spcPts val="0"/>
              </a:spcBef>
              <a:spcAft>
                <a:spcPts val="0"/>
              </a:spcAft>
              <a:buClr>
                <a:schemeClr val="dk1"/>
              </a:buClr>
              <a:buSzPts val="1600"/>
              <a:buChar char="●"/>
            </a:pPr>
            <a:r>
              <a:rPr b="1" lang="en-GB" sz="1600">
                <a:solidFill>
                  <a:schemeClr val="dk1"/>
                </a:solidFill>
              </a:rPr>
              <a:t>Development Team</a:t>
            </a:r>
            <a:r>
              <a:rPr lang="en-GB" sz="1600">
                <a:solidFill>
                  <a:schemeClr val="dk1"/>
                </a:solidFill>
              </a:rPr>
              <a:t> – Estimates effort and commits to the work.</a:t>
            </a:r>
            <a:endParaRPr sz="1600">
              <a:solidFill>
                <a:schemeClr val="dk1"/>
              </a:solidFill>
            </a:endParaRPr>
          </a:p>
          <a:p>
            <a:pPr indent="0" lvl="0" marL="0" rtl="0" algn="l">
              <a:spcBef>
                <a:spcPts val="1200"/>
              </a:spcBef>
              <a:spcAft>
                <a:spcPts val="1200"/>
              </a:spcAft>
              <a:buNone/>
            </a:pPr>
            <a:r>
              <a:t/>
            </a:r>
            <a:endParaRPr sz="16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6"/>
          <p:cNvSpPr txBox="1"/>
          <p:nvPr>
            <p:ph idx="1" type="body"/>
          </p:nvPr>
        </p:nvSpPr>
        <p:spPr>
          <a:xfrm>
            <a:off x="229625" y="153750"/>
            <a:ext cx="4900200" cy="4836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GB" sz="1400">
                <a:solidFill>
                  <a:schemeClr val="dk1"/>
                </a:solidFill>
              </a:rPr>
              <a:t>Inputs</a:t>
            </a:r>
            <a:endParaRPr b="1"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Product Backlog</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Team Capacity</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Previous Sprint Results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Project Requirements and Priorities</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GB" sz="1400">
                <a:solidFill>
                  <a:schemeClr val="dk1"/>
                </a:solidFill>
              </a:rPr>
              <a:t>Activities</a:t>
            </a:r>
            <a:endParaRPr b="1" sz="1400">
              <a:solidFill>
                <a:schemeClr val="dk1"/>
              </a:solidFill>
            </a:endParaRPr>
          </a:p>
          <a:p>
            <a:pPr indent="-317500" lvl="0" marL="457200" rtl="0" algn="l">
              <a:spcBef>
                <a:spcPts val="1200"/>
              </a:spcBef>
              <a:spcAft>
                <a:spcPts val="0"/>
              </a:spcAft>
              <a:buClr>
                <a:schemeClr val="dk1"/>
              </a:buClr>
              <a:buSzPts val="1400"/>
              <a:buAutoNum type="arabicPeriod"/>
            </a:pPr>
            <a:r>
              <a:rPr lang="en-GB" sz="1400">
                <a:solidFill>
                  <a:schemeClr val="dk1"/>
                </a:solidFill>
              </a:rPr>
              <a:t>Review and discuss prioritized backlog items.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Clarify requirements and acceptance criteria.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Estimate effort for each item.</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Select achievable work for the sprint.</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Create a detailed Sprint Backlog and plan.</a:t>
            </a:r>
            <a:endParaRPr sz="1400">
              <a:solidFill>
                <a:schemeClr val="dk1"/>
              </a:solidFill>
            </a:endParaRPr>
          </a:p>
          <a:p>
            <a:pPr indent="0" lvl="0" marL="0" rtl="0" algn="l">
              <a:spcBef>
                <a:spcPts val="1200"/>
              </a:spcBef>
              <a:spcAft>
                <a:spcPts val="0"/>
              </a:spcAft>
              <a:buNone/>
            </a:pPr>
            <a:r>
              <a:rPr b="1" lang="en-GB" sz="1400">
                <a:solidFill>
                  <a:schemeClr val="dk1"/>
                </a:solidFill>
              </a:rPr>
              <a:t>Example:</a:t>
            </a:r>
            <a:endParaRPr b="1" sz="1400">
              <a:solidFill>
                <a:schemeClr val="dk1"/>
              </a:solidFill>
            </a:endParaRPr>
          </a:p>
          <a:p>
            <a:pPr indent="0" lvl="0" marL="0" rtl="0" algn="l">
              <a:spcBef>
                <a:spcPts val="1200"/>
              </a:spcBef>
              <a:spcAft>
                <a:spcPts val="1200"/>
              </a:spcAft>
              <a:buNone/>
            </a:pPr>
            <a:r>
              <a:rPr lang="en-GB" sz="1400">
                <a:solidFill>
                  <a:schemeClr val="dk1"/>
                </a:solidFill>
              </a:rPr>
              <a:t>If a sprint duration is two weeks, the team may select user stories such as </a:t>
            </a:r>
            <a:r>
              <a:rPr i="1" lang="en-GB" sz="1400">
                <a:solidFill>
                  <a:schemeClr val="dk1"/>
                </a:solidFill>
              </a:rPr>
              <a:t>User Login</a:t>
            </a:r>
            <a:r>
              <a:rPr lang="en-GB" sz="1400">
                <a:solidFill>
                  <a:schemeClr val="dk1"/>
                </a:solidFill>
              </a:rPr>
              <a:t>, </a:t>
            </a:r>
            <a:r>
              <a:rPr i="1" lang="en-GB" sz="1400">
                <a:solidFill>
                  <a:schemeClr val="dk1"/>
                </a:solidFill>
              </a:rPr>
              <a:t>Password Reset</a:t>
            </a:r>
            <a:r>
              <a:rPr lang="en-GB" sz="1400">
                <a:solidFill>
                  <a:schemeClr val="dk1"/>
                </a:solidFill>
              </a:rPr>
              <a:t>, and </a:t>
            </a:r>
            <a:r>
              <a:rPr i="1" lang="en-GB" sz="1400">
                <a:solidFill>
                  <a:schemeClr val="dk1"/>
                </a:solidFill>
              </a:rPr>
              <a:t>Profile Management</a:t>
            </a:r>
            <a:r>
              <a:rPr lang="en-GB" sz="1400">
                <a:solidFill>
                  <a:schemeClr val="dk1"/>
                </a:solidFill>
              </a:rPr>
              <a:t>, estimate the effort required, and commit to completing them within the sprint. </a:t>
            </a:r>
            <a:endParaRPr sz="1400"/>
          </a:p>
        </p:txBody>
      </p:sp>
      <p:sp>
        <p:nvSpPr>
          <p:cNvPr id="129" name="Google Shape;129;p26"/>
          <p:cNvSpPr txBox="1"/>
          <p:nvPr/>
        </p:nvSpPr>
        <p:spPr>
          <a:xfrm>
            <a:off x="5485489" y="232716"/>
            <a:ext cx="3000000" cy="457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a:solidFill>
                  <a:schemeClr val="dk1"/>
                </a:solidFill>
              </a:rPr>
              <a:t>Outputs</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n-GB">
                <a:solidFill>
                  <a:schemeClr val="dk1"/>
                </a:solidFill>
              </a:rPr>
              <a:t>Sprint Goal</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Sprint Backlog</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Task Breakdown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Team Commitment for the Sprint</a:t>
            </a:r>
            <a:endParaRPr>
              <a:solidFill>
                <a:schemeClr val="dk1"/>
              </a:solidFill>
            </a:endParaRPr>
          </a:p>
          <a:p>
            <a:pPr indent="0" lvl="0" marL="0" rtl="0" algn="l">
              <a:lnSpc>
                <a:spcPct val="115000"/>
              </a:lnSpc>
              <a:spcBef>
                <a:spcPts val="1200"/>
              </a:spcBef>
              <a:spcAft>
                <a:spcPts val="0"/>
              </a:spcAft>
              <a:buNone/>
            </a:pPr>
            <a:r>
              <a:rPr b="1" lang="en-GB">
                <a:solidFill>
                  <a:schemeClr val="dk1"/>
                </a:solidFill>
              </a:rPr>
              <a:t>Benefits</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n-GB">
                <a:solidFill>
                  <a:schemeClr val="dk1"/>
                </a:solidFill>
              </a:rPr>
              <a:t>Establishes a clear understanding of sprint objectives.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Improves team coordination and resource allocation.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Helps identify risks and dependencies early.</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Increases predictability and transparency.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7"/>
          <p:cNvSpPr txBox="1"/>
          <p:nvPr>
            <p:ph type="title"/>
          </p:nvPr>
        </p:nvSpPr>
        <p:spPr>
          <a:xfrm>
            <a:off x="311700" y="185114"/>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Planning Guidelines and Development </a:t>
            </a:r>
            <a:endParaRPr b="1"/>
          </a:p>
        </p:txBody>
      </p:sp>
      <p:sp>
        <p:nvSpPr>
          <p:cNvPr id="135" name="Google Shape;135;p27"/>
          <p:cNvSpPr txBox="1"/>
          <p:nvPr>
            <p:ph idx="1" type="body"/>
          </p:nvPr>
        </p:nvSpPr>
        <p:spPr>
          <a:xfrm>
            <a:off x="311700" y="818021"/>
            <a:ext cx="8520600" cy="3941400"/>
          </a:xfrm>
          <a:prstGeom prst="rect">
            <a:avLst/>
          </a:prstGeom>
        </p:spPr>
        <p:txBody>
          <a:bodyPr anchorCtr="0" anchor="t" bIns="91425" lIns="91425" spcFirstLastPara="1" rIns="91425" wrap="square" tIns="91425">
            <a:noAutofit/>
          </a:bodyPr>
          <a:lstStyle/>
          <a:p>
            <a:pPr indent="0" lvl="0" marL="0" rtl="0" algn="l">
              <a:lnSpc>
                <a:spcPct val="95000"/>
              </a:lnSpc>
              <a:spcBef>
                <a:spcPts val="1800"/>
              </a:spcBef>
              <a:spcAft>
                <a:spcPts val="0"/>
              </a:spcAft>
              <a:buClr>
                <a:schemeClr val="dk1"/>
              </a:buClr>
              <a:buSzPts val="688"/>
              <a:buFont typeface="Arial"/>
              <a:buNone/>
            </a:pPr>
            <a:r>
              <a:rPr b="1" lang="en-GB" sz="1400">
                <a:solidFill>
                  <a:schemeClr val="dk1"/>
                </a:solidFill>
              </a:rPr>
              <a:t>1. Sprint Planning Guidelines</a:t>
            </a:r>
            <a:endParaRPr b="1" sz="1400">
              <a:solidFill>
                <a:schemeClr val="dk1"/>
              </a:solidFill>
            </a:endParaRPr>
          </a:p>
          <a:p>
            <a:pPr indent="0" lvl="0" marL="0" rtl="0" algn="l">
              <a:lnSpc>
                <a:spcPct val="95000"/>
              </a:lnSpc>
              <a:spcBef>
                <a:spcPts val="1200"/>
              </a:spcBef>
              <a:spcAft>
                <a:spcPts val="0"/>
              </a:spcAft>
              <a:buClr>
                <a:schemeClr val="dk1"/>
              </a:buClr>
              <a:buSzPts val="688"/>
              <a:buFont typeface="Arial"/>
              <a:buNone/>
            </a:pPr>
            <a:r>
              <a:rPr lang="en-GB" sz="1400">
                <a:solidFill>
                  <a:schemeClr val="dk1"/>
                </a:solidFill>
              </a:rPr>
              <a:t>Sprint Planning is the first activity of a sprint where the team decides what work will be completed during the upcoming sprint and how it will be accomplished.</a:t>
            </a:r>
            <a:endParaRPr sz="1400">
              <a:solidFill>
                <a:schemeClr val="dk1"/>
              </a:solidFill>
            </a:endParaRPr>
          </a:p>
          <a:p>
            <a:pPr indent="0" lvl="0" marL="0" rtl="0" algn="l">
              <a:lnSpc>
                <a:spcPct val="95000"/>
              </a:lnSpc>
              <a:spcBef>
                <a:spcPts val="1400"/>
              </a:spcBef>
              <a:spcAft>
                <a:spcPts val="0"/>
              </a:spcAft>
              <a:buClr>
                <a:schemeClr val="dk1"/>
              </a:buClr>
              <a:buSzPts val="688"/>
              <a:buFont typeface="Arial"/>
              <a:buNone/>
            </a:pPr>
            <a:r>
              <a:rPr b="1" lang="en-GB" sz="1400">
                <a:solidFill>
                  <a:schemeClr val="dk1"/>
                </a:solidFill>
              </a:rPr>
              <a:t>Guidelines for Sprint Planning</a:t>
            </a:r>
            <a:endParaRPr b="1" sz="1400">
              <a:solidFill>
                <a:schemeClr val="dk1"/>
              </a:solidFill>
            </a:endParaRPr>
          </a:p>
          <a:p>
            <a:pPr indent="0" lvl="0" marL="0" rtl="0" algn="l">
              <a:lnSpc>
                <a:spcPct val="95000"/>
              </a:lnSpc>
              <a:spcBef>
                <a:spcPts val="1400"/>
              </a:spcBef>
              <a:spcAft>
                <a:spcPts val="0"/>
              </a:spcAft>
              <a:buClr>
                <a:schemeClr val="dk1"/>
              </a:buClr>
              <a:buSzPts val="688"/>
              <a:buFont typeface="Arial"/>
              <a:buNone/>
            </a:pPr>
            <a:r>
              <a:rPr b="1" lang="en-GB" sz="1400">
                <a:solidFill>
                  <a:schemeClr val="dk1"/>
                </a:solidFill>
              </a:rPr>
              <a:t>a) Define a Clear Sprint Goal</a:t>
            </a:r>
            <a:endParaRPr b="1" sz="1400">
              <a:solidFill>
                <a:schemeClr val="dk1"/>
              </a:solidFill>
            </a:endParaRPr>
          </a:p>
          <a:p>
            <a:pPr indent="-317500" lvl="0" marL="457200" rtl="0" algn="l">
              <a:lnSpc>
                <a:spcPct val="95000"/>
              </a:lnSpc>
              <a:spcBef>
                <a:spcPts val="1200"/>
              </a:spcBef>
              <a:spcAft>
                <a:spcPts val="0"/>
              </a:spcAft>
              <a:buClr>
                <a:schemeClr val="dk1"/>
              </a:buClr>
              <a:buSzPts val="1400"/>
              <a:buChar char="●"/>
            </a:pPr>
            <a:r>
              <a:rPr lang="en-GB" sz="1400">
                <a:solidFill>
                  <a:schemeClr val="dk1"/>
                </a:solidFill>
              </a:rPr>
              <a:t>Establish a specific and measurable objective for the sprint.</a:t>
            </a:r>
            <a:endParaRPr sz="1400">
              <a:solidFill>
                <a:schemeClr val="dk1"/>
              </a:solidFill>
            </a:endParaRPr>
          </a:p>
          <a:p>
            <a:pPr indent="-317500" lvl="0" marL="457200" rtl="0" algn="l">
              <a:lnSpc>
                <a:spcPct val="95000"/>
              </a:lnSpc>
              <a:spcBef>
                <a:spcPts val="0"/>
              </a:spcBef>
              <a:spcAft>
                <a:spcPts val="0"/>
              </a:spcAft>
              <a:buClr>
                <a:schemeClr val="dk1"/>
              </a:buClr>
              <a:buSzPts val="1400"/>
              <a:buChar char="●"/>
            </a:pPr>
            <a:r>
              <a:rPr lang="en-GB" sz="1400">
                <a:solidFill>
                  <a:schemeClr val="dk1"/>
                </a:solidFill>
              </a:rPr>
              <a:t>Ensure all team members understand the goal.</a:t>
            </a:r>
            <a:endParaRPr sz="1400">
              <a:solidFill>
                <a:schemeClr val="dk1"/>
              </a:solidFill>
            </a:endParaRPr>
          </a:p>
          <a:p>
            <a:pPr indent="0" lvl="0" marL="0" rtl="0" algn="l">
              <a:lnSpc>
                <a:spcPct val="95000"/>
              </a:lnSpc>
              <a:spcBef>
                <a:spcPts val="1400"/>
              </a:spcBef>
              <a:spcAft>
                <a:spcPts val="0"/>
              </a:spcAft>
              <a:buClr>
                <a:schemeClr val="dk1"/>
              </a:buClr>
              <a:buSzPts val="688"/>
              <a:buFont typeface="Arial"/>
              <a:buNone/>
            </a:pPr>
            <a:r>
              <a:rPr b="1" lang="en-GB" sz="1400">
                <a:solidFill>
                  <a:schemeClr val="dk1"/>
                </a:solidFill>
              </a:rPr>
              <a:t>b) Prioritize the Product Backlog</a:t>
            </a:r>
            <a:endParaRPr b="1" sz="1400">
              <a:solidFill>
                <a:schemeClr val="dk1"/>
              </a:solidFill>
            </a:endParaRPr>
          </a:p>
          <a:p>
            <a:pPr indent="-317500" lvl="0" marL="457200" rtl="0" algn="l">
              <a:lnSpc>
                <a:spcPct val="95000"/>
              </a:lnSpc>
              <a:spcBef>
                <a:spcPts val="1200"/>
              </a:spcBef>
              <a:spcAft>
                <a:spcPts val="0"/>
              </a:spcAft>
              <a:buClr>
                <a:schemeClr val="dk1"/>
              </a:buClr>
              <a:buSzPts val="1400"/>
              <a:buChar char="●"/>
            </a:pPr>
            <a:r>
              <a:rPr lang="en-GB" sz="1400">
                <a:solidFill>
                  <a:schemeClr val="dk1"/>
                </a:solidFill>
              </a:rPr>
              <a:t>Select high-priority user stories and requirements.</a:t>
            </a:r>
            <a:endParaRPr sz="1400">
              <a:solidFill>
                <a:schemeClr val="dk1"/>
              </a:solidFill>
            </a:endParaRPr>
          </a:p>
          <a:p>
            <a:pPr indent="-317500" lvl="0" marL="457200" rtl="0" algn="l">
              <a:lnSpc>
                <a:spcPct val="95000"/>
              </a:lnSpc>
              <a:spcBef>
                <a:spcPts val="0"/>
              </a:spcBef>
              <a:spcAft>
                <a:spcPts val="0"/>
              </a:spcAft>
              <a:buClr>
                <a:schemeClr val="dk1"/>
              </a:buClr>
              <a:buSzPts val="1400"/>
              <a:buChar char="●"/>
            </a:pPr>
            <a:r>
              <a:rPr lang="en-GB" sz="1400">
                <a:solidFill>
                  <a:schemeClr val="dk1"/>
                </a:solidFill>
              </a:rPr>
              <a:t>Focus on delivering maximum business value.</a:t>
            </a:r>
            <a:endParaRPr sz="1400">
              <a:solidFill>
                <a:schemeClr val="dk1"/>
              </a:solidFill>
            </a:endParaRPr>
          </a:p>
          <a:p>
            <a:pPr indent="0" lvl="0" marL="0" rtl="0" algn="l">
              <a:lnSpc>
                <a:spcPct val="95000"/>
              </a:lnSpc>
              <a:spcBef>
                <a:spcPts val="1400"/>
              </a:spcBef>
              <a:spcAft>
                <a:spcPts val="0"/>
              </a:spcAft>
              <a:buClr>
                <a:schemeClr val="dk1"/>
              </a:buClr>
              <a:buSzPts val="688"/>
              <a:buFont typeface="Arial"/>
              <a:buNone/>
            </a:pPr>
            <a:r>
              <a:rPr b="1" lang="en-GB" sz="1400">
                <a:solidFill>
                  <a:schemeClr val="dk1"/>
                </a:solidFill>
              </a:rPr>
              <a:t>c) Assess Team Capacity</a:t>
            </a:r>
            <a:endParaRPr b="1" sz="1400">
              <a:solidFill>
                <a:schemeClr val="dk1"/>
              </a:solidFill>
            </a:endParaRPr>
          </a:p>
          <a:p>
            <a:pPr indent="-317500" lvl="0" marL="457200" rtl="0" algn="l">
              <a:lnSpc>
                <a:spcPct val="95000"/>
              </a:lnSpc>
              <a:spcBef>
                <a:spcPts val="1200"/>
              </a:spcBef>
              <a:spcAft>
                <a:spcPts val="0"/>
              </a:spcAft>
              <a:buClr>
                <a:schemeClr val="dk1"/>
              </a:buClr>
              <a:buSzPts val="1400"/>
              <a:buChar char="●"/>
            </a:pPr>
            <a:r>
              <a:rPr lang="en-GB" sz="1400">
                <a:solidFill>
                  <a:schemeClr val="dk1"/>
                </a:solidFill>
              </a:rPr>
              <a:t>Consider team availability, skills, holidays, and ongoing commitments.</a:t>
            </a:r>
            <a:endParaRPr sz="1400">
              <a:solidFill>
                <a:schemeClr val="dk1"/>
              </a:solidFill>
            </a:endParaRPr>
          </a:p>
          <a:p>
            <a:pPr indent="-317500" lvl="0" marL="457200" rtl="0" algn="l">
              <a:lnSpc>
                <a:spcPct val="95000"/>
              </a:lnSpc>
              <a:spcBef>
                <a:spcPts val="0"/>
              </a:spcBef>
              <a:spcAft>
                <a:spcPts val="0"/>
              </a:spcAft>
              <a:buClr>
                <a:schemeClr val="dk1"/>
              </a:buClr>
              <a:buSzPts val="1400"/>
              <a:buChar char="●"/>
            </a:pPr>
            <a:r>
              <a:rPr lang="en-GB" sz="1400">
                <a:solidFill>
                  <a:schemeClr val="dk1"/>
                </a:solidFill>
              </a:rPr>
              <a:t>Avoid overcommitting work.</a:t>
            </a:r>
            <a:endParaRPr b="1" sz="14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8"/>
          <p:cNvSpPr txBox="1"/>
          <p:nvPr>
            <p:ph idx="1" type="body"/>
          </p:nvPr>
        </p:nvSpPr>
        <p:spPr>
          <a:xfrm>
            <a:off x="311700" y="64489"/>
            <a:ext cx="8520600" cy="48876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688"/>
              <a:buFont typeface="Arial"/>
              <a:buNone/>
            </a:pPr>
            <a:r>
              <a:rPr b="1" lang="en-GB" sz="1550">
                <a:solidFill>
                  <a:schemeClr val="dk1"/>
                </a:solidFill>
              </a:rPr>
              <a:t>d) Estimate Work Accurately</a:t>
            </a:r>
            <a:endParaRPr b="1" sz="1550">
              <a:solidFill>
                <a:schemeClr val="dk1"/>
              </a:solidFill>
            </a:endParaRPr>
          </a:p>
          <a:p>
            <a:pPr indent="-327025" lvl="0" marL="457200" rtl="0" algn="l">
              <a:lnSpc>
                <a:spcPct val="95000"/>
              </a:lnSpc>
              <a:spcBef>
                <a:spcPts val="1200"/>
              </a:spcBef>
              <a:spcAft>
                <a:spcPts val="0"/>
              </a:spcAft>
              <a:buClr>
                <a:schemeClr val="dk1"/>
              </a:buClr>
              <a:buSzPts val="1550"/>
              <a:buChar char="●"/>
            </a:pPr>
            <a:r>
              <a:rPr lang="en-GB" sz="1550">
                <a:solidFill>
                  <a:schemeClr val="dk1"/>
                </a:solidFill>
              </a:rPr>
              <a:t>Use techniques such as Story Points, Planning Poker, or Ideal Days.</a:t>
            </a:r>
            <a:endParaRPr sz="1550">
              <a:solidFill>
                <a:schemeClr val="dk1"/>
              </a:solidFill>
            </a:endParaRPr>
          </a:p>
          <a:p>
            <a:pPr indent="-327025" lvl="0" marL="457200" rtl="0" algn="l">
              <a:lnSpc>
                <a:spcPct val="95000"/>
              </a:lnSpc>
              <a:spcBef>
                <a:spcPts val="0"/>
              </a:spcBef>
              <a:spcAft>
                <a:spcPts val="0"/>
              </a:spcAft>
              <a:buClr>
                <a:schemeClr val="dk1"/>
              </a:buClr>
              <a:buSzPts val="1550"/>
              <a:buChar char="●"/>
            </a:pPr>
            <a:r>
              <a:rPr lang="en-GB" sz="1550">
                <a:solidFill>
                  <a:schemeClr val="dk1"/>
                </a:solidFill>
              </a:rPr>
              <a:t>Estimate effort and complexity for each task.</a:t>
            </a:r>
            <a:endParaRPr b="1" sz="1550">
              <a:solidFill>
                <a:schemeClr val="dk1"/>
              </a:solidFill>
            </a:endParaRPr>
          </a:p>
          <a:p>
            <a:pPr indent="0" lvl="0" marL="0" rtl="0" algn="l">
              <a:spcBef>
                <a:spcPts val="1400"/>
              </a:spcBef>
              <a:spcAft>
                <a:spcPts val="0"/>
              </a:spcAft>
              <a:buClr>
                <a:schemeClr val="dk1"/>
              </a:buClr>
              <a:buSzPts val="1100"/>
              <a:buFont typeface="Arial"/>
              <a:buNone/>
            </a:pPr>
            <a:r>
              <a:rPr b="1" lang="en-GB" sz="1550">
                <a:solidFill>
                  <a:schemeClr val="dk1"/>
                </a:solidFill>
              </a:rPr>
              <a:t>e) Break Down User Stories into Tasks</a:t>
            </a:r>
            <a:endParaRPr b="1" sz="1550">
              <a:solidFill>
                <a:schemeClr val="dk1"/>
              </a:solidFill>
            </a:endParaRPr>
          </a:p>
          <a:p>
            <a:pPr indent="-327025" lvl="0" marL="457200" rtl="0" algn="l">
              <a:spcBef>
                <a:spcPts val="1200"/>
              </a:spcBef>
              <a:spcAft>
                <a:spcPts val="0"/>
              </a:spcAft>
              <a:buClr>
                <a:schemeClr val="dk1"/>
              </a:buClr>
              <a:buSzPts val="1550"/>
              <a:buChar char="●"/>
            </a:pPr>
            <a:r>
              <a:rPr lang="en-GB" sz="1550">
                <a:solidFill>
                  <a:schemeClr val="dk1"/>
                </a:solidFill>
              </a:rPr>
              <a:t>Divide large stories into manageable tasks.</a:t>
            </a:r>
            <a:endParaRPr sz="1550">
              <a:solidFill>
                <a:schemeClr val="dk1"/>
              </a:solidFill>
            </a:endParaRPr>
          </a:p>
          <a:p>
            <a:pPr indent="-327025" lvl="0" marL="457200" rtl="0" algn="l">
              <a:spcBef>
                <a:spcPts val="0"/>
              </a:spcBef>
              <a:spcAft>
                <a:spcPts val="0"/>
              </a:spcAft>
              <a:buClr>
                <a:schemeClr val="dk1"/>
              </a:buClr>
              <a:buSzPts val="1550"/>
              <a:buChar char="●"/>
            </a:pPr>
            <a:r>
              <a:rPr lang="en-GB" sz="1550">
                <a:solidFill>
                  <a:schemeClr val="dk1"/>
                </a:solidFill>
              </a:rPr>
              <a:t>Assign responsibilities where appropriate.</a:t>
            </a:r>
            <a:endParaRPr sz="1550">
              <a:solidFill>
                <a:schemeClr val="dk1"/>
              </a:solidFill>
            </a:endParaRPr>
          </a:p>
          <a:p>
            <a:pPr indent="0" lvl="0" marL="0" rtl="0" algn="l">
              <a:spcBef>
                <a:spcPts val="1400"/>
              </a:spcBef>
              <a:spcAft>
                <a:spcPts val="0"/>
              </a:spcAft>
              <a:buClr>
                <a:schemeClr val="dk1"/>
              </a:buClr>
              <a:buSzPts val="1100"/>
              <a:buFont typeface="Arial"/>
              <a:buNone/>
            </a:pPr>
            <a:r>
              <a:rPr b="1" lang="en-GB" sz="1550">
                <a:solidFill>
                  <a:schemeClr val="dk1"/>
                </a:solidFill>
              </a:rPr>
              <a:t>f) Identify Dependencies and Risks</a:t>
            </a:r>
            <a:endParaRPr b="1" sz="1550">
              <a:solidFill>
                <a:schemeClr val="dk1"/>
              </a:solidFill>
            </a:endParaRPr>
          </a:p>
          <a:p>
            <a:pPr indent="-327025" lvl="0" marL="457200" rtl="0" algn="l">
              <a:spcBef>
                <a:spcPts val="1200"/>
              </a:spcBef>
              <a:spcAft>
                <a:spcPts val="0"/>
              </a:spcAft>
              <a:buClr>
                <a:schemeClr val="dk1"/>
              </a:buClr>
              <a:buSzPts val="1550"/>
              <a:buChar char="●"/>
            </a:pPr>
            <a:r>
              <a:rPr lang="en-GB" sz="1550">
                <a:solidFill>
                  <a:schemeClr val="dk1"/>
                </a:solidFill>
              </a:rPr>
              <a:t>Recognize external dependencies and potential obstacles.</a:t>
            </a:r>
            <a:endParaRPr sz="1550">
              <a:solidFill>
                <a:schemeClr val="dk1"/>
              </a:solidFill>
            </a:endParaRPr>
          </a:p>
          <a:p>
            <a:pPr indent="-327025" lvl="0" marL="457200" rtl="0" algn="l">
              <a:spcBef>
                <a:spcPts val="0"/>
              </a:spcBef>
              <a:spcAft>
                <a:spcPts val="0"/>
              </a:spcAft>
              <a:buClr>
                <a:schemeClr val="dk1"/>
              </a:buClr>
              <a:buSzPts val="1550"/>
              <a:buChar char="●"/>
            </a:pPr>
            <a:r>
              <a:rPr lang="en-GB" sz="1550">
                <a:solidFill>
                  <a:schemeClr val="dk1"/>
                </a:solidFill>
              </a:rPr>
              <a:t>Plan mitigation strategies.</a:t>
            </a:r>
            <a:endParaRPr sz="1550">
              <a:solidFill>
                <a:schemeClr val="dk1"/>
              </a:solidFill>
            </a:endParaRPr>
          </a:p>
          <a:p>
            <a:pPr indent="0" lvl="0" marL="0" rtl="0" algn="l">
              <a:spcBef>
                <a:spcPts val="1400"/>
              </a:spcBef>
              <a:spcAft>
                <a:spcPts val="0"/>
              </a:spcAft>
              <a:buClr>
                <a:schemeClr val="dk1"/>
              </a:buClr>
              <a:buSzPts val="1100"/>
              <a:buFont typeface="Arial"/>
              <a:buNone/>
            </a:pPr>
            <a:r>
              <a:rPr b="1" lang="en-GB" sz="1550">
                <a:solidFill>
                  <a:schemeClr val="dk1"/>
                </a:solidFill>
              </a:rPr>
              <a:t>g) Create the Sprint Backlog</a:t>
            </a:r>
            <a:endParaRPr b="1" sz="1550">
              <a:solidFill>
                <a:schemeClr val="dk1"/>
              </a:solidFill>
            </a:endParaRPr>
          </a:p>
          <a:p>
            <a:pPr indent="-327025" lvl="0" marL="457200" rtl="0" algn="l">
              <a:spcBef>
                <a:spcPts val="1200"/>
              </a:spcBef>
              <a:spcAft>
                <a:spcPts val="0"/>
              </a:spcAft>
              <a:buClr>
                <a:schemeClr val="dk1"/>
              </a:buClr>
              <a:buSzPts val="1550"/>
              <a:buChar char="●"/>
            </a:pPr>
            <a:r>
              <a:rPr lang="en-GB" sz="1550">
                <a:solidFill>
                  <a:schemeClr val="dk1"/>
                </a:solidFill>
              </a:rPr>
              <a:t>Finalize the list of stories and tasks to be completed during the sprint.</a:t>
            </a:r>
            <a:endParaRPr sz="1550">
              <a:solidFill>
                <a:schemeClr val="dk1"/>
              </a:solidFill>
            </a:endParaRPr>
          </a:p>
          <a:p>
            <a:pPr indent="-327025" lvl="0" marL="457200" rtl="0" algn="l">
              <a:spcBef>
                <a:spcPts val="0"/>
              </a:spcBef>
              <a:spcAft>
                <a:spcPts val="0"/>
              </a:spcAft>
              <a:buClr>
                <a:schemeClr val="dk1"/>
              </a:buClr>
              <a:buSzPts val="1550"/>
              <a:buChar char="●"/>
            </a:pPr>
            <a:r>
              <a:rPr lang="en-GB" sz="1550">
                <a:solidFill>
                  <a:schemeClr val="dk1"/>
                </a:solidFill>
              </a:rPr>
              <a:t>Obtain team commitment.</a:t>
            </a:r>
            <a:endParaRPr sz="1550">
              <a:solidFill>
                <a:schemeClr val="dk1"/>
              </a:solidFill>
            </a:endParaRPr>
          </a:p>
          <a:p>
            <a:pPr indent="0" lvl="0" marL="0" rtl="0" algn="l">
              <a:spcBef>
                <a:spcPts val="1400"/>
              </a:spcBef>
              <a:spcAft>
                <a:spcPts val="400"/>
              </a:spcAft>
              <a:buClr>
                <a:schemeClr val="dk1"/>
              </a:buClr>
              <a:buSzPts val="1100"/>
              <a:buFont typeface="Arial"/>
              <a:buNone/>
            </a:pPr>
            <a:r>
              <a:rPr b="1" lang="en-GB" sz="1550">
                <a:solidFill>
                  <a:schemeClr val="dk1"/>
                </a:solidFill>
              </a:rPr>
              <a:t>Outcome of Sprint Planning: </a:t>
            </a:r>
            <a:r>
              <a:rPr lang="en-GB" sz="1550">
                <a:solidFill>
                  <a:schemeClr val="dk1"/>
                </a:solidFill>
              </a:rPr>
              <a:t>Sprint Goal, Sprint backlog, Team commitment, Estimated Timeline</a:t>
            </a:r>
            <a:endParaRPr sz="155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9"/>
          <p:cNvSpPr txBox="1"/>
          <p:nvPr>
            <p:ph idx="1" type="body"/>
          </p:nvPr>
        </p:nvSpPr>
        <p:spPr>
          <a:xfrm>
            <a:off x="120200" y="1601636"/>
            <a:ext cx="4804500" cy="28716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935"/>
              <a:buFont typeface="Arial"/>
              <a:buNone/>
            </a:pPr>
            <a:r>
              <a:rPr b="1" lang="en-GB" sz="1600">
                <a:solidFill>
                  <a:schemeClr val="dk1"/>
                </a:solidFill>
              </a:rPr>
              <a:t>Activities During Sprint Development</a:t>
            </a:r>
            <a:endParaRPr b="1" sz="1600">
              <a:solidFill>
                <a:schemeClr val="dk1"/>
              </a:solidFill>
            </a:endParaRPr>
          </a:p>
          <a:p>
            <a:pPr indent="0" lvl="0" marL="0" rtl="0" algn="l">
              <a:lnSpc>
                <a:spcPct val="95000"/>
              </a:lnSpc>
              <a:spcBef>
                <a:spcPts val="1400"/>
              </a:spcBef>
              <a:spcAft>
                <a:spcPts val="0"/>
              </a:spcAft>
              <a:buClr>
                <a:schemeClr val="dk1"/>
              </a:buClr>
              <a:buSzPts val="935"/>
              <a:buFont typeface="Arial"/>
              <a:buNone/>
            </a:pPr>
            <a:r>
              <a:rPr b="1" lang="en-GB" sz="1600">
                <a:solidFill>
                  <a:schemeClr val="dk1"/>
                </a:solidFill>
              </a:rPr>
              <a:t>a) Designing</a:t>
            </a:r>
            <a:endParaRPr b="1" sz="1600">
              <a:solidFill>
                <a:schemeClr val="dk1"/>
              </a:solidFill>
            </a:endParaRPr>
          </a:p>
          <a:p>
            <a:pPr indent="-330200" lvl="0" marL="457200" rtl="0" algn="l">
              <a:lnSpc>
                <a:spcPct val="95000"/>
              </a:lnSpc>
              <a:spcBef>
                <a:spcPts val="1200"/>
              </a:spcBef>
              <a:spcAft>
                <a:spcPts val="0"/>
              </a:spcAft>
              <a:buClr>
                <a:schemeClr val="dk1"/>
              </a:buClr>
              <a:buSzPts val="1600"/>
              <a:buChar char="●"/>
            </a:pPr>
            <a:r>
              <a:rPr lang="en-GB" sz="1600">
                <a:solidFill>
                  <a:schemeClr val="dk1"/>
                </a:solidFill>
              </a:rPr>
              <a:t>Create system architecture, database design, UI mockups, and technical specifications.</a:t>
            </a:r>
            <a:endParaRPr sz="1600">
              <a:solidFill>
                <a:schemeClr val="dk1"/>
              </a:solidFill>
            </a:endParaRPr>
          </a:p>
          <a:p>
            <a:pPr indent="0" lvl="0" marL="0" rtl="0" algn="l">
              <a:lnSpc>
                <a:spcPct val="95000"/>
              </a:lnSpc>
              <a:spcBef>
                <a:spcPts val="1400"/>
              </a:spcBef>
              <a:spcAft>
                <a:spcPts val="0"/>
              </a:spcAft>
              <a:buClr>
                <a:schemeClr val="dk1"/>
              </a:buClr>
              <a:buSzPts val="935"/>
              <a:buFont typeface="Arial"/>
              <a:buNone/>
            </a:pPr>
            <a:r>
              <a:rPr b="1" lang="en-GB" sz="1600">
                <a:solidFill>
                  <a:schemeClr val="dk1"/>
                </a:solidFill>
              </a:rPr>
              <a:t>b) Coding</a:t>
            </a:r>
            <a:endParaRPr b="1" sz="1600">
              <a:solidFill>
                <a:schemeClr val="dk1"/>
              </a:solidFill>
            </a:endParaRPr>
          </a:p>
          <a:p>
            <a:pPr indent="-330200" lvl="0" marL="457200" rtl="0" algn="l">
              <a:lnSpc>
                <a:spcPct val="95000"/>
              </a:lnSpc>
              <a:spcBef>
                <a:spcPts val="1200"/>
              </a:spcBef>
              <a:spcAft>
                <a:spcPts val="0"/>
              </a:spcAft>
              <a:buClr>
                <a:schemeClr val="dk1"/>
              </a:buClr>
              <a:buSzPts val="1600"/>
              <a:buChar char="●"/>
            </a:pPr>
            <a:r>
              <a:rPr lang="en-GB" sz="1600">
                <a:solidFill>
                  <a:schemeClr val="dk1"/>
                </a:solidFill>
              </a:rPr>
              <a:t>Develop features according to user stories and acceptance criteria.</a:t>
            </a:r>
            <a:endParaRPr sz="1600">
              <a:solidFill>
                <a:schemeClr val="dk1"/>
              </a:solidFill>
            </a:endParaRPr>
          </a:p>
          <a:p>
            <a:pPr indent="-330200" lvl="0" marL="457200" rtl="0" algn="l">
              <a:lnSpc>
                <a:spcPct val="95000"/>
              </a:lnSpc>
              <a:spcBef>
                <a:spcPts val="0"/>
              </a:spcBef>
              <a:spcAft>
                <a:spcPts val="0"/>
              </a:spcAft>
              <a:buClr>
                <a:schemeClr val="dk1"/>
              </a:buClr>
              <a:buSzPts val="1600"/>
              <a:buChar char="●"/>
            </a:pPr>
            <a:r>
              <a:rPr lang="en-GB" sz="1600">
                <a:solidFill>
                  <a:schemeClr val="dk1"/>
                </a:solidFill>
              </a:rPr>
              <a:t>Follow coding standards and best practices.</a:t>
            </a:r>
            <a:endParaRPr sz="1600">
              <a:solidFill>
                <a:schemeClr val="dk1"/>
              </a:solidFill>
            </a:endParaRPr>
          </a:p>
          <a:p>
            <a:pPr indent="0" lvl="0" marL="0" rtl="0" algn="l">
              <a:lnSpc>
                <a:spcPct val="95000"/>
              </a:lnSpc>
              <a:spcBef>
                <a:spcPts val="1200"/>
              </a:spcBef>
              <a:spcAft>
                <a:spcPts val="0"/>
              </a:spcAft>
              <a:buNone/>
            </a:pPr>
            <a:r>
              <a:t/>
            </a:r>
            <a:endParaRPr sz="1600">
              <a:solidFill>
                <a:schemeClr val="dk1"/>
              </a:solidFill>
            </a:endParaRPr>
          </a:p>
          <a:p>
            <a:pPr indent="0" lvl="0" marL="0" rtl="0" algn="l">
              <a:lnSpc>
                <a:spcPct val="95000"/>
              </a:lnSpc>
              <a:spcBef>
                <a:spcPts val="1200"/>
              </a:spcBef>
              <a:spcAft>
                <a:spcPts val="1200"/>
              </a:spcAft>
              <a:buSzPts val="935"/>
              <a:buNone/>
            </a:pPr>
            <a:r>
              <a:t/>
            </a:r>
            <a:endParaRPr sz="1600"/>
          </a:p>
        </p:txBody>
      </p:sp>
      <p:sp>
        <p:nvSpPr>
          <p:cNvPr id="146" name="Google Shape;146;p29"/>
          <p:cNvSpPr txBox="1"/>
          <p:nvPr/>
        </p:nvSpPr>
        <p:spPr>
          <a:xfrm>
            <a:off x="5266625" y="1227775"/>
            <a:ext cx="3588000" cy="38736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1400"/>
              </a:spcBef>
              <a:spcAft>
                <a:spcPts val="0"/>
              </a:spcAft>
              <a:buNone/>
            </a:pPr>
            <a:r>
              <a:rPr b="1" lang="en-GB" sz="1600">
                <a:solidFill>
                  <a:schemeClr val="dk1"/>
                </a:solidFill>
              </a:rPr>
              <a:t>c) Testing</a:t>
            </a:r>
            <a:endParaRPr b="1" sz="1600">
              <a:solidFill>
                <a:schemeClr val="dk1"/>
              </a:solidFill>
            </a:endParaRPr>
          </a:p>
          <a:p>
            <a:pPr indent="-330200" lvl="0" marL="457200" rtl="0" algn="l">
              <a:lnSpc>
                <a:spcPct val="95000"/>
              </a:lnSpc>
              <a:spcBef>
                <a:spcPts val="1200"/>
              </a:spcBef>
              <a:spcAft>
                <a:spcPts val="0"/>
              </a:spcAft>
              <a:buClr>
                <a:schemeClr val="dk1"/>
              </a:buClr>
              <a:buSzPts val="1600"/>
              <a:buChar char="●"/>
            </a:pPr>
            <a:r>
              <a:rPr lang="en-GB" sz="1600">
                <a:solidFill>
                  <a:schemeClr val="dk1"/>
                </a:solidFill>
              </a:rPr>
              <a:t>Perform unit testing, integration testing, and system testing.</a:t>
            </a:r>
            <a:endParaRPr sz="1600">
              <a:solidFill>
                <a:schemeClr val="dk1"/>
              </a:solidFill>
            </a:endParaRPr>
          </a:p>
          <a:p>
            <a:pPr indent="-330200" lvl="0" marL="457200" rtl="0" algn="l">
              <a:lnSpc>
                <a:spcPct val="95000"/>
              </a:lnSpc>
              <a:spcBef>
                <a:spcPts val="0"/>
              </a:spcBef>
              <a:spcAft>
                <a:spcPts val="0"/>
              </a:spcAft>
              <a:buClr>
                <a:schemeClr val="dk1"/>
              </a:buClr>
              <a:buSzPts val="1600"/>
              <a:buChar char="●"/>
            </a:pPr>
            <a:r>
              <a:rPr lang="en-GB" sz="1600">
                <a:solidFill>
                  <a:schemeClr val="dk1"/>
                </a:solidFill>
              </a:rPr>
              <a:t>Fix identified defects.</a:t>
            </a:r>
            <a:endParaRPr sz="1600">
              <a:solidFill>
                <a:schemeClr val="dk1"/>
              </a:solidFill>
            </a:endParaRPr>
          </a:p>
          <a:p>
            <a:pPr indent="0" lvl="0" marL="0" rtl="0" algn="l">
              <a:lnSpc>
                <a:spcPct val="95000"/>
              </a:lnSpc>
              <a:spcBef>
                <a:spcPts val="1400"/>
              </a:spcBef>
              <a:spcAft>
                <a:spcPts val="0"/>
              </a:spcAft>
              <a:buNone/>
            </a:pPr>
            <a:r>
              <a:rPr b="1" lang="en-GB" sz="1600">
                <a:solidFill>
                  <a:schemeClr val="dk1"/>
                </a:solidFill>
              </a:rPr>
              <a:t>d) Daily Scrum Meetings</a:t>
            </a:r>
            <a:endParaRPr b="1" sz="1600">
              <a:solidFill>
                <a:schemeClr val="dk1"/>
              </a:solidFill>
            </a:endParaRPr>
          </a:p>
          <a:p>
            <a:pPr indent="-330200" lvl="0" marL="457200" rtl="0" algn="l">
              <a:lnSpc>
                <a:spcPct val="95000"/>
              </a:lnSpc>
              <a:spcBef>
                <a:spcPts val="1200"/>
              </a:spcBef>
              <a:spcAft>
                <a:spcPts val="0"/>
              </a:spcAft>
              <a:buClr>
                <a:schemeClr val="dk1"/>
              </a:buClr>
              <a:buSzPts val="1600"/>
              <a:buChar char="●"/>
            </a:pPr>
            <a:r>
              <a:rPr lang="en-GB" sz="1600">
                <a:solidFill>
                  <a:schemeClr val="dk1"/>
                </a:solidFill>
              </a:rPr>
              <a:t>Conduct short daily meetings (usually 15 minutes).</a:t>
            </a:r>
            <a:endParaRPr sz="1600">
              <a:solidFill>
                <a:schemeClr val="dk1"/>
              </a:solidFill>
            </a:endParaRPr>
          </a:p>
          <a:p>
            <a:pPr indent="-330200" lvl="0" marL="457200" rtl="0" algn="l">
              <a:lnSpc>
                <a:spcPct val="95000"/>
              </a:lnSpc>
              <a:spcBef>
                <a:spcPts val="0"/>
              </a:spcBef>
              <a:spcAft>
                <a:spcPts val="0"/>
              </a:spcAft>
              <a:buClr>
                <a:schemeClr val="dk1"/>
              </a:buClr>
              <a:buSzPts val="1600"/>
              <a:buChar char="●"/>
            </a:pPr>
            <a:r>
              <a:rPr lang="en-GB" sz="1600">
                <a:solidFill>
                  <a:schemeClr val="dk1"/>
                </a:solidFill>
              </a:rPr>
              <a:t>Discuss:</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What was completed yesterday?</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What will be done today?</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Are there any impediments?</a:t>
            </a:r>
            <a:endParaRPr sz="1600"/>
          </a:p>
        </p:txBody>
      </p:sp>
      <p:sp>
        <p:nvSpPr>
          <p:cNvPr id="147" name="Google Shape;147;p29"/>
          <p:cNvSpPr txBox="1"/>
          <p:nvPr/>
        </p:nvSpPr>
        <p:spPr>
          <a:xfrm>
            <a:off x="52625" y="150475"/>
            <a:ext cx="8802000" cy="10773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1800"/>
              </a:spcBef>
              <a:spcAft>
                <a:spcPts val="0"/>
              </a:spcAft>
              <a:buNone/>
            </a:pPr>
            <a:r>
              <a:rPr b="1" lang="en-GB" sz="1600">
                <a:solidFill>
                  <a:schemeClr val="dk1"/>
                </a:solidFill>
              </a:rPr>
              <a:t>2. Sprint Development</a:t>
            </a:r>
            <a:endParaRPr b="1" sz="1600">
              <a:solidFill>
                <a:schemeClr val="dk1"/>
              </a:solidFill>
            </a:endParaRPr>
          </a:p>
          <a:p>
            <a:pPr indent="0" lvl="0" marL="0" rtl="0" algn="l">
              <a:lnSpc>
                <a:spcPct val="95000"/>
              </a:lnSpc>
              <a:spcBef>
                <a:spcPts val="1200"/>
              </a:spcBef>
              <a:spcAft>
                <a:spcPts val="1200"/>
              </a:spcAft>
              <a:buNone/>
            </a:pPr>
            <a:r>
              <a:rPr lang="en-GB" sz="1600">
                <a:solidFill>
                  <a:schemeClr val="dk1"/>
                </a:solidFill>
              </a:rPr>
              <a:t>Sprint Development is the phase where the development team works on the selected backlog items and creates a potentially shippable product increment.</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0"/>
          <p:cNvSpPr txBox="1"/>
          <p:nvPr>
            <p:ph idx="1" type="body"/>
          </p:nvPr>
        </p:nvSpPr>
        <p:spPr>
          <a:xfrm>
            <a:off x="311700" y="248475"/>
            <a:ext cx="8520600" cy="43203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GB" sz="1400">
                <a:solidFill>
                  <a:schemeClr val="dk1"/>
                </a:solidFill>
              </a:rPr>
              <a:t>e) Continuous Integration</a:t>
            </a:r>
            <a:endParaRPr b="1"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Frequently integrate code changes into a shared repository.</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Detect and resolve conflicts early.</a:t>
            </a:r>
            <a:endParaRPr sz="1400">
              <a:solidFill>
                <a:schemeClr val="dk1"/>
              </a:solidFill>
            </a:endParaRPr>
          </a:p>
          <a:p>
            <a:pPr indent="0" lvl="0" marL="0" rtl="0" algn="l">
              <a:spcBef>
                <a:spcPts val="1400"/>
              </a:spcBef>
              <a:spcAft>
                <a:spcPts val="0"/>
              </a:spcAft>
              <a:buClr>
                <a:schemeClr val="dk1"/>
              </a:buClr>
              <a:buSzPts val="1100"/>
              <a:buFont typeface="Arial"/>
              <a:buNone/>
            </a:pPr>
            <a:r>
              <a:rPr b="1" lang="en-GB" sz="1400">
                <a:solidFill>
                  <a:schemeClr val="dk1"/>
                </a:solidFill>
              </a:rPr>
              <a:t>f) Monitoring Progress</a:t>
            </a:r>
            <a:endParaRPr b="1"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Use Scrum boards, Kanban boards, and Burndown Charts.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Track task completion and sprint progress.</a:t>
            </a:r>
            <a:endParaRPr sz="1400">
              <a:solidFill>
                <a:schemeClr val="dk1"/>
              </a:solidFill>
            </a:endParaRPr>
          </a:p>
          <a:p>
            <a:pPr indent="0" lvl="0" marL="0" rtl="0" algn="l">
              <a:spcBef>
                <a:spcPts val="1400"/>
              </a:spcBef>
              <a:spcAft>
                <a:spcPts val="0"/>
              </a:spcAft>
              <a:buClr>
                <a:schemeClr val="dk1"/>
              </a:buClr>
              <a:buSzPts val="1100"/>
              <a:buFont typeface="Arial"/>
              <a:buNone/>
            </a:pPr>
            <a:r>
              <a:rPr b="1" lang="en-GB" sz="1400">
                <a:solidFill>
                  <a:schemeClr val="dk1"/>
                </a:solidFill>
              </a:rPr>
              <a:t>g) Quality Assurance</a:t>
            </a:r>
            <a:endParaRPr b="1"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Review code.</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Ensure adherence to requirements and quality standards.</a:t>
            </a:r>
            <a:endParaRPr sz="1400">
              <a:solidFill>
                <a:schemeClr val="dk1"/>
              </a:solidFill>
            </a:endParaRPr>
          </a:p>
          <a:p>
            <a:pPr indent="0" lvl="0" marL="0" rtl="0" algn="l">
              <a:spcBef>
                <a:spcPts val="1400"/>
              </a:spcBef>
              <a:spcAft>
                <a:spcPts val="0"/>
              </a:spcAft>
              <a:buClr>
                <a:schemeClr val="dk1"/>
              </a:buClr>
              <a:buSzPts val="1100"/>
              <a:buFont typeface="Arial"/>
              <a:buNone/>
            </a:pPr>
            <a:r>
              <a:rPr b="1" lang="en-GB" sz="1400">
                <a:solidFill>
                  <a:schemeClr val="dk1"/>
                </a:solidFill>
              </a:rPr>
              <a:t>Output of Sprint Development</a:t>
            </a:r>
            <a:endParaRPr b="1"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Completed User Stories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Tested Features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Potentially Shippable Product Increment</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Updated Documentation</a:t>
            </a:r>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1"/>
          <p:cNvSpPr txBox="1"/>
          <p:nvPr>
            <p:ph idx="1" type="body"/>
          </p:nvPr>
        </p:nvSpPr>
        <p:spPr>
          <a:xfrm>
            <a:off x="311700" y="89339"/>
            <a:ext cx="8520600" cy="2427600"/>
          </a:xfrm>
          <a:prstGeom prst="rect">
            <a:avLst/>
          </a:prstGeom>
        </p:spPr>
        <p:txBody>
          <a:bodyPr anchorCtr="0" anchor="t" bIns="91425" lIns="91425" spcFirstLastPara="1" rIns="91425" wrap="square" tIns="91425">
            <a:normAutofit lnSpcReduction="10000"/>
          </a:bodyPr>
          <a:lstStyle/>
          <a:p>
            <a:pPr indent="0" lvl="0" marL="0" rtl="0" algn="l">
              <a:spcBef>
                <a:spcPts val="1800"/>
              </a:spcBef>
              <a:spcAft>
                <a:spcPts val="0"/>
              </a:spcAft>
              <a:buClr>
                <a:schemeClr val="dk1"/>
              </a:buClr>
              <a:buSzPts val="1100"/>
              <a:buFont typeface="Arial"/>
              <a:buNone/>
            </a:pPr>
            <a:r>
              <a:rPr b="1" lang="en-GB" sz="1400">
                <a:solidFill>
                  <a:schemeClr val="dk1"/>
                </a:solidFill>
              </a:rPr>
              <a:t>Benefits of Proper Sprint Planning and Development</a:t>
            </a:r>
            <a:endParaRPr b="1" sz="1400">
              <a:solidFill>
                <a:schemeClr val="dk1"/>
              </a:solidFill>
            </a:endParaRPr>
          </a:p>
          <a:p>
            <a:pPr indent="-317500" lvl="0" marL="457200" rtl="0" algn="l">
              <a:spcBef>
                <a:spcPts val="1200"/>
              </a:spcBef>
              <a:spcAft>
                <a:spcPts val="0"/>
              </a:spcAft>
              <a:buClr>
                <a:schemeClr val="dk1"/>
              </a:buClr>
              <a:buSzPts val="1400"/>
              <a:buAutoNum type="arabicPeriod"/>
            </a:pPr>
            <a:r>
              <a:rPr lang="en-GB" sz="1400">
                <a:solidFill>
                  <a:schemeClr val="dk1"/>
                </a:solidFill>
              </a:rPr>
              <a:t>Improved project visibility.</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Better team collaboration.</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Faster delivery of working software.</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Reduced project risks.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Higher product quality.</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Increased customer satisfaction.</a:t>
            </a:r>
            <a:endParaRPr sz="1400">
              <a:solidFill>
                <a:schemeClr val="dk1"/>
              </a:solidFill>
            </a:endParaRPr>
          </a:p>
          <a:p>
            <a:pPr indent="0" lvl="0" marL="0" rtl="0" algn="l">
              <a:spcBef>
                <a:spcPts val="1400"/>
              </a:spcBef>
              <a:spcAft>
                <a:spcPts val="400"/>
              </a:spcAft>
              <a:buClr>
                <a:schemeClr val="dk1"/>
              </a:buClr>
              <a:buSzPts val="1100"/>
              <a:buFont typeface="Arial"/>
              <a:buNone/>
            </a:pPr>
            <a:r>
              <a:rPr b="1" lang="en-GB" sz="1400">
                <a:solidFill>
                  <a:schemeClr val="dk1"/>
                </a:solidFill>
              </a:rPr>
              <a:t>Flow of a Sprint</a:t>
            </a:r>
            <a:endParaRPr sz="1400"/>
          </a:p>
        </p:txBody>
      </p:sp>
      <p:pic>
        <p:nvPicPr>
          <p:cNvPr id="158" name="Google Shape;158;p31"/>
          <p:cNvPicPr preferRelativeResize="0"/>
          <p:nvPr/>
        </p:nvPicPr>
        <p:blipFill rotWithShape="1">
          <a:blip r:embed="rId3">
            <a:alphaModFix/>
          </a:blip>
          <a:srcRect b="0" l="5708" r="4678" t="0"/>
          <a:stretch/>
        </p:blipFill>
        <p:spPr>
          <a:xfrm>
            <a:off x="1942500" y="1831864"/>
            <a:ext cx="7201500" cy="325743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2"/>
          <p:cNvSpPr txBox="1"/>
          <p:nvPr>
            <p:ph idx="1" type="body"/>
          </p:nvPr>
        </p:nvSpPr>
        <p:spPr>
          <a:xfrm>
            <a:off x="311700" y="396700"/>
            <a:ext cx="8520600" cy="43776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Clr>
                <a:schemeClr val="dk1"/>
              </a:buClr>
              <a:buSzPts val="1100"/>
              <a:buFont typeface="Arial"/>
              <a:buNone/>
            </a:pPr>
            <a:r>
              <a:rPr b="1" lang="en-GB" sz="1400">
                <a:solidFill>
                  <a:schemeClr val="dk1"/>
                </a:solidFill>
              </a:rPr>
              <a:t>Testing and Daily Stand-up Meetings</a:t>
            </a:r>
            <a:endParaRPr b="1" sz="1400">
              <a:solidFill>
                <a:schemeClr val="dk1"/>
              </a:solidFill>
            </a:endParaRPr>
          </a:p>
          <a:p>
            <a:pPr indent="0" lvl="0" marL="0" rtl="0" algn="l">
              <a:spcBef>
                <a:spcPts val="1800"/>
              </a:spcBef>
              <a:spcAft>
                <a:spcPts val="0"/>
              </a:spcAft>
              <a:buClr>
                <a:schemeClr val="dk1"/>
              </a:buClr>
              <a:buSzPts val="1100"/>
              <a:buFont typeface="Arial"/>
              <a:buNone/>
            </a:pPr>
            <a:r>
              <a:rPr lang="en-GB" sz="1400">
                <a:solidFill>
                  <a:schemeClr val="dk1"/>
                </a:solidFill>
              </a:rPr>
              <a:t>1. Sprint Testing</a:t>
            </a:r>
            <a:endParaRPr sz="1400">
              <a:solidFill>
                <a:schemeClr val="dk1"/>
              </a:solidFill>
            </a:endParaRPr>
          </a:p>
          <a:p>
            <a:pPr indent="0" lvl="0" marL="0" rtl="0" algn="l">
              <a:spcBef>
                <a:spcPts val="1200"/>
              </a:spcBef>
              <a:spcAft>
                <a:spcPts val="0"/>
              </a:spcAft>
              <a:buClr>
                <a:schemeClr val="dk1"/>
              </a:buClr>
              <a:buSzPts val="1100"/>
              <a:buFont typeface="Arial"/>
              <a:buNone/>
            </a:pPr>
            <a:r>
              <a:rPr lang="en-GB" sz="1400">
                <a:solidFill>
                  <a:schemeClr val="dk1"/>
                </a:solidFill>
              </a:rPr>
              <a:t>Sprint Testing is the process of verifying and validating the functionality developed during a sprint to ensure that it meets the specified requirements and quality standards.</a:t>
            </a:r>
            <a:endParaRPr sz="1400">
              <a:solidFill>
                <a:schemeClr val="dk1"/>
              </a:solidFill>
            </a:endParaRPr>
          </a:p>
          <a:p>
            <a:pPr indent="0" lvl="0" marL="0" rtl="0" algn="l">
              <a:spcBef>
                <a:spcPts val="1400"/>
              </a:spcBef>
              <a:spcAft>
                <a:spcPts val="0"/>
              </a:spcAft>
              <a:buClr>
                <a:schemeClr val="dk1"/>
              </a:buClr>
              <a:buSzPts val="1100"/>
              <a:buFont typeface="Arial"/>
              <a:buNone/>
            </a:pPr>
            <a:r>
              <a:rPr lang="en-GB" sz="1400">
                <a:solidFill>
                  <a:schemeClr val="dk1"/>
                </a:solidFill>
              </a:rPr>
              <a:t>Objectives of Sprint Testing</a:t>
            </a:r>
            <a:endParaRPr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Ensure developed features work correctly.</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Identify and fix defects early.</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Verify that user stories meet acceptance criteria.</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Maintain product quality throughout development.</a:t>
            </a:r>
            <a:endParaRPr sz="1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3"/>
          <p:cNvSpPr txBox="1"/>
          <p:nvPr>
            <p:ph idx="1" type="body"/>
          </p:nvPr>
        </p:nvSpPr>
        <p:spPr>
          <a:xfrm>
            <a:off x="311700" y="273325"/>
            <a:ext cx="8520600" cy="46713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lang="en-GB" sz="1400">
                <a:solidFill>
                  <a:schemeClr val="dk1"/>
                </a:solidFill>
              </a:rPr>
              <a:t>Types of Testing in a Sprint</a:t>
            </a:r>
            <a:endParaRPr sz="1400">
              <a:solidFill>
                <a:schemeClr val="dk1"/>
              </a:solidFill>
            </a:endParaRPr>
          </a:p>
          <a:p>
            <a:pPr indent="0" lvl="0" marL="0" rtl="0" algn="l">
              <a:spcBef>
                <a:spcPts val="1400"/>
              </a:spcBef>
              <a:spcAft>
                <a:spcPts val="0"/>
              </a:spcAft>
              <a:buClr>
                <a:schemeClr val="dk1"/>
              </a:buClr>
              <a:buSzPts val="1100"/>
              <a:buFont typeface="Arial"/>
              <a:buNone/>
            </a:pPr>
            <a:r>
              <a:rPr lang="en-GB" sz="1400">
                <a:solidFill>
                  <a:schemeClr val="dk1"/>
                </a:solidFill>
              </a:rPr>
              <a:t>a) Unit Testing</a:t>
            </a:r>
            <a:endParaRPr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Tests individual components or modules.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Usually performed by developers.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Ensures each unit functions correctly.</a:t>
            </a:r>
            <a:endParaRPr sz="1400">
              <a:solidFill>
                <a:schemeClr val="dk1"/>
              </a:solidFill>
            </a:endParaRPr>
          </a:p>
          <a:p>
            <a:pPr indent="0" lvl="0" marL="0" rtl="0" algn="l">
              <a:spcBef>
                <a:spcPts val="1400"/>
              </a:spcBef>
              <a:spcAft>
                <a:spcPts val="0"/>
              </a:spcAft>
              <a:buClr>
                <a:schemeClr val="dk1"/>
              </a:buClr>
              <a:buSzPts val="1100"/>
              <a:buFont typeface="Arial"/>
              <a:buNone/>
            </a:pPr>
            <a:r>
              <a:rPr lang="en-GB" sz="1400">
                <a:solidFill>
                  <a:schemeClr val="dk1"/>
                </a:solidFill>
              </a:rPr>
              <a:t>b) Integration Testing</a:t>
            </a:r>
            <a:endParaRPr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Verifies interaction between different modules.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Detects interface and communication issues.</a:t>
            </a:r>
            <a:endParaRPr sz="1400">
              <a:solidFill>
                <a:schemeClr val="dk1"/>
              </a:solidFill>
            </a:endParaRPr>
          </a:p>
          <a:p>
            <a:pPr indent="0" lvl="0" marL="0" rtl="0" algn="l">
              <a:spcBef>
                <a:spcPts val="1400"/>
              </a:spcBef>
              <a:spcAft>
                <a:spcPts val="0"/>
              </a:spcAft>
              <a:buClr>
                <a:schemeClr val="dk1"/>
              </a:buClr>
              <a:buSzPts val="1100"/>
              <a:buFont typeface="Arial"/>
              <a:buNone/>
            </a:pPr>
            <a:r>
              <a:rPr lang="en-GB" sz="1400">
                <a:solidFill>
                  <a:schemeClr val="dk1"/>
                </a:solidFill>
              </a:rPr>
              <a:t>c) System Testing</a:t>
            </a:r>
            <a:endParaRPr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Tests the complete integrated system.</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Ensures the system meets functional requirements.</a:t>
            </a:r>
            <a:endParaRPr sz="1400">
              <a:solidFill>
                <a:schemeClr val="dk1"/>
              </a:solidFill>
            </a:endParaRPr>
          </a:p>
          <a:p>
            <a:pPr indent="0" lvl="0" marL="0" rtl="0" algn="l">
              <a:spcBef>
                <a:spcPts val="1400"/>
              </a:spcBef>
              <a:spcAft>
                <a:spcPts val="0"/>
              </a:spcAft>
              <a:buClr>
                <a:schemeClr val="dk1"/>
              </a:buClr>
              <a:buSzPts val="1100"/>
              <a:buFont typeface="Arial"/>
              <a:buNone/>
            </a:pPr>
            <a:r>
              <a:rPr lang="en-GB" sz="1400">
                <a:solidFill>
                  <a:schemeClr val="dk1"/>
                </a:solidFill>
              </a:rPr>
              <a:t>d) Acceptance Testing</a:t>
            </a:r>
            <a:endParaRPr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Validates whether the feature satisfies customer or Product Owner expectations.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Based on predefined acceptance criteria.</a:t>
            </a:r>
            <a:endParaRPr sz="1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4"/>
          <p:cNvSpPr txBox="1"/>
          <p:nvPr>
            <p:ph idx="1" type="body"/>
          </p:nvPr>
        </p:nvSpPr>
        <p:spPr>
          <a:xfrm>
            <a:off x="311700" y="223625"/>
            <a:ext cx="8520600" cy="46341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GB" sz="1400">
                <a:solidFill>
                  <a:schemeClr val="dk1"/>
                </a:solidFill>
              </a:rPr>
              <a:t>e) Regression Testing</a:t>
            </a:r>
            <a:endParaRPr b="1"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Ensures new changes do not negatively affect existing functionality.</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Re-tests previously working features.</a:t>
            </a:r>
            <a:endParaRPr sz="1400">
              <a:solidFill>
                <a:schemeClr val="dk1"/>
              </a:solidFill>
            </a:endParaRPr>
          </a:p>
          <a:p>
            <a:pPr indent="0" lvl="0" marL="0" rtl="0" algn="l">
              <a:spcBef>
                <a:spcPts val="1400"/>
              </a:spcBef>
              <a:spcAft>
                <a:spcPts val="0"/>
              </a:spcAft>
              <a:buClr>
                <a:schemeClr val="dk1"/>
              </a:buClr>
              <a:buSzPts val="1100"/>
              <a:buFont typeface="Arial"/>
              <a:buNone/>
            </a:pPr>
            <a:r>
              <a:rPr b="1" lang="en-GB" sz="1400">
                <a:solidFill>
                  <a:schemeClr val="dk1"/>
                </a:solidFill>
              </a:rPr>
              <a:t>Sprint Testing Process</a:t>
            </a:r>
            <a:endParaRPr b="1" sz="1400">
              <a:solidFill>
                <a:schemeClr val="dk1"/>
              </a:solidFill>
            </a:endParaRPr>
          </a:p>
          <a:p>
            <a:pPr indent="-317500" lvl="0" marL="457200" rtl="0" algn="l">
              <a:spcBef>
                <a:spcPts val="1200"/>
              </a:spcBef>
              <a:spcAft>
                <a:spcPts val="0"/>
              </a:spcAft>
              <a:buClr>
                <a:schemeClr val="dk1"/>
              </a:buClr>
              <a:buSzPts val="1400"/>
              <a:buAutoNum type="arabicPeriod"/>
            </a:pPr>
            <a:r>
              <a:rPr lang="en-GB" sz="1400">
                <a:solidFill>
                  <a:schemeClr val="dk1"/>
                </a:solidFill>
              </a:rPr>
              <a:t>Review user stories and acceptance criteria.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Create test cases and test data.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Execute tests.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Record and report defects.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Fix defects and retest.</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Verify completion before sprint review.</a:t>
            </a:r>
            <a:endParaRPr sz="1400">
              <a:solidFill>
                <a:schemeClr val="dk1"/>
              </a:solidFill>
            </a:endParaRPr>
          </a:p>
          <a:p>
            <a:pPr indent="0" lvl="0" marL="0" rtl="0" algn="l">
              <a:spcBef>
                <a:spcPts val="1400"/>
              </a:spcBef>
              <a:spcAft>
                <a:spcPts val="0"/>
              </a:spcAft>
              <a:buClr>
                <a:schemeClr val="dk1"/>
              </a:buClr>
              <a:buSzPts val="1100"/>
              <a:buFont typeface="Arial"/>
              <a:buNone/>
            </a:pPr>
            <a:r>
              <a:rPr b="1" lang="en-GB" sz="1400">
                <a:solidFill>
                  <a:schemeClr val="dk1"/>
                </a:solidFill>
              </a:rPr>
              <a:t>Benefits of Sprint Testing</a:t>
            </a:r>
            <a:endParaRPr b="1"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Early defect detection.</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Improved software quality.</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Reduced development costs.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Increased customer satisfaction.</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Faster release cycles.</a:t>
            </a:r>
            <a:endParaRPr sz="1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5"/>
          <p:cNvSpPr txBox="1"/>
          <p:nvPr>
            <p:ph idx="1" type="body"/>
          </p:nvPr>
        </p:nvSpPr>
        <p:spPr>
          <a:xfrm>
            <a:off x="311700" y="260900"/>
            <a:ext cx="8520600" cy="47088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Clr>
                <a:schemeClr val="dk1"/>
              </a:buClr>
              <a:buSzPts val="1100"/>
              <a:buFont typeface="Arial"/>
              <a:buNone/>
            </a:pPr>
            <a:r>
              <a:rPr b="1" lang="en-GB" sz="1400">
                <a:solidFill>
                  <a:schemeClr val="dk1"/>
                </a:solidFill>
              </a:rPr>
              <a:t>2. Daily Stand-up Meetings (Daily Scrum)</a:t>
            </a:r>
            <a:endParaRPr b="1" sz="1400">
              <a:solidFill>
                <a:schemeClr val="dk1"/>
              </a:solidFill>
            </a:endParaRPr>
          </a:p>
          <a:p>
            <a:pPr indent="0" lvl="0" marL="0" rtl="0" algn="l">
              <a:spcBef>
                <a:spcPts val="1200"/>
              </a:spcBef>
              <a:spcAft>
                <a:spcPts val="0"/>
              </a:spcAft>
              <a:buClr>
                <a:schemeClr val="dk1"/>
              </a:buClr>
              <a:buSzPts val="1100"/>
              <a:buFont typeface="Arial"/>
              <a:buNone/>
            </a:pPr>
            <a:r>
              <a:rPr lang="en-GB" sz="1400">
                <a:solidFill>
                  <a:schemeClr val="dk1"/>
                </a:solidFill>
              </a:rPr>
              <a:t>A </a:t>
            </a:r>
            <a:r>
              <a:rPr b="1" lang="en-GB" sz="1400">
                <a:solidFill>
                  <a:schemeClr val="dk1"/>
                </a:solidFill>
              </a:rPr>
              <a:t>Daily Stand-up Meeting</a:t>
            </a:r>
            <a:r>
              <a:rPr lang="en-GB" sz="1400">
                <a:solidFill>
                  <a:schemeClr val="dk1"/>
                </a:solidFill>
              </a:rPr>
              <a:t> is a short, time-boxed meeting conducted every day during the sprint to track progress and coordinate team activities.</a:t>
            </a:r>
            <a:endParaRPr sz="1400">
              <a:solidFill>
                <a:schemeClr val="dk1"/>
              </a:solidFill>
            </a:endParaRPr>
          </a:p>
          <a:p>
            <a:pPr indent="0" lvl="0" marL="0" rtl="0" algn="l">
              <a:spcBef>
                <a:spcPts val="1400"/>
              </a:spcBef>
              <a:spcAft>
                <a:spcPts val="0"/>
              </a:spcAft>
              <a:buClr>
                <a:schemeClr val="dk1"/>
              </a:buClr>
              <a:buSzPts val="1100"/>
              <a:buFont typeface="Arial"/>
              <a:buNone/>
            </a:pPr>
            <a:r>
              <a:rPr b="1" lang="en-GB" sz="1400">
                <a:solidFill>
                  <a:schemeClr val="dk1"/>
                </a:solidFill>
              </a:rPr>
              <a:t>Objectives</a:t>
            </a:r>
            <a:endParaRPr b="1"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Synchronize team efforts.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Share progress updates.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Identify obstacles or blockers.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Plan work for the next 24 hours.</a:t>
            </a:r>
            <a:endParaRPr sz="1400">
              <a:solidFill>
                <a:schemeClr val="dk1"/>
              </a:solidFill>
            </a:endParaRPr>
          </a:p>
          <a:p>
            <a:pPr indent="0" lvl="0" marL="0" rtl="0" algn="l">
              <a:spcBef>
                <a:spcPts val="1400"/>
              </a:spcBef>
              <a:spcAft>
                <a:spcPts val="0"/>
              </a:spcAft>
              <a:buClr>
                <a:schemeClr val="dk1"/>
              </a:buClr>
              <a:buSzPts val="1100"/>
              <a:buFont typeface="Arial"/>
              <a:buNone/>
            </a:pPr>
            <a:r>
              <a:rPr b="1" lang="en-GB" sz="1400">
                <a:solidFill>
                  <a:schemeClr val="dk1"/>
                </a:solidFill>
              </a:rPr>
              <a:t>Participants</a:t>
            </a:r>
            <a:endParaRPr b="1"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Development Team</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Scrum Master</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Product Owner (optional)</a:t>
            </a:r>
            <a:endParaRPr sz="1400">
              <a:solidFill>
                <a:schemeClr val="dk1"/>
              </a:solidFill>
            </a:endParaRPr>
          </a:p>
          <a:p>
            <a:pPr indent="0" lvl="0" marL="0" rtl="0" algn="l">
              <a:spcBef>
                <a:spcPts val="1400"/>
              </a:spcBef>
              <a:spcAft>
                <a:spcPts val="0"/>
              </a:spcAft>
              <a:buClr>
                <a:schemeClr val="dk1"/>
              </a:buClr>
              <a:buSzPts val="1100"/>
              <a:buFont typeface="Arial"/>
              <a:buNone/>
            </a:pPr>
            <a:r>
              <a:rPr b="1" lang="en-GB" sz="1400">
                <a:solidFill>
                  <a:schemeClr val="dk1"/>
                </a:solidFill>
              </a:rPr>
              <a:t>Duration</a:t>
            </a:r>
            <a:endParaRPr b="1"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Usually </a:t>
            </a:r>
            <a:r>
              <a:rPr b="1" lang="en-GB" sz="1400">
                <a:solidFill>
                  <a:schemeClr val="dk1"/>
                </a:solidFill>
              </a:rPr>
              <a:t>15 minutes</a:t>
            </a:r>
            <a:r>
              <a:rPr lang="en-GB" sz="1400">
                <a:solidFill>
                  <a:schemeClr val="dk1"/>
                </a:solidFill>
              </a:rPr>
              <a:t>.</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Conducted at the same time and place each day.</a:t>
            </a:r>
            <a:endParaRPr sz="1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GB" sz="1300">
                <a:solidFill>
                  <a:schemeClr val="dk1"/>
                </a:solidFill>
              </a:rPr>
              <a:t>Three Key Questions</a:t>
            </a:r>
            <a:endParaRPr b="1" sz="13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Each team member answers:</a:t>
            </a:r>
            <a:endParaRPr sz="1100">
              <a:solidFill>
                <a:schemeClr val="dk1"/>
              </a:solidFill>
            </a:endParaRPr>
          </a:p>
          <a:p>
            <a:pPr indent="-298450" lvl="0" marL="457200" rtl="0" algn="l">
              <a:spcBef>
                <a:spcPts val="1200"/>
              </a:spcBef>
              <a:spcAft>
                <a:spcPts val="0"/>
              </a:spcAft>
              <a:buClr>
                <a:schemeClr val="dk1"/>
              </a:buClr>
              <a:buSzPts val="1100"/>
              <a:buAutoNum type="arabicPeriod"/>
            </a:pPr>
            <a:r>
              <a:rPr b="1" lang="en-GB" sz="1100">
                <a:solidFill>
                  <a:schemeClr val="dk1"/>
                </a:solidFill>
              </a:rPr>
              <a:t>What did I complete yesterday?</a:t>
            </a:r>
            <a:endParaRPr b="1"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What will I work on today?</a:t>
            </a:r>
            <a:endParaRPr b="1"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Are there any impediments or blockers?</a:t>
            </a:r>
            <a:endParaRPr b="1"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7"/>
          <p:cNvSpPr txBox="1"/>
          <p:nvPr>
            <p:ph idx="1" type="body"/>
          </p:nvPr>
        </p:nvSpPr>
        <p:spPr>
          <a:xfrm>
            <a:off x="311700" y="298175"/>
            <a:ext cx="4722300" cy="46683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GB" sz="1600">
                <a:solidFill>
                  <a:schemeClr val="dk1"/>
                </a:solidFill>
              </a:rPr>
              <a:t>Example</a:t>
            </a:r>
            <a:endParaRPr b="1" sz="1600">
              <a:solidFill>
                <a:schemeClr val="dk1"/>
              </a:solidFill>
            </a:endParaRPr>
          </a:p>
          <a:p>
            <a:pPr indent="0" lvl="0" marL="0" rtl="0" algn="l">
              <a:spcBef>
                <a:spcPts val="1200"/>
              </a:spcBef>
              <a:spcAft>
                <a:spcPts val="0"/>
              </a:spcAft>
              <a:buClr>
                <a:schemeClr val="dk1"/>
              </a:buClr>
              <a:buSzPts val="1100"/>
              <a:buFont typeface="Arial"/>
              <a:buNone/>
            </a:pPr>
            <a:r>
              <a:rPr b="1" lang="en-GB" sz="1600">
                <a:solidFill>
                  <a:schemeClr val="dk1"/>
                </a:solidFill>
              </a:rPr>
              <a:t>Developer A:</a:t>
            </a:r>
            <a:endParaRPr b="1" sz="1600">
              <a:solidFill>
                <a:schemeClr val="dk1"/>
              </a:solidFill>
            </a:endParaRPr>
          </a:p>
          <a:p>
            <a:pPr indent="-330200" lvl="0" marL="457200" rtl="0" algn="l">
              <a:spcBef>
                <a:spcPts val="1200"/>
              </a:spcBef>
              <a:spcAft>
                <a:spcPts val="0"/>
              </a:spcAft>
              <a:buClr>
                <a:schemeClr val="dk1"/>
              </a:buClr>
              <a:buSzPts val="1600"/>
              <a:buChar char="●"/>
            </a:pPr>
            <a:r>
              <a:rPr lang="en-GB" sz="1600">
                <a:solidFill>
                  <a:schemeClr val="dk1"/>
                </a:solidFill>
              </a:rPr>
              <a:t>Completed login module yesterday.</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Will start password reset feature today.</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No blockers.</a:t>
            </a:r>
            <a:endParaRPr sz="1600">
              <a:solidFill>
                <a:schemeClr val="dk1"/>
              </a:solidFill>
            </a:endParaRPr>
          </a:p>
          <a:p>
            <a:pPr indent="0" lvl="0" marL="0" rtl="0" algn="l">
              <a:spcBef>
                <a:spcPts val="1400"/>
              </a:spcBef>
              <a:spcAft>
                <a:spcPts val="0"/>
              </a:spcAft>
              <a:buClr>
                <a:schemeClr val="dk1"/>
              </a:buClr>
              <a:buSzPts val="1100"/>
              <a:buFont typeface="Arial"/>
              <a:buNone/>
            </a:pPr>
            <a:r>
              <a:rPr b="1" lang="en-GB" sz="1600">
                <a:solidFill>
                  <a:schemeClr val="dk1"/>
                </a:solidFill>
              </a:rPr>
              <a:t>Benefits of Daily Stand-up Meetings</a:t>
            </a:r>
            <a:endParaRPr b="1" sz="1600">
              <a:solidFill>
                <a:schemeClr val="dk1"/>
              </a:solidFill>
            </a:endParaRPr>
          </a:p>
          <a:p>
            <a:pPr indent="-330200" lvl="0" marL="457200" rtl="0" algn="l">
              <a:spcBef>
                <a:spcPts val="1200"/>
              </a:spcBef>
              <a:spcAft>
                <a:spcPts val="0"/>
              </a:spcAft>
              <a:buClr>
                <a:schemeClr val="dk1"/>
              </a:buClr>
              <a:buSzPts val="1600"/>
              <a:buChar char="●"/>
            </a:pPr>
            <a:r>
              <a:rPr lang="en-GB" sz="1600">
                <a:solidFill>
                  <a:schemeClr val="dk1"/>
                </a:solidFill>
              </a:rPr>
              <a:t>Improves communication and collaboration.</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Provides visibility into project progress.</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Identifies issues early.</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Enhances accountability.</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Helps keep the sprint on track.</a:t>
            </a:r>
            <a:endParaRPr sz="1600"/>
          </a:p>
        </p:txBody>
      </p:sp>
      <p:sp>
        <p:nvSpPr>
          <p:cNvPr id="189" name="Google Shape;189;p37"/>
          <p:cNvSpPr txBox="1"/>
          <p:nvPr/>
        </p:nvSpPr>
        <p:spPr>
          <a:xfrm>
            <a:off x="5034000" y="642926"/>
            <a:ext cx="3789300" cy="20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600">
                <a:solidFill>
                  <a:schemeClr val="dk1"/>
                </a:solidFill>
              </a:rPr>
              <a:t>Tester B:</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Tested registration functionality.</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Will perform regression testing today.</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Waiting for deployment environment access.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8"/>
          <p:cNvSpPr txBox="1"/>
          <p:nvPr>
            <p:ph idx="1" type="body"/>
          </p:nvPr>
        </p:nvSpPr>
        <p:spPr>
          <a:xfrm>
            <a:off x="311700" y="335450"/>
            <a:ext cx="8520600" cy="42333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GB" sz="1900">
                <a:solidFill>
                  <a:schemeClr val="dk1"/>
                </a:solidFill>
              </a:rPr>
              <a:t>Relationship Between Testing and Daily Stand-ups</a:t>
            </a:r>
            <a:endParaRPr b="1" sz="1900">
              <a:solidFill>
                <a:schemeClr val="dk1"/>
              </a:solidFill>
            </a:endParaRPr>
          </a:p>
          <a:p>
            <a:pPr indent="-311150" lvl="0" marL="457200" rtl="0" algn="l">
              <a:spcBef>
                <a:spcPts val="1200"/>
              </a:spcBef>
              <a:spcAft>
                <a:spcPts val="0"/>
              </a:spcAft>
              <a:buClr>
                <a:schemeClr val="dk1"/>
              </a:buClr>
              <a:buSzPts val="1300"/>
              <a:buChar char="●"/>
            </a:pPr>
            <a:r>
              <a:rPr b="1" lang="en-GB" sz="1300">
                <a:solidFill>
                  <a:schemeClr val="dk1"/>
                </a:solidFill>
              </a:rPr>
              <a:t>Testing progress is discussed during daily stand-ups.</a:t>
            </a:r>
            <a:endParaRPr b="1"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Testers can report defects and blockers immediately.</a:t>
            </a: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Developers and testers coordinate fixes quickly.</a:t>
            </a: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Helps maintain continuous quality throughout the sprint.</a:t>
            </a:r>
            <a:endParaRPr sz="1300">
              <a:solidFill>
                <a:schemeClr val="dk1"/>
              </a:solidFill>
            </a:endParaRPr>
          </a:p>
          <a:p>
            <a:pPr indent="0" lvl="0" marL="0" rtl="0" algn="l">
              <a:spcBef>
                <a:spcPts val="1400"/>
              </a:spcBef>
              <a:spcAft>
                <a:spcPts val="0"/>
              </a:spcAft>
              <a:buClr>
                <a:schemeClr val="dk1"/>
              </a:buClr>
              <a:buSzPts val="1100"/>
              <a:buFont typeface="Arial"/>
              <a:buNone/>
            </a:pPr>
            <a:r>
              <a:rPr b="1" lang="en-GB" sz="1500">
                <a:solidFill>
                  <a:schemeClr val="dk1"/>
                </a:solidFill>
              </a:rPr>
              <a:t>Sprint Workflow</a:t>
            </a:r>
            <a:endParaRPr b="1" sz="1500">
              <a:solidFill>
                <a:schemeClr val="dk1"/>
              </a:solidFill>
            </a:endParaRPr>
          </a:p>
          <a:p>
            <a:pPr indent="0" lvl="0" marL="0" rtl="0" algn="l">
              <a:spcBef>
                <a:spcPts val="1200"/>
              </a:spcBef>
              <a:spcAft>
                <a:spcPts val="0"/>
              </a:spcAft>
              <a:buClr>
                <a:schemeClr val="dk1"/>
              </a:buClr>
              <a:buSzPts val="1100"/>
              <a:buFont typeface="Arial"/>
              <a:buNone/>
            </a:pPr>
            <a:r>
              <a:rPr b="1" lang="en-GB" sz="1300">
                <a:solidFill>
                  <a:schemeClr val="dk1"/>
                </a:solidFill>
              </a:rPr>
              <a:t>Sprint Planning → Development → Testing → Daily Stand-up Meetings → Sprint Review → Sprint Retrospective → Next Sprint</a:t>
            </a:r>
            <a:endParaRPr b="1" sz="1300">
              <a:solidFill>
                <a:schemeClr val="dk1"/>
              </a:solidFill>
            </a:endParaRPr>
          </a:p>
          <a:p>
            <a:pPr indent="0" lvl="0" marL="0" rtl="0" algn="l">
              <a:spcBef>
                <a:spcPts val="1200"/>
              </a:spcBef>
              <a:spcAft>
                <a:spcPts val="0"/>
              </a:spcAft>
              <a:buClr>
                <a:schemeClr val="dk1"/>
              </a:buClr>
              <a:buSzPts val="1100"/>
              <a:buFont typeface="Arial"/>
              <a:buNone/>
            </a:pPr>
            <a:r>
              <a:rPr lang="en-GB" sz="1300">
                <a:solidFill>
                  <a:schemeClr val="dk1"/>
                </a:solidFill>
              </a:rPr>
              <a:t>Both </a:t>
            </a:r>
            <a:r>
              <a:rPr b="1" lang="en-GB" sz="1300">
                <a:solidFill>
                  <a:schemeClr val="dk1"/>
                </a:solidFill>
              </a:rPr>
              <a:t>Sprint Testing</a:t>
            </a:r>
            <a:r>
              <a:rPr lang="en-GB" sz="1300">
                <a:solidFill>
                  <a:schemeClr val="dk1"/>
                </a:solidFill>
              </a:rPr>
              <a:t> and </a:t>
            </a:r>
            <a:r>
              <a:rPr b="1" lang="en-GB" sz="1300">
                <a:solidFill>
                  <a:schemeClr val="dk1"/>
                </a:solidFill>
              </a:rPr>
              <a:t>Daily Stand-up Meetings</a:t>
            </a:r>
            <a:r>
              <a:rPr lang="en-GB" sz="1300">
                <a:solidFill>
                  <a:schemeClr val="dk1"/>
                </a:solidFill>
              </a:rPr>
              <a:t> are essential Agile practices that ensure continuous progress, high-quality software, and effective team collaboration.</a:t>
            </a:r>
            <a:endParaRPr sz="1300">
              <a:solidFill>
                <a:schemeClr val="dk1"/>
              </a:solidFill>
            </a:endParaRPr>
          </a:p>
          <a:p>
            <a:pPr indent="0" lvl="0" marL="0" rtl="0" algn="l">
              <a:spcBef>
                <a:spcPts val="1200"/>
              </a:spcBef>
              <a:spcAft>
                <a:spcPts val="1200"/>
              </a:spcAft>
              <a:buNone/>
            </a:pPr>
            <a:r>
              <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Progress Tracking and Velocity Tracking </a:t>
            </a:r>
            <a:endParaRPr b="1"/>
          </a:p>
        </p:txBody>
      </p:sp>
      <p:sp>
        <p:nvSpPr>
          <p:cNvPr id="200" name="Google Shape;200;p39"/>
          <p:cNvSpPr txBox="1"/>
          <p:nvPr>
            <p:ph idx="1" type="body"/>
          </p:nvPr>
        </p:nvSpPr>
        <p:spPr>
          <a:xfrm>
            <a:off x="311700" y="1152475"/>
            <a:ext cx="8520600" cy="3990900"/>
          </a:xfrm>
          <a:prstGeom prst="rect">
            <a:avLst/>
          </a:prstGeom>
        </p:spPr>
        <p:txBody>
          <a:bodyPr anchorCtr="0" anchor="t" bIns="91425" lIns="91425" spcFirstLastPara="1" rIns="91425" wrap="square" tIns="91425">
            <a:normAutofit lnSpcReduction="10000"/>
          </a:bodyPr>
          <a:lstStyle/>
          <a:p>
            <a:pPr indent="0" lvl="0" marL="0" rtl="0" algn="l">
              <a:spcBef>
                <a:spcPts val="1800"/>
              </a:spcBef>
              <a:spcAft>
                <a:spcPts val="0"/>
              </a:spcAft>
              <a:buClr>
                <a:schemeClr val="dk1"/>
              </a:buClr>
              <a:buSzPts val="1100"/>
              <a:buFont typeface="Arial"/>
              <a:buNone/>
            </a:pPr>
            <a:r>
              <a:rPr b="1" lang="en-GB" sz="1700">
                <a:solidFill>
                  <a:schemeClr val="dk1"/>
                </a:solidFill>
              </a:rPr>
              <a:t>1. Progress Tracking in a Sprint</a:t>
            </a:r>
            <a:endParaRPr b="1" sz="17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Progress Tracking</a:t>
            </a:r>
            <a:r>
              <a:rPr lang="en-GB" sz="1100">
                <a:solidFill>
                  <a:schemeClr val="dk1"/>
                </a:solidFill>
              </a:rPr>
              <a:t> is the process of monitoring and measuring the advancement of work during a sprint to ensure that the team is on track to achieve the sprint goal.</a:t>
            </a:r>
            <a:endParaRPr sz="1100">
              <a:solidFill>
                <a:schemeClr val="dk1"/>
              </a:solidFill>
            </a:endParaRPr>
          </a:p>
          <a:p>
            <a:pPr indent="0" lvl="0" marL="0" rtl="0" algn="l">
              <a:spcBef>
                <a:spcPts val="1400"/>
              </a:spcBef>
              <a:spcAft>
                <a:spcPts val="0"/>
              </a:spcAft>
              <a:buClr>
                <a:schemeClr val="dk1"/>
              </a:buClr>
              <a:buSzPts val="1100"/>
              <a:buFont typeface="Arial"/>
              <a:buNone/>
            </a:pPr>
            <a:r>
              <a:rPr b="1" lang="en-GB" sz="1300">
                <a:solidFill>
                  <a:schemeClr val="dk1"/>
                </a:solidFill>
              </a:rPr>
              <a:t>Objectives</a:t>
            </a:r>
            <a:endParaRPr b="1"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Monitor task completion.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Identify delays and bottlenecks.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Ensure sprint goals are achieved on time.</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Improve team transparency and accountability.</a:t>
            </a:r>
            <a:endParaRPr sz="1100">
              <a:solidFill>
                <a:schemeClr val="dk1"/>
              </a:solidFill>
            </a:endParaRPr>
          </a:p>
          <a:p>
            <a:pPr indent="0" lvl="0" marL="0" rtl="0" algn="l">
              <a:spcBef>
                <a:spcPts val="1400"/>
              </a:spcBef>
              <a:spcAft>
                <a:spcPts val="0"/>
              </a:spcAft>
              <a:buClr>
                <a:schemeClr val="dk1"/>
              </a:buClr>
              <a:buSzPts val="1100"/>
              <a:buFont typeface="Arial"/>
              <a:buNone/>
            </a:pPr>
            <a:r>
              <a:rPr b="1" lang="en-GB" sz="1300">
                <a:solidFill>
                  <a:schemeClr val="dk1"/>
                </a:solidFill>
              </a:rPr>
              <a:t>Methods of Progress Tracking</a:t>
            </a:r>
            <a:endParaRPr b="1" sz="1300">
              <a:solidFill>
                <a:schemeClr val="dk1"/>
              </a:solidFill>
            </a:endParaRPr>
          </a:p>
          <a:p>
            <a:pPr indent="0" lvl="0" marL="0" rtl="0" algn="l">
              <a:spcBef>
                <a:spcPts val="1400"/>
              </a:spcBef>
              <a:spcAft>
                <a:spcPts val="0"/>
              </a:spcAft>
              <a:buClr>
                <a:schemeClr val="dk1"/>
              </a:buClr>
              <a:buSzPts val="1100"/>
              <a:buFont typeface="Arial"/>
              <a:buNone/>
            </a:pPr>
            <a:r>
              <a:rPr b="1" lang="en-GB" sz="1300">
                <a:solidFill>
                  <a:schemeClr val="dk1"/>
                </a:solidFill>
              </a:rPr>
              <a:t>a) Sprint Backlog Monitoring</a:t>
            </a:r>
            <a:endParaRPr b="1"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Track the status of tasks assigned during sprint planning.</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Update task progress regularly.</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0"/>
          <p:cNvSpPr txBox="1"/>
          <p:nvPr>
            <p:ph idx="1" type="body"/>
          </p:nvPr>
        </p:nvSpPr>
        <p:spPr>
          <a:xfrm>
            <a:off x="311700" y="149075"/>
            <a:ext cx="7266900" cy="487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1400"/>
              </a:spcBef>
              <a:spcAft>
                <a:spcPts val="0"/>
              </a:spcAft>
              <a:buClr>
                <a:schemeClr val="dk1"/>
              </a:buClr>
              <a:buSzPct val="78571"/>
              <a:buFont typeface="Arial"/>
              <a:buNone/>
            </a:pPr>
            <a:r>
              <a:rPr b="1" lang="en-GB" sz="1400">
                <a:solidFill>
                  <a:schemeClr val="dk1"/>
                </a:solidFill>
              </a:rPr>
              <a:t>b) Task Board (Scrum Board/Kanban Board)</a:t>
            </a:r>
            <a:endParaRPr b="1" sz="1400">
              <a:solidFill>
                <a:schemeClr val="dk1"/>
              </a:solidFill>
            </a:endParaRPr>
          </a:p>
          <a:p>
            <a:pPr indent="0" lvl="0" marL="0" rtl="0" algn="l">
              <a:spcBef>
                <a:spcPts val="1200"/>
              </a:spcBef>
              <a:spcAft>
                <a:spcPts val="0"/>
              </a:spcAft>
              <a:buClr>
                <a:schemeClr val="dk1"/>
              </a:buClr>
              <a:buSzPct val="78571"/>
              <a:buFont typeface="Arial"/>
              <a:buNone/>
            </a:pPr>
            <a:r>
              <a:rPr lang="en-GB" sz="1400">
                <a:solidFill>
                  <a:schemeClr val="dk1"/>
                </a:solidFill>
              </a:rPr>
              <a:t>Tasks are categorized into:</a:t>
            </a:r>
            <a:endParaRPr sz="1400">
              <a:solidFill>
                <a:schemeClr val="dk1"/>
              </a:solidFill>
            </a:endParaRPr>
          </a:p>
          <a:p>
            <a:pPr indent="-310833" lvl="0" marL="457200" rtl="0" algn="l">
              <a:spcBef>
                <a:spcPts val="1200"/>
              </a:spcBef>
              <a:spcAft>
                <a:spcPts val="0"/>
              </a:spcAft>
              <a:buClr>
                <a:schemeClr val="dk1"/>
              </a:buClr>
              <a:buSzPct val="100000"/>
              <a:buChar char="●"/>
            </a:pPr>
            <a:r>
              <a:rPr lang="en-GB" sz="1400">
                <a:solidFill>
                  <a:schemeClr val="dk1"/>
                </a:solidFill>
              </a:rPr>
              <a:t>To Do</a:t>
            </a:r>
            <a:endParaRPr sz="1400">
              <a:solidFill>
                <a:schemeClr val="dk1"/>
              </a:solidFill>
            </a:endParaRPr>
          </a:p>
          <a:p>
            <a:pPr indent="-310833" lvl="0" marL="457200" rtl="0" algn="l">
              <a:spcBef>
                <a:spcPts val="0"/>
              </a:spcBef>
              <a:spcAft>
                <a:spcPts val="0"/>
              </a:spcAft>
              <a:buClr>
                <a:schemeClr val="dk1"/>
              </a:buClr>
              <a:buSzPct val="100000"/>
              <a:buChar char="●"/>
            </a:pPr>
            <a:r>
              <a:rPr lang="en-GB" sz="1400">
                <a:solidFill>
                  <a:schemeClr val="dk1"/>
                </a:solidFill>
              </a:rPr>
              <a:t>In Progress</a:t>
            </a:r>
            <a:endParaRPr sz="1400">
              <a:solidFill>
                <a:schemeClr val="dk1"/>
              </a:solidFill>
            </a:endParaRPr>
          </a:p>
          <a:p>
            <a:pPr indent="-310833" lvl="0" marL="457200" rtl="0" algn="l">
              <a:spcBef>
                <a:spcPts val="0"/>
              </a:spcBef>
              <a:spcAft>
                <a:spcPts val="0"/>
              </a:spcAft>
              <a:buClr>
                <a:schemeClr val="dk1"/>
              </a:buClr>
              <a:buSzPct val="100000"/>
              <a:buChar char="●"/>
            </a:pPr>
            <a:r>
              <a:rPr lang="en-GB" sz="1400">
                <a:solidFill>
                  <a:schemeClr val="dk1"/>
                </a:solidFill>
              </a:rPr>
              <a:t>Testing</a:t>
            </a:r>
            <a:endParaRPr sz="1400">
              <a:solidFill>
                <a:schemeClr val="dk1"/>
              </a:solidFill>
            </a:endParaRPr>
          </a:p>
          <a:p>
            <a:pPr indent="-310833" lvl="0" marL="457200" rtl="0" algn="l">
              <a:spcBef>
                <a:spcPts val="0"/>
              </a:spcBef>
              <a:spcAft>
                <a:spcPts val="0"/>
              </a:spcAft>
              <a:buClr>
                <a:schemeClr val="dk1"/>
              </a:buClr>
              <a:buSzPct val="100000"/>
              <a:buChar char="●"/>
            </a:pPr>
            <a:r>
              <a:rPr lang="en-GB" sz="1400">
                <a:solidFill>
                  <a:schemeClr val="dk1"/>
                </a:solidFill>
              </a:rPr>
              <a:t>Done</a:t>
            </a:r>
            <a:endParaRPr sz="1400">
              <a:solidFill>
                <a:schemeClr val="dk1"/>
              </a:solidFill>
            </a:endParaRPr>
          </a:p>
          <a:p>
            <a:pPr indent="0" lvl="0" marL="0" rtl="0" algn="l">
              <a:spcBef>
                <a:spcPts val="1200"/>
              </a:spcBef>
              <a:spcAft>
                <a:spcPts val="0"/>
              </a:spcAft>
              <a:buClr>
                <a:schemeClr val="dk1"/>
              </a:buClr>
              <a:buSzPct val="78571"/>
              <a:buFont typeface="Arial"/>
              <a:buNone/>
            </a:pPr>
            <a:r>
              <a:rPr lang="en-GB" sz="1400">
                <a:solidFill>
                  <a:schemeClr val="dk1"/>
                </a:solidFill>
              </a:rPr>
              <a:t>This provides a visual representation of project progress.</a:t>
            </a:r>
            <a:endParaRPr sz="1400">
              <a:solidFill>
                <a:schemeClr val="dk1"/>
              </a:solidFill>
            </a:endParaRPr>
          </a:p>
          <a:p>
            <a:pPr indent="0" lvl="0" marL="0" rtl="0" algn="l">
              <a:spcBef>
                <a:spcPts val="1400"/>
              </a:spcBef>
              <a:spcAft>
                <a:spcPts val="0"/>
              </a:spcAft>
              <a:buClr>
                <a:schemeClr val="dk1"/>
              </a:buClr>
              <a:buSzPct val="78571"/>
              <a:buFont typeface="Arial"/>
              <a:buNone/>
            </a:pPr>
            <a:r>
              <a:rPr b="1" lang="en-GB" sz="1400">
                <a:solidFill>
                  <a:schemeClr val="dk1"/>
                </a:solidFill>
              </a:rPr>
              <a:t>c) Burndown Chart</a:t>
            </a:r>
            <a:endParaRPr b="1" sz="1400">
              <a:solidFill>
                <a:schemeClr val="dk1"/>
              </a:solidFill>
            </a:endParaRPr>
          </a:p>
          <a:p>
            <a:pPr indent="-310833" lvl="0" marL="457200" rtl="0" algn="l">
              <a:spcBef>
                <a:spcPts val="1200"/>
              </a:spcBef>
              <a:spcAft>
                <a:spcPts val="0"/>
              </a:spcAft>
              <a:buClr>
                <a:schemeClr val="dk1"/>
              </a:buClr>
              <a:buSzPct val="100000"/>
              <a:buChar char="●"/>
            </a:pPr>
            <a:r>
              <a:rPr lang="en-GB" sz="1400">
                <a:solidFill>
                  <a:schemeClr val="dk1"/>
                </a:solidFill>
              </a:rPr>
              <a:t>Displays the amount of remaining work versus time.</a:t>
            </a:r>
            <a:endParaRPr sz="1400">
              <a:solidFill>
                <a:schemeClr val="dk1"/>
              </a:solidFill>
            </a:endParaRPr>
          </a:p>
          <a:p>
            <a:pPr indent="-310833" lvl="0" marL="457200" rtl="0" algn="l">
              <a:spcBef>
                <a:spcPts val="0"/>
              </a:spcBef>
              <a:spcAft>
                <a:spcPts val="0"/>
              </a:spcAft>
              <a:buClr>
                <a:schemeClr val="dk1"/>
              </a:buClr>
              <a:buSzPct val="100000"/>
              <a:buChar char="●"/>
            </a:pPr>
            <a:r>
              <a:rPr lang="en-GB" sz="1400">
                <a:solidFill>
                  <a:schemeClr val="dk1"/>
                </a:solidFill>
              </a:rPr>
              <a:t>Helps determine whether the team is progressing according to plan.</a:t>
            </a:r>
            <a:endParaRPr sz="1400">
              <a:solidFill>
                <a:schemeClr val="dk1"/>
              </a:solidFill>
            </a:endParaRPr>
          </a:p>
          <a:p>
            <a:pPr indent="-310833" lvl="0" marL="457200" rtl="0" algn="l">
              <a:spcBef>
                <a:spcPts val="0"/>
              </a:spcBef>
              <a:spcAft>
                <a:spcPts val="0"/>
              </a:spcAft>
              <a:buClr>
                <a:schemeClr val="dk1"/>
              </a:buClr>
              <a:buSzPct val="100000"/>
              <a:buChar char="●"/>
            </a:pPr>
            <a:r>
              <a:rPr lang="en-GB" sz="1400">
                <a:solidFill>
                  <a:schemeClr val="dk1"/>
                </a:solidFill>
              </a:rPr>
              <a:t>Ideal burndown lines indicate expected progress.</a:t>
            </a:r>
            <a:endParaRPr sz="1400">
              <a:solidFill>
                <a:schemeClr val="dk1"/>
              </a:solidFill>
            </a:endParaRPr>
          </a:p>
          <a:p>
            <a:pPr indent="0" lvl="0" marL="0" rtl="0" algn="l">
              <a:spcBef>
                <a:spcPts val="1400"/>
              </a:spcBef>
              <a:spcAft>
                <a:spcPts val="0"/>
              </a:spcAft>
              <a:buClr>
                <a:schemeClr val="dk1"/>
              </a:buClr>
              <a:buSzPct val="78571"/>
              <a:buFont typeface="Arial"/>
              <a:buNone/>
            </a:pPr>
            <a:r>
              <a:rPr b="1" lang="en-GB" sz="1400">
                <a:solidFill>
                  <a:schemeClr val="dk1"/>
                </a:solidFill>
              </a:rPr>
              <a:t>d) Daily Stand-up Meetings</a:t>
            </a:r>
            <a:endParaRPr b="1" sz="1400">
              <a:solidFill>
                <a:schemeClr val="dk1"/>
              </a:solidFill>
            </a:endParaRPr>
          </a:p>
          <a:p>
            <a:pPr indent="-310833" lvl="0" marL="457200" rtl="0" algn="l">
              <a:spcBef>
                <a:spcPts val="1200"/>
              </a:spcBef>
              <a:spcAft>
                <a:spcPts val="0"/>
              </a:spcAft>
              <a:buClr>
                <a:schemeClr val="dk1"/>
              </a:buClr>
              <a:buSzPct val="100000"/>
              <a:buChar char="●"/>
            </a:pPr>
            <a:r>
              <a:rPr lang="en-GB" sz="1400">
                <a:solidFill>
                  <a:schemeClr val="dk1"/>
                </a:solidFill>
              </a:rPr>
              <a:t>Team members share updates and identify blockers.</a:t>
            </a:r>
            <a:endParaRPr sz="1400">
              <a:solidFill>
                <a:schemeClr val="dk1"/>
              </a:solidFill>
            </a:endParaRPr>
          </a:p>
          <a:p>
            <a:pPr indent="-310833" lvl="0" marL="457200" rtl="0" algn="l">
              <a:spcBef>
                <a:spcPts val="0"/>
              </a:spcBef>
              <a:spcAft>
                <a:spcPts val="0"/>
              </a:spcAft>
              <a:buClr>
                <a:schemeClr val="dk1"/>
              </a:buClr>
              <a:buSzPct val="100000"/>
              <a:buChar char="●"/>
            </a:pPr>
            <a:r>
              <a:rPr lang="en-GB" sz="1400">
                <a:solidFill>
                  <a:schemeClr val="dk1"/>
                </a:solidFill>
              </a:rPr>
              <a:t>Enables quick corrective actions.</a:t>
            </a:r>
            <a:endParaRPr sz="1400">
              <a:solidFill>
                <a:schemeClr val="dk1"/>
              </a:solidFill>
            </a:endParaRPr>
          </a:p>
          <a:p>
            <a:pPr indent="0" lvl="0" marL="0" rtl="0" algn="l">
              <a:spcBef>
                <a:spcPts val="1400"/>
              </a:spcBef>
              <a:spcAft>
                <a:spcPts val="0"/>
              </a:spcAft>
              <a:buClr>
                <a:schemeClr val="dk1"/>
              </a:buClr>
              <a:buSzPct val="78571"/>
              <a:buFont typeface="Arial"/>
              <a:buNone/>
            </a:pPr>
            <a:r>
              <a:rPr b="1" lang="en-GB" sz="1400">
                <a:solidFill>
                  <a:schemeClr val="dk1"/>
                </a:solidFill>
              </a:rPr>
              <a:t>e) Sprint Reviews</a:t>
            </a:r>
            <a:endParaRPr b="1" sz="1400">
              <a:solidFill>
                <a:schemeClr val="dk1"/>
              </a:solidFill>
            </a:endParaRPr>
          </a:p>
          <a:p>
            <a:pPr indent="-310833" lvl="0" marL="457200" rtl="0" algn="l">
              <a:spcBef>
                <a:spcPts val="1200"/>
              </a:spcBef>
              <a:spcAft>
                <a:spcPts val="0"/>
              </a:spcAft>
              <a:buClr>
                <a:schemeClr val="dk1"/>
              </a:buClr>
              <a:buSzPct val="100000"/>
              <a:buChar char="●"/>
            </a:pPr>
            <a:r>
              <a:rPr lang="en-GB" sz="1400">
                <a:solidFill>
                  <a:schemeClr val="dk1"/>
                </a:solidFill>
              </a:rPr>
              <a:t>Evaluate completed work at the end of the sprint.</a:t>
            </a:r>
            <a:endParaRPr sz="1400">
              <a:solidFill>
                <a:schemeClr val="dk1"/>
              </a:solidFill>
            </a:endParaRPr>
          </a:p>
          <a:p>
            <a:pPr indent="-310833" lvl="0" marL="457200" rtl="0" algn="l">
              <a:spcBef>
                <a:spcPts val="0"/>
              </a:spcBef>
              <a:spcAft>
                <a:spcPts val="0"/>
              </a:spcAft>
              <a:buClr>
                <a:schemeClr val="dk1"/>
              </a:buClr>
              <a:buSzPct val="100000"/>
              <a:buChar char="●"/>
            </a:pPr>
            <a:r>
              <a:rPr lang="en-GB" sz="1400">
                <a:solidFill>
                  <a:schemeClr val="dk1"/>
                </a:solidFill>
              </a:rPr>
              <a:t>Compare actual achievements with planned objectives.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1"/>
          <p:cNvSpPr txBox="1"/>
          <p:nvPr>
            <p:ph idx="1" type="body"/>
          </p:nvPr>
        </p:nvSpPr>
        <p:spPr>
          <a:xfrm>
            <a:off x="393800" y="728400"/>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GB" sz="1600">
                <a:solidFill>
                  <a:schemeClr val="dk1"/>
                </a:solidFill>
              </a:rPr>
              <a:t>Benefits of Progress Tracking</a:t>
            </a:r>
            <a:endParaRPr b="1" sz="1600">
              <a:solidFill>
                <a:schemeClr val="dk1"/>
              </a:solidFill>
            </a:endParaRPr>
          </a:p>
          <a:p>
            <a:pPr indent="-330200" lvl="0" marL="457200" rtl="0" algn="l">
              <a:spcBef>
                <a:spcPts val="1200"/>
              </a:spcBef>
              <a:spcAft>
                <a:spcPts val="0"/>
              </a:spcAft>
              <a:buClr>
                <a:schemeClr val="dk1"/>
              </a:buClr>
              <a:buSzPts val="1600"/>
              <a:buChar char="●"/>
            </a:pPr>
            <a:r>
              <a:rPr lang="en-GB" sz="1600">
                <a:solidFill>
                  <a:schemeClr val="dk1"/>
                </a:solidFill>
              </a:rPr>
              <a:t>Early detection of issues.</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Better project visibility.</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Improved decision-making.</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Increased likelihood of meeting deadlines.</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Enhanced team collaboration.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GB" sz="1700">
                <a:solidFill>
                  <a:schemeClr val="dk1"/>
                </a:solidFill>
              </a:rPr>
              <a:t>2. Velocity Tracking</a:t>
            </a:r>
            <a:endParaRPr b="1" sz="17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Velocity Tracking</a:t>
            </a:r>
            <a:r>
              <a:rPr lang="en-GB" sz="1100">
                <a:solidFill>
                  <a:schemeClr val="dk1"/>
                </a:solidFill>
              </a:rPr>
              <a:t> measures the amount of work completed by a team during a sprint. It helps predict how much work can be completed in future sprints.</a:t>
            </a:r>
            <a:endParaRPr sz="1100">
              <a:solidFill>
                <a:schemeClr val="dk1"/>
              </a:solidFill>
            </a:endParaRPr>
          </a:p>
          <a:p>
            <a:pPr indent="0" lvl="0" marL="0" rtl="0" algn="l">
              <a:spcBef>
                <a:spcPts val="1400"/>
              </a:spcBef>
              <a:spcAft>
                <a:spcPts val="0"/>
              </a:spcAft>
              <a:buClr>
                <a:schemeClr val="dk1"/>
              </a:buClr>
              <a:buSzPts val="1100"/>
              <a:buFont typeface="Arial"/>
              <a:buNone/>
            </a:pPr>
            <a:r>
              <a:rPr b="1" lang="en-GB" sz="1300">
                <a:solidFill>
                  <a:schemeClr val="dk1"/>
                </a:solidFill>
              </a:rPr>
              <a:t>Definition of Velocity</a:t>
            </a:r>
            <a:endParaRPr b="1" sz="13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Velocity is the total number of </a:t>
            </a:r>
            <a:r>
              <a:rPr b="1" lang="en-GB" sz="1100">
                <a:solidFill>
                  <a:schemeClr val="dk1"/>
                </a:solidFill>
              </a:rPr>
              <a:t>Story Points</a:t>
            </a:r>
            <a:r>
              <a:rPr lang="en-GB" sz="1100">
                <a:solidFill>
                  <a:schemeClr val="dk1"/>
                </a:solidFill>
              </a:rPr>
              <a:t> (or other estimation units) completed during a sprint.</a:t>
            </a:r>
            <a:endParaRPr sz="1100">
              <a:solidFill>
                <a:schemeClr val="dk1"/>
              </a:solidFill>
            </a:endParaRPr>
          </a:p>
          <a:p>
            <a:pPr indent="0" lvl="0" marL="0" rtl="0" algn="l">
              <a:spcBef>
                <a:spcPts val="1400"/>
              </a:spcBef>
              <a:spcAft>
                <a:spcPts val="0"/>
              </a:spcAft>
              <a:buClr>
                <a:schemeClr val="dk1"/>
              </a:buClr>
              <a:buSzPts val="1100"/>
              <a:buFont typeface="Arial"/>
              <a:buNone/>
            </a:pPr>
            <a:r>
              <a:rPr b="1" lang="en-GB" sz="1300">
                <a:solidFill>
                  <a:schemeClr val="dk1"/>
                </a:solidFill>
              </a:rPr>
              <a:t>Formula</a:t>
            </a:r>
            <a:endParaRPr b="1" sz="13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Velocity = Total Story Points Completed in a Sprint</a:t>
            </a:r>
            <a:endParaRPr b="1"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3"/>
          <p:cNvSpPr txBox="1"/>
          <p:nvPr>
            <p:ph idx="1" type="body"/>
          </p:nvPr>
        </p:nvSpPr>
        <p:spPr>
          <a:xfrm>
            <a:off x="460800" y="3503550"/>
            <a:ext cx="7801200" cy="11151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Clr>
                <a:schemeClr val="dk1"/>
              </a:buClr>
              <a:buSzPts val="1100"/>
              <a:buFont typeface="Arial"/>
              <a:buNone/>
            </a:pPr>
            <a:r>
              <a:rPr b="1" lang="en-GB" sz="1600">
                <a:solidFill>
                  <a:schemeClr val="dk1"/>
                </a:solidFill>
              </a:rPr>
              <a:t>Velocity = 5 + 8 + 13 + 8 = 34 Story Points</a:t>
            </a:r>
            <a:endParaRPr b="1" sz="1600">
              <a:solidFill>
                <a:schemeClr val="dk1"/>
              </a:solidFill>
            </a:endParaRPr>
          </a:p>
          <a:p>
            <a:pPr indent="0" lvl="0" marL="0" rtl="0" algn="l">
              <a:lnSpc>
                <a:spcPct val="105000"/>
              </a:lnSpc>
              <a:spcBef>
                <a:spcPts val="1200"/>
              </a:spcBef>
              <a:spcAft>
                <a:spcPts val="0"/>
              </a:spcAft>
              <a:buClr>
                <a:schemeClr val="dk1"/>
              </a:buClr>
              <a:buSzPts val="1100"/>
              <a:buFont typeface="Arial"/>
              <a:buNone/>
            </a:pPr>
            <a:r>
              <a:rPr lang="en-GB" sz="1600">
                <a:solidFill>
                  <a:schemeClr val="dk1"/>
                </a:solidFill>
              </a:rPr>
              <a:t>The team's velocity for that sprint is </a:t>
            </a:r>
            <a:r>
              <a:rPr b="1" lang="en-GB" sz="1600">
                <a:solidFill>
                  <a:schemeClr val="dk1"/>
                </a:solidFill>
              </a:rPr>
              <a:t>34 story points</a:t>
            </a:r>
            <a:r>
              <a:rPr lang="en-GB" sz="1600">
                <a:solidFill>
                  <a:schemeClr val="dk1"/>
                </a:solidFill>
              </a:rPr>
              <a:t>.</a:t>
            </a:r>
            <a:endParaRPr sz="1600">
              <a:solidFill>
                <a:schemeClr val="dk1"/>
              </a:solidFill>
            </a:endParaRPr>
          </a:p>
          <a:p>
            <a:pPr indent="0" lvl="0" marL="0" rtl="0" algn="l">
              <a:lnSpc>
                <a:spcPct val="105000"/>
              </a:lnSpc>
              <a:spcBef>
                <a:spcPts val="1200"/>
              </a:spcBef>
              <a:spcAft>
                <a:spcPts val="1200"/>
              </a:spcAft>
              <a:buNone/>
            </a:pPr>
            <a:r>
              <a:t/>
            </a:r>
            <a:endParaRPr sz="2300"/>
          </a:p>
        </p:txBody>
      </p:sp>
      <p:pic>
        <p:nvPicPr>
          <p:cNvPr id="221" name="Google Shape;221;p43" title="ssss.png"/>
          <p:cNvPicPr preferRelativeResize="0"/>
          <p:nvPr/>
        </p:nvPicPr>
        <p:blipFill>
          <a:blip r:embed="rId3">
            <a:alphaModFix/>
          </a:blip>
          <a:stretch>
            <a:fillRect/>
          </a:stretch>
        </p:blipFill>
        <p:spPr>
          <a:xfrm>
            <a:off x="311700" y="395028"/>
            <a:ext cx="8520600" cy="292036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44" title="Untitled.png"/>
          <p:cNvPicPr preferRelativeResize="0"/>
          <p:nvPr/>
        </p:nvPicPr>
        <p:blipFill>
          <a:blip r:embed="rId3">
            <a:alphaModFix/>
          </a:blip>
          <a:stretch>
            <a:fillRect/>
          </a:stretch>
        </p:blipFill>
        <p:spPr>
          <a:xfrm>
            <a:off x="430850" y="205749"/>
            <a:ext cx="7607425" cy="48410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5"/>
          <p:cNvSpPr txBox="1"/>
          <p:nvPr>
            <p:ph idx="1" type="body"/>
          </p:nvPr>
        </p:nvSpPr>
        <p:spPr>
          <a:xfrm>
            <a:off x="311700" y="434825"/>
            <a:ext cx="8520600" cy="4134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GB" sz="1300">
                <a:solidFill>
                  <a:schemeClr val="dk1"/>
                </a:solidFill>
              </a:rPr>
              <a:t>Benefits of Velocity Tracking</a:t>
            </a:r>
            <a:endParaRPr b="1"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Improves sprint planning accuracy.</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Helps forecast project completion dates.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Measures team productivity.</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Identifies performance trends.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Supports continuous improvement.</a:t>
            </a:r>
            <a:endParaRPr sz="1100">
              <a:solidFill>
                <a:schemeClr val="dk1"/>
              </a:solidFill>
            </a:endParaRPr>
          </a:p>
          <a:p>
            <a:pPr indent="0" lvl="0" marL="0" rtl="0" algn="l">
              <a:spcBef>
                <a:spcPts val="1400"/>
              </a:spcBef>
              <a:spcAft>
                <a:spcPts val="0"/>
              </a:spcAft>
              <a:buClr>
                <a:schemeClr val="dk1"/>
              </a:buClr>
              <a:buSzPts val="1100"/>
              <a:buFont typeface="Arial"/>
              <a:buNone/>
            </a:pPr>
            <a:r>
              <a:rPr b="1" lang="en-GB" sz="1300">
                <a:solidFill>
                  <a:schemeClr val="dk1"/>
                </a:solidFill>
              </a:rPr>
              <a:t>Limitations</a:t>
            </a:r>
            <a:endParaRPr b="1"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Velocity should not be used to compare different teams.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Focus should be on consistent delivery, not maximizing velocity.</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Changes in team size or complexity can affect velocity.</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7" name="Google Shape;237;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8" name="Google Shape;238;p46" title="sdegs.png"/>
          <p:cNvPicPr preferRelativeResize="0"/>
          <p:nvPr/>
        </p:nvPicPr>
        <p:blipFill>
          <a:blip r:embed="rId3">
            <a:alphaModFix/>
          </a:blip>
          <a:stretch>
            <a:fillRect/>
          </a:stretch>
        </p:blipFill>
        <p:spPr>
          <a:xfrm>
            <a:off x="88438" y="423925"/>
            <a:ext cx="8967126" cy="41449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7"/>
          <p:cNvSpPr txBox="1"/>
          <p:nvPr>
            <p:ph type="title"/>
          </p:nvPr>
        </p:nvSpPr>
        <p:spPr>
          <a:xfrm>
            <a:off x="311700" y="89357"/>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2200"/>
              <a:t>Monitoring and Controlling </a:t>
            </a:r>
            <a:endParaRPr b="1" sz="2200"/>
          </a:p>
        </p:txBody>
      </p:sp>
      <p:sp>
        <p:nvSpPr>
          <p:cNvPr id="244" name="Google Shape;244;p47"/>
          <p:cNvSpPr txBox="1"/>
          <p:nvPr>
            <p:ph idx="1" type="body"/>
          </p:nvPr>
        </p:nvSpPr>
        <p:spPr>
          <a:xfrm>
            <a:off x="311700" y="642950"/>
            <a:ext cx="8520600" cy="4364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chemeClr val="dk1"/>
              </a:buClr>
              <a:buSzPts val="1100"/>
              <a:buFont typeface="Arial"/>
              <a:buNone/>
            </a:pPr>
            <a:r>
              <a:rPr lang="en-GB" sz="1300">
                <a:solidFill>
                  <a:schemeClr val="dk1"/>
                </a:solidFill>
              </a:rPr>
              <a:t>Monitoring and Controlling in Agile Scrum involves continuously tracking sprint progress, identifying problems, implementing corrective actions, and ensuring the sprint remains aligned with its goals.</a:t>
            </a:r>
            <a:endParaRPr sz="1300">
              <a:solidFill>
                <a:schemeClr val="dk1"/>
              </a:solidFill>
            </a:endParaRPr>
          </a:p>
          <a:p>
            <a:pPr indent="0" lvl="0" marL="0" rtl="0" algn="l">
              <a:spcBef>
                <a:spcPts val="400"/>
              </a:spcBef>
              <a:spcAft>
                <a:spcPts val="0"/>
              </a:spcAft>
              <a:buClr>
                <a:schemeClr val="dk1"/>
              </a:buClr>
              <a:buSzPts val="1100"/>
              <a:buFont typeface="Arial"/>
              <a:buNone/>
            </a:pPr>
            <a:r>
              <a:rPr b="1" lang="en-GB" sz="1300">
                <a:solidFill>
                  <a:schemeClr val="dk1"/>
                </a:solidFill>
              </a:rPr>
              <a:t>1. Burn Down Charts</a:t>
            </a:r>
            <a:endParaRPr b="1" sz="1300">
              <a:solidFill>
                <a:schemeClr val="dk1"/>
              </a:solidFill>
            </a:endParaRPr>
          </a:p>
          <a:p>
            <a:pPr indent="0" lvl="0" marL="0" rtl="0" algn="l">
              <a:spcBef>
                <a:spcPts val="400"/>
              </a:spcBef>
              <a:spcAft>
                <a:spcPts val="0"/>
              </a:spcAft>
              <a:buClr>
                <a:schemeClr val="dk1"/>
              </a:buClr>
              <a:buSzPts val="1100"/>
              <a:buFont typeface="Arial"/>
              <a:buNone/>
            </a:pPr>
            <a:r>
              <a:rPr lang="en-GB" sz="1300">
                <a:solidFill>
                  <a:schemeClr val="dk1"/>
                </a:solidFill>
              </a:rPr>
              <a:t>A </a:t>
            </a:r>
            <a:r>
              <a:rPr b="1" lang="en-GB" sz="1300">
                <a:solidFill>
                  <a:schemeClr val="dk1"/>
                </a:solidFill>
              </a:rPr>
              <a:t>Burn Down Chart</a:t>
            </a:r>
            <a:r>
              <a:rPr lang="en-GB" sz="1300">
                <a:solidFill>
                  <a:schemeClr val="dk1"/>
                </a:solidFill>
              </a:rPr>
              <a:t> is a graphical tool used to track the amount of work remaining in a sprint over time.</a:t>
            </a:r>
            <a:endParaRPr sz="1300">
              <a:solidFill>
                <a:schemeClr val="dk1"/>
              </a:solidFill>
            </a:endParaRPr>
          </a:p>
          <a:p>
            <a:pPr indent="0" lvl="0" marL="0" rtl="0" algn="l">
              <a:spcBef>
                <a:spcPts val="400"/>
              </a:spcBef>
              <a:spcAft>
                <a:spcPts val="0"/>
              </a:spcAft>
              <a:buClr>
                <a:schemeClr val="dk1"/>
              </a:buClr>
              <a:buSzPts val="1100"/>
              <a:buFont typeface="Arial"/>
              <a:buNone/>
            </a:pPr>
            <a:r>
              <a:rPr b="1" lang="en-GB" sz="1300">
                <a:solidFill>
                  <a:schemeClr val="dk1"/>
                </a:solidFill>
              </a:rPr>
              <a:t>Purpose</a:t>
            </a:r>
            <a:endParaRPr b="1" sz="1300">
              <a:solidFill>
                <a:schemeClr val="dk1"/>
              </a:solidFill>
            </a:endParaRPr>
          </a:p>
          <a:p>
            <a:pPr indent="-311150" lvl="0" marL="457200" rtl="0" algn="l">
              <a:spcBef>
                <a:spcPts val="1200"/>
              </a:spcBef>
              <a:spcAft>
                <a:spcPts val="0"/>
              </a:spcAft>
              <a:buClr>
                <a:schemeClr val="dk1"/>
              </a:buClr>
              <a:buSzPts val="1300"/>
              <a:buChar char="●"/>
            </a:pPr>
            <a:r>
              <a:rPr lang="en-GB" sz="1300">
                <a:solidFill>
                  <a:schemeClr val="dk1"/>
                </a:solidFill>
              </a:rPr>
              <a:t>Monitor sprint progress.</a:t>
            </a: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Compare actual progress with planned progress.</a:t>
            </a:r>
            <a:endParaRPr sz="1300">
              <a:solidFill>
                <a:schemeClr val="dk1"/>
              </a:solidFill>
            </a:endParaRPr>
          </a:p>
          <a:p>
            <a:pPr indent="-311150" lvl="0" marL="457200" rtl="0" algn="l">
              <a:spcBef>
                <a:spcPts val="0"/>
              </a:spcBef>
              <a:spcAft>
                <a:spcPts val="0"/>
              </a:spcAft>
              <a:buClr>
                <a:schemeClr val="dk1"/>
              </a:buClr>
              <a:buSzPts val="1300"/>
              <a:buChar char="●"/>
            </a:pPr>
            <a:r>
              <a:rPr lang="en-GB" sz="1300">
                <a:solidFill>
                  <a:schemeClr val="dk1"/>
                </a:solidFill>
              </a:rPr>
              <a:t>Predict whether sprint goals will be achieved on time.</a:t>
            </a:r>
            <a:endParaRPr sz="1300">
              <a:solidFill>
                <a:schemeClr val="dk1"/>
              </a:solidFill>
            </a:endParaRPr>
          </a:p>
          <a:p>
            <a:pPr indent="-311150" lvl="0" marL="457200" rtl="0" algn="l">
              <a:lnSpc>
                <a:spcPct val="100000"/>
              </a:lnSpc>
              <a:spcBef>
                <a:spcPts val="0"/>
              </a:spcBef>
              <a:spcAft>
                <a:spcPts val="0"/>
              </a:spcAft>
              <a:buClr>
                <a:schemeClr val="dk1"/>
              </a:buClr>
              <a:buSzPts val="1300"/>
              <a:buChar char="●"/>
            </a:pPr>
            <a:r>
              <a:rPr lang="en-GB" sz="1300">
                <a:solidFill>
                  <a:schemeClr val="dk1"/>
                </a:solidFill>
              </a:rPr>
              <a:t>Identify delays and bottlenecks early.</a:t>
            </a:r>
            <a:endParaRPr sz="1300">
              <a:solidFill>
                <a:schemeClr val="dk1"/>
              </a:solidFill>
            </a:endParaRPr>
          </a:p>
          <a:p>
            <a:pPr indent="0" lvl="0" marL="0" rtl="0" algn="l">
              <a:lnSpc>
                <a:spcPct val="100000"/>
              </a:lnSpc>
              <a:spcBef>
                <a:spcPts val="1800"/>
              </a:spcBef>
              <a:spcAft>
                <a:spcPts val="0"/>
              </a:spcAft>
              <a:buClr>
                <a:schemeClr val="dk1"/>
              </a:buClr>
              <a:buSzPts val="1100"/>
              <a:buFont typeface="Arial"/>
              <a:buNone/>
            </a:pPr>
            <a:r>
              <a:rPr b="1" lang="en-GB" sz="1300">
                <a:solidFill>
                  <a:schemeClr val="dk1"/>
                </a:solidFill>
              </a:rPr>
              <a:t>Components of a Burn Down Chart</a:t>
            </a:r>
            <a:endParaRPr b="1" sz="1300">
              <a:solidFill>
                <a:schemeClr val="dk1"/>
              </a:solidFill>
            </a:endParaRPr>
          </a:p>
          <a:p>
            <a:pPr indent="-311150" lvl="0" marL="457200" rtl="0" algn="l">
              <a:spcBef>
                <a:spcPts val="1200"/>
              </a:spcBef>
              <a:spcAft>
                <a:spcPts val="0"/>
              </a:spcAft>
              <a:buClr>
                <a:schemeClr val="dk1"/>
              </a:buClr>
              <a:buSzPts val="1300"/>
              <a:buChar char="●"/>
            </a:pPr>
            <a:r>
              <a:rPr b="1" lang="en-GB" sz="1300">
                <a:solidFill>
                  <a:schemeClr val="dk1"/>
                </a:solidFill>
              </a:rPr>
              <a:t>X-Axis:</a:t>
            </a:r>
            <a:r>
              <a:rPr lang="en-GB" sz="1300">
                <a:solidFill>
                  <a:schemeClr val="dk1"/>
                </a:solidFill>
              </a:rPr>
              <a:t> Time (Days of Sprint)</a:t>
            </a:r>
            <a:endParaRPr sz="1300">
              <a:solidFill>
                <a:schemeClr val="dk1"/>
              </a:solidFill>
            </a:endParaRPr>
          </a:p>
          <a:p>
            <a:pPr indent="-311150" lvl="0" marL="457200" rtl="0" algn="l">
              <a:spcBef>
                <a:spcPts val="0"/>
              </a:spcBef>
              <a:spcAft>
                <a:spcPts val="0"/>
              </a:spcAft>
              <a:buClr>
                <a:schemeClr val="dk1"/>
              </a:buClr>
              <a:buSzPts val="1300"/>
              <a:buChar char="●"/>
            </a:pPr>
            <a:r>
              <a:rPr b="1" lang="en-GB" sz="1300">
                <a:solidFill>
                  <a:schemeClr val="dk1"/>
                </a:solidFill>
              </a:rPr>
              <a:t>Y-Axis:</a:t>
            </a:r>
            <a:r>
              <a:rPr lang="en-GB" sz="1300">
                <a:solidFill>
                  <a:schemeClr val="dk1"/>
                </a:solidFill>
              </a:rPr>
              <a:t> Remaining Work (Story Points/Hours)</a:t>
            </a:r>
            <a:endParaRPr sz="1300">
              <a:solidFill>
                <a:schemeClr val="dk1"/>
              </a:solidFill>
            </a:endParaRPr>
          </a:p>
          <a:p>
            <a:pPr indent="-311150" lvl="0" marL="457200" rtl="0" algn="l">
              <a:spcBef>
                <a:spcPts val="0"/>
              </a:spcBef>
              <a:spcAft>
                <a:spcPts val="0"/>
              </a:spcAft>
              <a:buClr>
                <a:schemeClr val="dk1"/>
              </a:buClr>
              <a:buSzPts val="1300"/>
              <a:buChar char="●"/>
            </a:pPr>
            <a:r>
              <a:rPr b="1" lang="en-GB" sz="1300">
                <a:solidFill>
                  <a:schemeClr val="dk1"/>
                </a:solidFill>
              </a:rPr>
              <a:t>Ideal Line:</a:t>
            </a:r>
            <a:r>
              <a:rPr lang="en-GB" sz="1300">
                <a:solidFill>
                  <a:schemeClr val="dk1"/>
                </a:solidFill>
              </a:rPr>
              <a:t> Expected rate of completion.</a:t>
            </a:r>
            <a:endParaRPr sz="1300">
              <a:solidFill>
                <a:schemeClr val="dk1"/>
              </a:solidFill>
            </a:endParaRPr>
          </a:p>
          <a:p>
            <a:pPr indent="-311150" lvl="0" marL="457200" rtl="0" algn="l">
              <a:spcBef>
                <a:spcPts val="0"/>
              </a:spcBef>
              <a:spcAft>
                <a:spcPts val="0"/>
              </a:spcAft>
              <a:buClr>
                <a:schemeClr val="dk1"/>
              </a:buClr>
              <a:buSzPts val="1300"/>
              <a:buChar char="●"/>
            </a:pPr>
            <a:r>
              <a:rPr b="1" lang="en-GB" sz="1300">
                <a:solidFill>
                  <a:schemeClr val="dk1"/>
                </a:solidFill>
              </a:rPr>
              <a:t>Actual Line:</a:t>
            </a:r>
            <a:r>
              <a:rPr lang="en-GB" sz="1300">
                <a:solidFill>
                  <a:schemeClr val="dk1"/>
                </a:solidFill>
              </a:rPr>
              <a:t> Actual remaining work.</a:t>
            </a:r>
            <a:endParaRPr sz="13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8"/>
          <p:cNvSpPr txBox="1"/>
          <p:nvPr>
            <p:ph idx="1" type="body"/>
          </p:nvPr>
        </p:nvSpPr>
        <p:spPr>
          <a:xfrm>
            <a:off x="311700" y="259900"/>
            <a:ext cx="8520600" cy="533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GB">
                <a:solidFill>
                  <a:schemeClr val="dk1"/>
                </a:solidFill>
              </a:rPr>
              <a:t>Types of burndown charts:</a:t>
            </a:r>
            <a:endParaRPr b="1">
              <a:solidFill>
                <a:schemeClr val="dk1"/>
              </a:solidFill>
            </a:endParaRPr>
          </a:p>
        </p:txBody>
      </p:sp>
      <p:sp>
        <p:nvSpPr>
          <p:cNvPr id="250" name="Google Shape;250;p48"/>
          <p:cNvSpPr txBox="1"/>
          <p:nvPr/>
        </p:nvSpPr>
        <p:spPr>
          <a:xfrm>
            <a:off x="311700" y="985050"/>
            <a:ext cx="3969900" cy="169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a:solidFill>
                  <a:srgbClr val="101214"/>
                </a:solidFill>
                <a:latin typeface="Roboto"/>
                <a:ea typeface="Roboto"/>
                <a:cs typeface="Roboto"/>
                <a:sym typeface="Roboto"/>
              </a:rPr>
              <a:t>1. Sprint burndown chart</a:t>
            </a:r>
            <a:endParaRPr b="1">
              <a:solidFill>
                <a:srgbClr val="101214"/>
              </a:solidFill>
              <a:latin typeface="Roboto"/>
              <a:ea typeface="Roboto"/>
              <a:cs typeface="Roboto"/>
              <a:sym typeface="Roboto"/>
            </a:endParaRPr>
          </a:p>
          <a:p>
            <a:pPr indent="0" lvl="0" marL="0" rtl="0" algn="just">
              <a:lnSpc>
                <a:spcPct val="115000"/>
              </a:lnSpc>
              <a:spcBef>
                <a:spcPts val="400"/>
              </a:spcBef>
              <a:spcAft>
                <a:spcPts val="0"/>
              </a:spcAft>
              <a:buNone/>
            </a:pPr>
            <a:r>
              <a:rPr lang="en-GB">
                <a:solidFill>
                  <a:srgbClr val="292A2E"/>
                </a:solidFill>
              </a:rPr>
              <a:t>Use a sprint burndown chart for short-term sprint focus (one iteration) and tracking sprint progress. It works best when the team is working from a sprint backlog and wants day-to-day visibility.</a:t>
            </a:r>
            <a:endParaRPr>
              <a:solidFill>
                <a:srgbClr val="292A2E"/>
              </a:solidFill>
            </a:endParaRPr>
          </a:p>
        </p:txBody>
      </p:sp>
      <p:sp>
        <p:nvSpPr>
          <p:cNvPr id="251" name="Google Shape;251;p48"/>
          <p:cNvSpPr txBox="1"/>
          <p:nvPr/>
        </p:nvSpPr>
        <p:spPr>
          <a:xfrm>
            <a:off x="4760450" y="985050"/>
            <a:ext cx="3392700" cy="218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a:solidFill>
                  <a:srgbClr val="101214"/>
                </a:solidFill>
                <a:latin typeface="Roboto"/>
                <a:ea typeface="Roboto"/>
                <a:cs typeface="Roboto"/>
                <a:sym typeface="Roboto"/>
              </a:rPr>
              <a:t>2. </a:t>
            </a:r>
            <a:r>
              <a:rPr b="1" lang="en-GB">
                <a:solidFill>
                  <a:srgbClr val="101214"/>
                </a:solidFill>
                <a:latin typeface="Roboto"/>
                <a:ea typeface="Roboto"/>
                <a:cs typeface="Roboto"/>
                <a:sym typeface="Roboto"/>
              </a:rPr>
              <a:t>Epic burndown chart</a:t>
            </a:r>
            <a:endParaRPr b="1">
              <a:solidFill>
                <a:srgbClr val="101214"/>
              </a:solidFill>
              <a:latin typeface="Roboto"/>
              <a:ea typeface="Roboto"/>
              <a:cs typeface="Roboto"/>
              <a:sym typeface="Roboto"/>
            </a:endParaRPr>
          </a:p>
          <a:p>
            <a:pPr indent="0" lvl="0" marL="0" rtl="0" algn="just">
              <a:lnSpc>
                <a:spcPct val="115000"/>
              </a:lnSpc>
              <a:spcBef>
                <a:spcPts val="400"/>
              </a:spcBef>
              <a:spcAft>
                <a:spcPts val="0"/>
              </a:spcAft>
              <a:buNone/>
            </a:pPr>
            <a:r>
              <a:rPr lang="en-GB">
                <a:solidFill>
                  <a:srgbClr val="292A2E"/>
                </a:solidFill>
                <a:latin typeface="Roboto"/>
                <a:ea typeface="Roboto"/>
                <a:cs typeface="Roboto"/>
                <a:sym typeface="Roboto"/>
              </a:rPr>
              <a:t>Use an epic burndown chart to track progress against a single epic across multiple sprints. Atlassian notes this view helps teams see how quickly they’re working through an epic and how work added/removed impacts overall progress. </a:t>
            </a:r>
            <a:endParaRPr>
              <a:solidFill>
                <a:srgbClr val="292A2E"/>
              </a:solidFill>
              <a:latin typeface="Roboto"/>
              <a:ea typeface="Roboto"/>
              <a:cs typeface="Roboto"/>
              <a:sym typeface="Roboto"/>
            </a:endParaRPr>
          </a:p>
        </p:txBody>
      </p:sp>
      <p:sp>
        <p:nvSpPr>
          <p:cNvPr id="252" name="Google Shape;252;p48"/>
          <p:cNvSpPr txBox="1"/>
          <p:nvPr/>
        </p:nvSpPr>
        <p:spPr>
          <a:xfrm>
            <a:off x="311700" y="2845350"/>
            <a:ext cx="4079400" cy="1938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None/>
            </a:pPr>
            <a:r>
              <a:rPr b="1" lang="en-GB">
                <a:solidFill>
                  <a:srgbClr val="101214"/>
                </a:solidFill>
              </a:rPr>
              <a:t>3. </a:t>
            </a:r>
            <a:r>
              <a:rPr b="1" lang="en-GB">
                <a:solidFill>
                  <a:srgbClr val="101214"/>
                </a:solidFill>
              </a:rPr>
              <a:t>Release or product burndown chart</a:t>
            </a:r>
            <a:endParaRPr b="1">
              <a:solidFill>
                <a:srgbClr val="101214"/>
              </a:solidFill>
            </a:endParaRPr>
          </a:p>
          <a:p>
            <a:pPr indent="0" lvl="0" marL="0" rtl="0" algn="just">
              <a:lnSpc>
                <a:spcPct val="115000"/>
              </a:lnSpc>
              <a:spcBef>
                <a:spcPts val="400"/>
              </a:spcBef>
              <a:spcAft>
                <a:spcPts val="0"/>
              </a:spcAft>
              <a:buNone/>
            </a:pPr>
            <a:r>
              <a:rPr lang="en-GB">
                <a:solidFill>
                  <a:srgbClr val="292A2E"/>
                </a:solidFill>
              </a:rPr>
              <a:t>Use a release burndown chart to track delivery across multiple sprints toward a release/version. This is helpful for release forecasting and longer-horizon stakeholder reporting.</a:t>
            </a:r>
            <a:endParaRPr>
              <a:solidFill>
                <a:srgbClr val="292A2E"/>
              </a:solidFill>
            </a:endParaRPr>
          </a:p>
          <a:p>
            <a:pPr indent="0" lvl="0" marL="0" rtl="0" algn="just">
              <a:lnSpc>
                <a:spcPct val="115000"/>
              </a:lnSpc>
              <a:spcBef>
                <a:spcPts val="0"/>
              </a:spcBef>
              <a:spcAft>
                <a:spcPts val="0"/>
              </a:spcAft>
              <a:buNone/>
            </a:pPr>
            <a:r>
              <a:rPr lang="en-GB">
                <a:solidFill>
                  <a:srgbClr val="292A2E"/>
                </a:solidFill>
              </a:rPr>
              <a:t>A release burndown chart tracks progress across multiple sprints or milestones, making it valuable</a:t>
            </a:r>
            <a:endParaRPr>
              <a:solidFill>
                <a:srgbClr val="292A2E"/>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Example Burn Down Data </a:t>
            </a:r>
            <a:endParaRPr b="1"/>
          </a:p>
        </p:txBody>
      </p:sp>
      <p:pic>
        <p:nvPicPr>
          <p:cNvPr id="258" name="Google Shape;258;p49" title="ADaef.png"/>
          <p:cNvPicPr preferRelativeResize="0"/>
          <p:nvPr/>
        </p:nvPicPr>
        <p:blipFill>
          <a:blip r:embed="rId3">
            <a:alphaModFix/>
          </a:blip>
          <a:stretch>
            <a:fillRect/>
          </a:stretch>
        </p:blipFill>
        <p:spPr>
          <a:xfrm>
            <a:off x="373825" y="1186400"/>
            <a:ext cx="7515374" cy="36762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50"/>
          <p:cNvSpPr txBox="1"/>
          <p:nvPr>
            <p:ph idx="1" type="body"/>
          </p:nvPr>
        </p:nvSpPr>
        <p:spPr>
          <a:xfrm>
            <a:off x="311700" y="608775"/>
            <a:ext cx="8520600" cy="3960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GB" sz="1600">
                <a:solidFill>
                  <a:schemeClr val="dk1"/>
                </a:solidFill>
              </a:rPr>
              <a:t>Interpretation</a:t>
            </a:r>
            <a:endParaRPr b="1" sz="1600">
              <a:solidFill>
                <a:schemeClr val="dk1"/>
              </a:solidFill>
            </a:endParaRPr>
          </a:p>
          <a:p>
            <a:pPr indent="-330200" lvl="0" marL="457200" rtl="0" algn="l">
              <a:spcBef>
                <a:spcPts val="1200"/>
              </a:spcBef>
              <a:spcAft>
                <a:spcPts val="0"/>
              </a:spcAft>
              <a:buClr>
                <a:schemeClr val="dk1"/>
              </a:buClr>
              <a:buSzPts val="1600"/>
              <a:buChar char="●"/>
            </a:pPr>
            <a:r>
              <a:rPr lang="en-GB" sz="1600">
                <a:solidFill>
                  <a:schemeClr val="dk1"/>
                </a:solidFill>
              </a:rPr>
              <a:t>If the actual line is above the ideal line, the team is behind schedule.</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If the actual line is below the ideal line, the team is ahead of schedule.</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If both lines meet at zero, the sprint goal has been achieved.</a:t>
            </a:r>
            <a:endParaRPr sz="1600">
              <a:solidFill>
                <a:schemeClr val="dk1"/>
              </a:solidFill>
            </a:endParaRPr>
          </a:p>
          <a:p>
            <a:pPr indent="0" lvl="0" marL="0" rtl="0" algn="l">
              <a:spcBef>
                <a:spcPts val="1400"/>
              </a:spcBef>
              <a:spcAft>
                <a:spcPts val="0"/>
              </a:spcAft>
              <a:buClr>
                <a:schemeClr val="dk1"/>
              </a:buClr>
              <a:buSzPts val="1100"/>
              <a:buFont typeface="Arial"/>
              <a:buNone/>
            </a:pPr>
            <a:r>
              <a:rPr b="1" lang="en-GB" sz="1600">
                <a:solidFill>
                  <a:schemeClr val="dk1"/>
                </a:solidFill>
              </a:rPr>
              <a:t>Benefits</a:t>
            </a:r>
            <a:endParaRPr b="1" sz="1600">
              <a:solidFill>
                <a:schemeClr val="dk1"/>
              </a:solidFill>
            </a:endParaRPr>
          </a:p>
          <a:p>
            <a:pPr indent="-330200" lvl="0" marL="457200" rtl="0" algn="l">
              <a:spcBef>
                <a:spcPts val="1200"/>
              </a:spcBef>
              <a:spcAft>
                <a:spcPts val="0"/>
              </a:spcAft>
              <a:buClr>
                <a:schemeClr val="dk1"/>
              </a:buClr>
              <a:buSzPts val="1600"/>
              <a:buChar char="●"/>
            </a:pPr>
            <a:r>
              <a:rPr lang="en-GB" sz="1600">
                <a:solidFill>
                  <a:schemeClr val="dk1"/>
                </a:solidFill>
              </a:rPr>
              <a:t>Provides visual progress tracking.</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Improves transparency.</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Enables early corrective actions.</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Helps forecast sprint completion.</a:t>
            </a:r>
            <a:endParaRPr sz="16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51"/>
          <p:cNvSpPr txBox="1"/>
          <p:nvPr>
            <p:ph idx="1" type="body"/>
          </p:nvPr>
        </p:nvSpPr>
        <p:spPr>
          <a:xfrm>
            <a:off x="311700" y="472100"/>
            <a:ext cx="8520600" cy="40968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Clr>
                <a:schemeClr val="dk1"/>
              </a:buClr>
              <a:buSzPts val="1100"/>
              <a:buFont typeface="Arial"/>
              <a:buNone/>
            </a:pPr>
            <a:r>
              <a:rPr b="1" lang="en-GB" sz="1600">
                <a:solidFill>
                  <a:schemeClr val="dk1"/>
                </a:solidFill>
              </a:rPr>
              <a:t>2. Inspect and Adapt (Fishbone Model)</a:t>
            </a:r>
            <a:endParaRPr b="1" sz="1600">
              <a:solidFill>
                <a:schemeClr val="dk1"/>
              </a:solidFill>
            </a:endParaRPr>
          </a:p>
          <a:p>
            <a:pPr indent="0" lvl="0" marL="0" rtl="0" algn="l">
              <a:spcBef>
                <a:spcPts val="1200"/>
              </a:spcBef>
              <a:spcAft>
                <a:spcPts val="0"/>
              </a:spcAft>
              <a:buClr>
                <a:schemeClr val="dk1"/>
              </a:buClr>
              <a:buSzPts val="1100"/>
              <a:buFont typeface="Arial"/>
              <a:buNone/>
            </a:pPr>
            <a:r>
              <a:rPr lang="en-GB" sz="1600">
                <a:solidFill>
                  <a:schemeClr val="dk1"/>
                </a:solidFill>
              </a:rPr>
              <a:t>Inspect and Adapt is a continuous improvement practice in Agile where teams regularly evaluate their work and make adjustments to improve performance and quality.</a:t>
            </a:r>
            <a:endParaRPr sz="1600">
              <a:solidFill>
                <a:schemeClr val="dk1"/>
              </a:solidFill>
            </a:endParaRPr>
          </a:p>
          <a:p>
            <a:pPr indent="0" lvl="0" marL="0" rtl="0" algn="l">
              <a:spcBef>
                <a:spcPts val="1800"/>
              </a:spcBef>
              <a:spcAft>
                <a:spcPts val="0"/>
              </a:spcAft>
              <a:buClr>
                <a:schemeClr val="dk1"/>
              </a:buClr>
              <a:buSzPts val="1100"/>
              <a:buFont typeface="Arial"/>
              <a:buNone/>
            </a:pPr>
            <a:r>
              <a:rPr lang="en-GB" sz="1600">
                <a:solidFill>
                  <a:schemeClr val="dk1"/>
                </a:solidFill>
              </a:rPr>
              <a:t>Objectives</a:t>
            </a:r>
            <a:endParaRPr sz="1600">
              <a:solidFill>
                <a:schemeClr val="dk1"/>
              </a:solidFill>
            </a:endParaRPr>
          </a:p>
          <a:p>
            <a:pPr indent="-330200" lvl="0" marL="457200" rtl="0" algn="l">
              <a:spcBef>
                <a:spcPts val="1200"/>
              </a:spcBef>
              <a:spcAft>
                <a:spcPts val="0"/>
              </a:spcAft>
              <a:buClr>
                <a:schemeClr val="dk1"/>
              </a:buClr>
              <a:buSzPts val="1600"/>
              <a:buChar char="●"/>
            </a:pPr>
            <a:r>
              <a:rPr lang="en-GB" sz="1600">
                <a:solidFill>
                  <a:schemeClr val="dk1"/>
                </a:solidFill>
              </a:rPr>
              <a:t>Identify root causes of problems.</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Improve team productivity.</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Enhance product quality.</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Promote continuous learning.</a:t>
            </a:r>
            <a:endParaRPr sz="1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52"/>
          <p:cNvSpPr txBox="1"/>
          <p:nvPr>
            <p:ph idx="1" type="body"/>
          </p:nvPr>
        </p:nvSpPr>
        <p:spPr>
          <a:xfrm>
            <a:off x="311700" y="360300"/>
            <a:ext cx="8832300" cy="3702600"/>
          </a:xfrm>
          <a:prstGeom prst="rect">
            <a:avLst/>
          </a:prstGeom>
        </p:spPr>
        <p:txBody>
          <a:bodyPr anchorCtr="0" anchor="t" bIns="91425" lIns="91425" spcFirstLastPara="1" rIns="91425" wrap="square" tIns="91425">
            <a:noAutofit/>
          </a:bodyPr>
          <a:lstStyle/>
          <a:p>
            <a:pPr indent="0" lvl="0" marL="0" rtl="0" algn="l">
              <a:lnSpc>
                <a:spcPct val="95000"/>
              </a:lnSpc>
              <a:spcBef>
                <a:spcPts val="1800"/>
              </a:spcBef>
              <a:spcAft>
                <a:spcPts val="0"/>
              </a:spcAft>
              <a:buClr>
                <a:schemeClr val="dk1"/>
              </a:buClr>
              <a:buSzPts val="1100"/>
              <a:buFont typeface="Arial"/>
              <a:buNone/>
            </a:pPr>
            <a:r>
              <a:rPr b="1" lang="en-GB" sz="1600">
                <a:solidFill>
                  <a:schemeClr val="dk1"/>
                </a:solidFill>
              </a:rPr>
              <a:t>3.Fishbone (Cause-and-Effect) Diagram</a:t>
            </a:r>
            <a:endParaRPr b="1" sz="1600">
              <a:solidFill>
                <a:schemeClr val="dk1"/>
              </a:solidFill>
            </a:endParaRPr>
          </a:p>
          <a:p>
            <a:pPr indent="0" lvl="0" marL="0" rtl="0" algn="l">
              <a:lnSpc>
                <a:spcPct val="95000"/>
              </a:lnSpc>
              <a:spcBef>
                <a:spcPts val="1200"/>
              </a:spcBef>
              <a:spcAft>
                <a:spcPts val="0"/>
              </a:spcAft>
              <a:buClr>
                <a:schemeClr val="dk1"/>
              </a:buClr>
              <a:buSzPts val="1100"/>
              <a:buFont typeface="Arial"/>
              <a:buNone/>
            </a:pPr>
            <a:r>
              <a:rPr lang="en-GB" sz="1600">
                <a:solidFill>
                  <a:schemeClr val="dk1"/>
                </a:solidFill>
              </a:rPr>
              <a:t>The Fishbone Diagram (also called the Ishikawa Diagram) is used to identify the root causes of issues.</a:t>
            </a:r>
            <a:endParaRPr sz="1600">
              <a:solidFill>
                <a:schemeClr val="dk1"/>
              </a:solidFill>
            </a:endParaRPr>
          </a:p>
          <a:p>
            <a:pPr indent="0" lvl="0" marL="0" rtl="0" algn="l">
              <a:lnSpc>
                <a:spcPct val="95000"/>
              </a:lnSpc>
              <a:spcBef>
                <a:spcPts val="1400"/>
              </a:spcBef>
              <a:spcAft>
                <a:spcPts val="0"/>
              </a:spcAft>
              <a:buClr>
                <a:schemeClr val="dk1"/>
              </a:buClr>
              <a:buSzPts val="1100"/>
              <a:buFont typeface="Arial"/>
              <a:buNone/>
            </a:pPr>
            <a:r>
              <a:rPr lang="en-GB" sz="1600">
                <a:solidFill>
                  <a:schemeClr val="dk1"/>
                </a:solidFill>
              </a:rPr>
              <a:t>Common Categories</a:t>
            </a:r>
            <a:endParaRPr sz="1600">
              <a:solidFill>
                <a:schemeClr val="dk1"/>
              </a:solidFill>
            </a:endParaRPr>
          </a:p>
          <a:p>
            <a:pPr indent="-330200" lvl="0" marL="457200" rtl="0" algn="l">
              <a:lnSpc>
                <a:spcPct val="95000"/>
              </a:lnSpc>
              <a:spcBef>
                <a:spcPts val="1200"/>
              </a:spcBef>
              <a:spcAft>
                <a:spcPts val="0"/>
              </a:spcAft>
              <a:buClr>
                <a:schemeClr val="dk1"/>
              </a:buClr>
              <a:buSzPts val="1600"/>
              <a:buAutoNum type="arabicPeriod"/>
            </a:pPr>
            <a:r>
              <a:rPr lang="en-GB" sz="1600">
                <a:solidFill>
                  <a:schemeClr val="dk1"/>
                </a:solidFill>
              </a:rPr>
              <a:t>People</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Lack of skills</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Communication gaps</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Resource shortages</a:t>
            </a:r>
            <a:endParaRPr sz="1600">
              <a:solidFill>
                <a:schemeClr val="dk1"/>
              </a:solidFill>
            </a:endParaRPr>
          </a:p>
          <a:p>
            <a:pPr indent="-330200" lvl="0" marL="457200" rtl="0" algn="l">
              <a:lnSpc>
                <a:spcPct val="95000"/>
              </a:lnSpc>
              <a:spcBef>
                <a:spcPts val="0"/>
              </a:spcBef>
              <a:spcAft>
                <a:spcPts val="0"/>
              </a:spcAft>
              <a:buClr>
                <a:schemeClr val="dk1"/>
              </a:buClr>
              <a:buSzPts val="1600"/>
              <a:buAutoNum type="arabicPeriod"/>
            </a:pPr>
            <a:r>
              <a:rPr lang="en-GB" sz="1600">
                <a:solidFill>
                  <a:schemeClr val="dk1"/>
                </a:solidFill>
              </a:rPr>
              <a:t>Process</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Poor planning</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Unclear requirements</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Inefficient workflow</a:t>
            </a:r>
            <a:endParaRPr sz="1600">
              <a:solidFill>
                <a:schemeClr val="dk1"/>
              </a:solidFill>
            </a:endParaRPr>
          </a:p>
          <a:p>
            <a:pPr indent="-330200" lvl="0" marL="457200" rtl="0" algn="l">
              <a:lnSpc>
                <a:spcPct val="95000"/>
              </a:lnSpc>
              <a:spcBef>
                <a:spcPts val="0"/>
              </a:spcBef>
              <a:spcAft>
                <a:spcPts val="0"/>
              </a:spcAft>
              <a:buClr>
                <a:schemeClr val="dk1"/>
              </a:buClr>
              <a:buSzPts val="1600"/>
              <a:buAutoNum type="arabicPeriod"/>
            </a:pPr>
            <a:r>
              <a:rPr lang="en-GB" sz="1600">
                <a:solidFill>
                  <a:schemeClr val="dk1"/>
                </a:solidFill>
              </a:rPr>
              <a:t>Technology</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Tool limitations</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System failures</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Integration issues</a:t>
            </a:r>
            <a:endParaRPr sz="1600">
              <a:solidFill>
                <a:schemeClr val="dk1"/>
              </a:solidFill>
            </a:endParaRPr>
          </a:p>
          <a:p>
            <a:pPr indent="0" lvl="0" marL="0" rtl="0" algn="l">
              <a:lnSpc>
                <a:spcPct val="95000"/>
              </a:lnSpc>
              <a:spcBef>
                <a:spcPts val="1200"/>
              </a:spcBef>
              <a:spcAft>
                <a:spcPts val="1200"/>
              </a:spcAft>
              <a:buNone/>
            </a:pPr>
            <a:r>
              <a:t/>
            </a:r>
            <a:endParaRPr sz="1900"/>
          </a:p>
        </p:txBody>
      </p:sp>
      <p:sp>
        <p:nvSpPr>
          <p:cNvPr id="274" name="Google Shape;274;p52"/>
          <p:cNvSpPr txBox="1"/>
          <p:nvPr/>
        </p:nvSpPr>
        <p:spPr>
          <a:xfrm>
            <a:off x="5061450" y="2732350"/>
            <a:ext cx="3761700" cy="21240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1200"/>
              </a:spcBef>
              <a:spcAft>
                <a:spcPts val="0"/>
              </a:spcAft>
              <a:buNone/>
            </a:pPr>
            <a:r>
              <a:rPr b="1" lang="en-GB" sz="1600">
                <a:solidFill>
                  <a:schemeClr val="dk1"/>
                </a:solidFill>
              </a:rPr>
              <a:t>4. </a:t>
            </a:r>
            <a:r>
              <a:rPr b="1" lang="en-GB" sz="1600">
                <a:solidFill>
                  <a:schemeClr val="dk1"/>
                </a:solidFill>
              </a:rPr>
              <a:t>Materials/Requirements</a:t>
            </a:r>
            <a:endParaRPr b="1" sz="1600">
              <a:solidFill>
                <a:schemeClr val="dk1"/>
              </a:solidFill>
            </a:endParaRPr>
          </a:p>
          <a:p>
            <a:pPr indent="-330200" lvl="1" marL="914400" rtl="0" algn="l">
              <a:lnSpc>
                <a:spcPct val="95000"/>
              </a:lnSpc>
              <a:spcBef>
                <a:spcPts val="1200"/>
              </a:spcBef>
              <a:spcAft>
                <a:spcPts val="0"/>
              </a:spcAft>
              <a:buClr>
                <a:schemeClr val="dk1"/>
              </a:buClr>
              <a:buSzPts val="1600"/>
              <a:buChar char="○"/>
            </a:pPr>
            <a:r>
              <a:rPr lang="en-GB" sz="1600">
                <a:solidFill>
                  <a:schemeClr val="dk1"/>
                </a:solidFill>
              </a:rPr>
              <a:t>Incomplete user stories</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Changing requirements</a:t>
            </a:r>
            <a:endParaRPr sz="1600">
              <a:solidFill>
                <a:schemeClr val="dk1"/>
              </a:solidFill>
            </a:endParaRPr>
          </a:p>
          <a:p>
            <a:pPr indent="0" lvl="0" marL="0" rtl="0" algn="l">
              <a:lnSpc>
                <a:spcPct val="95000"/>
              </a:lnSpc>
              <a:spcBef>
                <a:spcPts val="1200"/>
              </a:spcBef>
              <a:spcAft>
                <a:spcPts val="0"/>
              </a:spcAft>
              <a:buNone/>
            </a:pPr>
            <a:r>
              <a:rPr b="1" lang="en-GB" sz="1600">
                <a:solidFill>
                  <a:schemeClr val="dk1"/>
                </a:solidFill>
              </a:rPr>
              <a:t>5. </a:t>
            </a:r>
            <a:r>
              <a:rPr b="1" lang="en-GB" sz="1600">
                <a:solidFill>
                  <a:schemeClr val="dk1"/>
                </a:solidFill>
              </a:rPr>
              <a:t>Environment</a:t>
            </a:r>
            <a:endParaRPr b="1" sz="1600">
              <a:solidFill>
                <a:schemeClr val="dk1"/>
              </a:solidFill>
            </a:endParaRPr>
          </a:p>
          <a:p>
            <a:pPr indent="-330200" lvl="1" marL="914400" rtl="0" algn="l">
              <a:lnSpc>
                <a:spcPct val="95000"/>
              </a:lnSpc>
              <a:spcBef>
                <a:spcPts val="1200"/>
              </a:spcBef>
              <a:spcAft>
                <a:spcPts val="0"/>
              </a:spcAft>
              <a:buClr>
                <a:schemeClr val="dk1"/>
              </a:buClr>
              <a:buSzPts val="1600"/>
              <a:buChar char="○"/>
            </a:pPr>
            <a:r>
              <a:rPr lang="en-GB" sz="1600">
                <a:solidFill>
                  <a:schemeClr val="dk1"/>
                </a:solidFill>
              </a:rPr>
              <a:t>Infrastructure problems</a:t>
            </a:r>
            <a:endParaRPr sz="1600">
              <a:solidFill>
                <a:schemeClr val="dk1"/>
              </a:solidFill>
            </a:endParaRPr>
          </a:p>
          <a:p>
            <a:pPr indent="-330200" lvl="1" marL="914400" rtl="0" algn="l">
              <a:lnSpc>
                <a:spcPct val="95000"/>
              </a:lnSpc>
              <a:spcBef>
                <a:spcPts val="0"/>
              </a:spcBef>
              <a:spcAft>
                <a:spcPts val="0"/>
              </a:spcAft>
              <a:buClr>
                <a:schemeClr val="dk1"/>
              </a:buClr>
              <a:buSzPts val="1600"/>
              <a:buChar char="○"/>
            </a:pPr>
            <a:r>
              <a:rPr lang="en-GB" sz="1600">
                <a:solidFill>
                  <a:schemeClr val="dk1"/>
                </a:solidFill>
              </a:rPr>
              <a:t>External dependencies</a:t>
            </a:r>
            <a:endParaRPr sz="16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8" name="Shape 278"/>
        <p:cNvGrpSpPr/>
        <p:nvPr/>
      </p:nvGrpSpPr>
      <p:grpSpPr>
        <a:xfrm>
          <a:off x="0" y="0"/>
          <a:ext cx="0" cy="0"/>
          <a:chOff x="0" y="0"/>
          <a:chExt cx="0" cy="0"/>
        </a:xfrm>
      </p:grpSpPr>
      <p:sp>
        <p:nvSpPr>
          <p:cNvPr id="279" name="Google Shape;279;p53"/>
          <p:cNvSpPr txBox="1"/>
          <p:nvPr>
            <p:ph idx="1" type="body"/>
          </p:nvPr>
        </p:nvSpPr>
        <p:spPr>
          <a:xfrm>
            <a:off x="311700" y="236050"/>
            <a:ext cx="5529600" cy="4907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GB" sz="1600">
                <a:solidFill>
                  <a:schemeClr val="dk1"/>
                </a:solidFill>
              </a:rPr>
              <a:t>Example</a:t>
            </a:r>
            <a:endParaRPr b="1" sz="1600">
              <a:solidFill>
                <a:schemeClr val="dk1"/>
              </a:solidFill>
            </a:endParaRPr>
          </a:p>
          <a:p>
            <a:pPr indent="0" lvl="0" marL="0" rtl="0" algn="l">
              <a:spcBef>
                <a:spcPts val="1200"/>
              </a:spcBef>
              <a:spcAft>
                <a:spcPts val="0"/>
              </a:spcAft>
              <a:buClr>
                <a:schemeClr val="dk1"/>
              </a:buClr>
              <a:buSzPts val="1100"/>
              <a:buFont typeface="Arial"/>
              <a:buNone/>
            </a:pPr>
            <a:r>
              <a:rPr b="1" lang="en-GB" sz="1600">
                <a:solidFill>
                  <a:schemeClr val="dk1"/>
                </a:solidFill>
              </a:rPr>
              <a:t>Problem:</a:t>
            </a:r>
            <a:r>
              <a:rPr lang="en-GB" sz="1600">
                <a:solidFill>
                  <a:schemeClr val="dk1"/>
                </a:solidFill>
              </a:rPr>
              <a:t> Sprint delivery delayed</a:t>
            </a:r>
            <a:endParaRPr sz="1600">
              <a:solidFill>
                <a:schemeClr val="dk1"/>
              </a:solidFill>
            </a:endParaRPr>
          </a:p>
          <a:p>
            <a:pPr indent="0" lvl="0" marL="0" rtl="0" algn="l">
              <a:spcBef>
                <a:spcPts val="1200"/>
              </a:spcBef>
              <a:spcAft>
                <a:spcPts val="0"/>
              </a:spcAft>
              <a:buClr>
                <a:schemeClr val="dk1"/>
              </a:buClr>
              <a:buSzPts val="1100"/>
              <a:buFont typeface="Arial"/>
              <a:buNone/>
            </a:pPr>
            <a:r>
              <a:rPr b="1" lang="en-GB" sz="1600">
                <a:solidFill>
                  <a:schemeClr val="dk1"/>
                </a:solidFill>
              </a:rPr>
              <a:t>Possible Causes:</a:t>
            </a:r>
            <a:endParaRPr b="1" sz="1600">
              <a:solidFill>
                <a:schemeClr val="dk1"/>
              </a:solidFill>
            </a:endParaRPr>
          </a:p>
          <a:p>
            <a:pPr indent="-330200" lvl="0" marL="457200" rtl="0" algn="l">
              <a:spcBef>
                <a:spcPts val="1200"/>
              </a:spcBef>
              <a:spcAft>
                <a:spcPts val="0"/>
              </a:spcAft>
              <a:buClr>
                <a:schemeClr val="dk1"/>
              </a:buClr>
              <a:buSzPts val="1600"/>
              <a:buChar char="●"/>
            </a:pPr>
            <a:r>
              <a:rPr lang="en-GB" sz="1600">
                <a:solidFill>
                  <a:schemeClr val="dk1"/>
                </a:solidFill>
              </a:rPr>
              <a:t>People → Inadequate training</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Process → Poor estimation</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Technology → Build failures</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Requirements → Frequent scope changes</a:t>
            </a:r>
            <a:endParaRPr sz="1600">
              <a:solidFill>
                <a:schemeClr val="dk1"/>
              </a:solidFill>
            </a:endParaRPr>
          </a:p>
          <a:p>
            <a:pPr indent="0" lvl="0" marL="0" rtl="0" algn="l">
              <a:spcBef>
                <a:spcPts val="1400"/>
              </a:spcBef>
              <a:spcAft>
                <a:spcPts val="0"/>
              </a:spcAft>
              <a:buClr>
                <a:schemeClr val="dk1"/>
              </a:buClr>
              <a:buSzPts val="1100"/>
              <a:buFont typeface="Arial"/>
              <a:buNone/>
            </a:pPr>
            <a:r>
              <a:rPr b="1" lang="en-GB" sz="1600">
                <a:solidFill>
                  <a:schemeClr val="dk1"/>
                </a:solidFill>
              </a:rPr>
              <a:t>Steps in Inspect and Adapt</a:t>
            </a:r>
            <a:endParaRPr b="1" sz="1600">
              <a:solidFill>
                <a:schemeClr val="dk1"/>
              </a:solidFill>
            </a:endParaRPr>
          </a:p>
          <a:p>
            <a:pPr indent="-330200" lvl="0" marL="457200" rtl="0" algn="l">
              <a:spcBef>
                <a:spcPts val="1200"/>
              </a:spcBef>
              <a:spcAft>
                <a:spcPts val="0"/>
              </a:spcAft>
              <a:buClr>
                <a:schemeClr val="dk1"/>
              </a:buClr>
              <a:buSzPts val="1600"/>
              <a:buAutoNum type="arabicPeriod"/>
            </a:pPr>
            <a:r>
              <a:rPr lang="en-GB" sz="1600">
                <a:solidFill>
                  <a:schemeClr val="dk1"/>
                </a:solidFill>
              </a:rPr>
              <a:t>Review sprint results.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Identify issues and bottlenecks.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Analyze root causes using Fishbone Diagram.</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Define improvement actions.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Implement changes in the next sprint.</a:t>
            </a:r>
            <a:endParaRPr/>
          </a:p>
        </p:txBody>
      </p:sp>
      <p:sp>
        <p:nvSpPr>
          <p:cNvPr id="280" name="Google Shape;280;p53"/>
          <p:cNvSpPr txBox="1"/>
          <p:nvPr/>
        </p:nvSpPr>
        <p:spPr>
          <a:xfrm>
            <a:off x="5255975" y="437750"/>
            <a:ext cx="4023000" cy="171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sz="1600">
                <a:solidFill>
                  <a:schemeClr val="dk1"/>
                </a:solidFill>
              </a:rPr>
              <a:t>Benefits</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Continuous improvement.</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Better team performance.</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Reduced recurring problems.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Increased customer satisfaction.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54"/>
          <p:cNvPicPr preferRelativeResize="0"/>
          <p:nvPr/>
        </p:nvPicPr>
        <p:blipFill rotWithShape="1">
          <a:blip r:embed="rId3">
            <a:alphaModFix/>
          </a:blip>
          <a:srcRect b="6986" l="0" r="0" t="13084"/>
          <a:stretch/>
        </p:blipFill>
        <p:spPr>
          <a:xfrm>
            <a:off x="607645" y="228250"/>
            <a:ext cx="8452329" cy="49152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5"/>
          <p:cNvSpPr txBox="1"/>
          <p:nvPr>
            <p:ph idx="1" type="body"/>
          </p:nvPr>
        </p:nvSpPr>
        <p:spPr>
          <a:xfrm>
            <a:off x="311700" y="310600"/>
            <a:ext cx="8520600" cy="4258200"/>
          </a:xfrm>
          <a:prstGeom prst="rect">
            <a:avLst/>
          </a:prstGeom>
        </p:spPr>
        <p:txBody>
          <a:bodyPr anchorCtr="0" anchor="t" bIns="91425" lIns="91425" spcFirstLastPara="1" rIns="91425" wrap="square" tIns="91425">
            <a:normAutofit lnSpcReduction="20000"/>
          </a:bodyPr>
          <a:lstStyle/>
          <a:p>
            <a:pPr indent="0" lvl="0" marL="0" rtl="0" algn="l">
              <a:spcBef>
                <a:spcPts val="2400"/>
              </a:spcBef>
              <a:spcAft>
                <a:spcPts val="0"/>
              </a:spcAft>
              <a:buClr>
                <a:schemeClr val="dk1"/>
              </a:buClr>
              <a:buSzPts val="1100"/>
              <a:buFont typeface="Arial"/>
              <a:buNone/>
            </a:pPr>
            <a:r>
              <a:rPr b="1" lang="en-GB" sz="1600">
                <a:solidFill>
                  <a:schemeClr val="dk1"/>
                </a:solidFill>
              </a:rPr>
              <a:t>4. Agile Release Train (ART)</a:t>
            </a:r>
            <a:endParaRPr b="1" sz="1600">
              <a:solidFill>
                <a:schemeClr val="dk1"/>
              </a:solidFill>
            </a:endParaRPr>
          </a:p>
          <a:p>
            <a:pPr indent="0" lvl="0" marL="0" rtl="0" algn="just">
              <a:spcBef>
                <a:spcPts val="1200"/>
              </a:spcBef>
              <a:spcAft>
                <a:spcPts val="0"/>
              </a:spcAft>
              <a:buClr>
                <a:schemeClr val="dk1"/>
              </a:buClr>
              <a:buSzPts val="1100"/>
              <a:buFont typeface="Arial"/>
              <a:buNone/>
            </a:pPr>
            <a:r>
              <a:rPr lang="en-GB" sz="1600">
                <a:solidFill>
                  <a:schemeClr val="dk1"/>
                </a:solidFill>
              </a:rPr>
              <a:t>An Agile Release Train (ART) is a concept from the Scaled Agile Framework (SAFe) that aligns multiple Agile teams to deliver value together on a regular schedule.</a:t>
            </a:r>
            <a:endParaRPr sz="1600">
              <a:solidFill>
                <a:schemeClr val="dk1"/>
              </a:solidFill>
            </a:endParaRPr>
          </a:p>
          <a:p>
            <a:pPr indent="0" lvl="0" marL="0" rtl="0" algn="just">
              <a:spcBef>
                <a:spcPts val="1800"/>
              </a:spcBef>
              <a:spcAft>
                <a:spcPts val="0"/>
              </a:spcAft>
              <a:buClr>
                <a:schemeClr val="dk1"/>
              </a:buClr>
              <a:buSzPts val="1100"/>
              <a:buFont typeface="Arial"/>
              <a:buNone/>
            </a:pPr>
            <a:r>
              <a:rPr lang="en-GB" sz="1600">
                <a:solidFill>
                  <a:schemeClr val="dk1"/>
                </a:solidFill>
              </a:rPr>
              <a:t>Definition</a:t>
            </a:r>
            <a:endParaRPr sz="1600">
              <a:solidFill>
                <a:schemeClr val="dk1"/>
              </a:solidFill>
            </a:endParaRPr>
          </a:p>
          <a:p>
            <a:pPr indent="0" lvl="0" marL="0" rtl="0" algn="just">
              <a:spcBef>
                <a:spcPts val="1200"/>
              </a:spcBef>
              <a:spcAft>
                <a:spcPts val="0"/>
              </a:spcAft>
              <a:buClr>
                <a:schemeClr val="dk1"/>
              </a:buClr>
              <a:buSzPts val="1100"/>
              <a:buFont typeface="Arial"/>
              <a:buNone/>
            </a:pPr>
            <a:r>
              <a:rPr lang="en-GB" sz="1600">
                <a:solidFill>
                  <a:schemeClr val="dk1"/>
                </a:solidFill>
              </a:rPr>
              <a:t>An Agile Release Train is a long-lived team of Agile teams (typically 5–12 teams) that plans, commits, develops, and deploys solutions together.</a:t>
            </a:r>
            <a:endParaRPr sz="1600">
              <a:solidFill>
                <a:schemeClr val="dk1"/>
              </a:solidFill>
            </a:endParaRPr>
          </a:p>
          <a:p>
            <a:pPr indent="0" lvl="0" marL="0" rtl="0" algn="just">
              <a:spcBef>
                <a:spcPts val="1800"/>
              </a:spcBef>
              <a:spcAft>
                <a:spcPts val="0"/>
              </a:spcAft>
              <a:buClr>
                <a:schemeClr val="dk1"/>
              </a:buClr>
              <a:buSzPts val="1100"/>
              <a:buFont typeface="Arial"/>
              <a:buNone/>
            </a:pPr>
            <a:r>
              <a:rPr lang="en-GB" sz="1600">
                <a:solidFill>
                  <a:schemeClr val="dk1"/>
                </a:solidFill>
              </a:rPr>
              <a:t>Characteristics</a:t>
            </a:r>
            <a:endParaRPr sz="1600">
              <a:solidFill>
                <a:schemeClr val="dk1"/>
              </a:solidFill>
            </a:endParaRPr>
          </a:p>
          <a:p>
            <a:pPr indent="-330200" lvl="0" marL="457200" rtl="0" algn="just">
              <a:spcBef>
                <a:spcPts val="1200"/>
              </a:spcBef>
              <a:spcAft>
                <a:spcPts val="0"/>
              </a:spcAft>
              <a:buClr>
                <a:schemeClr val="dk1"/>
              </a:buClr>
              <a:buSzPts val="1600"/>
              <a:buChar char="●"/>
            </a:pPr>
            <a:r>
              <a:rPr lang="en-GB" sz="1600">
                <a:solidFill>
                  <a:schemeClr val="dk1"/>
                </a:solidFill>
              </a:rPr>
              <a:t>Consists of multiple Agile teams.</a:t>
            </a:r>
            <a:endParaRPr sz="1600">
              <a:solidFill>
                <a:schemeClr val="dk1"/>
              </a:solidFill>
            </a:endParaRPr>
          </a:p>
          <a:p>
            <a:pPr indent="-330200" lvl="0" marL="457200" rtl="0" algn="just">
              <a:spcBef>
                <a:spcPts val="0"/>
              </a:spcBef>
              <a:spcAft>
                <a:spcPts val="0"/>
              </a:spcAft>
              <a:buClr>
                <a:schemeClr val="dk1"/>
              </a:buClr>
              <a:buSzPts val="1600"/>
              <a:buChar char="●"/>
            </a:pPr>
            <a:r>
              <a:rPr lang="en-GB" sz="1600">
                <a:solidFill>
                  <a:schemeClr val="dk1"/>
                </a:solidFill>
              </a:rPr>
              <a:t>Works toward a common business goal.</a:t>
            </a:r>
            <a:endParaRPr sz="1600">
              <a:solidFill>
                <a:schemeClr val="dk1"/>
              </a:solidFill>
            </a:endParaRPr>
          </a:p>
          <a:p>
            <a:pPr indent="-330200" lvl="0" marL="457200" rtl="0" algn="just">
              <a:spcBef>
                <a:spcPts val="0"/>
              </a:spcBef>
              <a:spcAft>
                <a:spcPts val="0"/>
              </a:spcAft>
              <a:buClr>
                <a:schemeClr val="dk1"/>
              </a:buClr>
              <a:buSzPts val="1600"/>
              <a:buChar char="●"/>
            </a:pPr>
            <a:r>
              <a:rPr lang="en-GB" sz="1600">
                <a:solidFill>
                  <a:schemeClr val="dk1"/>
                </a:solidFill>
              </a:rPr>
              <a:t>Operates on a synchronized schedule.</a:t>
            </a:r>
            <a:endParaRPr sz="1600">
              <a:solidFill>
                <a:schemeClr val="dk1"/>
              </a:solidFill>
            </a:endParaRPr>
          </a:p>
          <a:p>
            <a:pPr indent="-330200" lvl="0" marL="457200" rtl="0" algn="just">
              <a:spcBef>
                <a:spcPts val="0"/>
              </a:spcBef>
              <a:spcAft>
                <a:spcPts val="0"/>
              </a:spcAft>
              <a:buClr>
                <a:schemeClr val="dk1"/>
              </a:buClr>
              <a:buSzPts val="1600"/>
              <a:buChar char="●"/>
            </a:pPr>
            <a:r>
              <a:rPr lang="en-GB" sz="1600">
                <a:solidFill>
                  <a:schemeClr val="dk1"/>
                </a:solidFill>
              </a:rPr>
              <a:t>Delivers value through regular releases.</a:t>
            </a:r>
            <a:endParaRPr sz="16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6"/>
          <p:cNvSpPr txBox="1"/>
          <p:nvPr>
            <p:ph idx="1" type="body"/>
          </p:nvPr>
        </p:nvSpPr>
        <p:spPr>
          <a:xfrm>
            <a:off x="434825" y="284500"/>
            <a:ext cx="3436500" cy="42708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GB" sz="1700">
                <a:solidFill>
                  <a:schemeClr val="dk1"/>
                </a:solidFill>
              </a:rPr>
              <a:t>Key Roles</a:t>
            </a:r>
            <a:endParaRPr b="1" sz="1700">
              <a:solidFill>
                <a:schemeClr val="dk1"/>
              </a:solidFill>
            </a:endParaRPr>
          </a:p>
          <a:p>
            <a:pPr indent="0" lvl="0" marL="0" rtl="0" algn="l">
              <a:spcBef>
                <a:spcPts val="1400"/>
              </a:spcBef>
              <a:spcAft>
                <a:spcPts val="0"/>
              </a:spcAft>
              <a:buClr>
                <a:schemeClr val="dk1"/>
              </a:buClr>
              <a:buSzPts val="1100"/>
              <a:buFont typeface="Arial"/>
              <a:buNone/>
            </a:pPr>
            <a:r>
              <a:rPr b="1" lang="en-GB" sz="1600">
                <a:solidFill>
                  <a:schemeClr val="dk1"/>
                </a:solidFill>
              </a:rPr>
              <a:t>Release Train Engineer (RTE)</a:t>
            </a:r>
            <a:endParaRPr b="1" sz="1600">
              <a:solidFill>
                <a:schemeClr val="dk1"/>
              </a:solidFill>
            </a:endParaRPr>
          </a:p>
          <a:p>
            <a:pPr indent="-330200" lvl="0" marL="457200" rtl="0" algn="l">
              <a:spcBef>
                <a:spcPts val="1200"/>
              </a:spcBef>
              <a:spcAft>
                <a:spcPts val="0"/>
              </a:spcAft>
              <a:buClr>
                <a:schemeClr val="dk1"/>
              </a:buClr>
              <a:buSzPts val="1600"/>
              <a:buChar char="●"/>
            </a:pPr>
            <a:r>
              <a:rPr lang="en-GB" sz="1600">
                <a:solidFill>
                  <a:schemeClr val="dk1"/>
                </a:solidFill>
              </a:rPr>
              <a:t>Facilitates ART activities.</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Removes obstacles.</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Coordinates teams.</a:t>
            </a:r>
            <a:endParaRPr sz="1600">
              <a:solidFill>
                <a:schemeClr val="dk1"/>
              </a:solidFill>
            </a:endParaRPr>
          </a:p>
          <a:p>
            <a:pPr indent="0" lvl="0" marL="0" rtl="0" algn="l">
              <a:spcBef>
                <a:spcPts val="1400"/>
              </a:spcBef>
              <a:spcAft>
                <a:spcPts val="0"/>
              </a:spcAft>
              <a:buClr>
                <a:schemeClr val="dk1"/>
              </a:buClr>
              <a:buSzPts val="1100"/>
              <a:buFont typeface="Arial"/>
              <a:buNone/>
            </a:pPr>
            <a:r>
              <a:rPr b="1" lang="en-GB" sz="1600">
                <a:solidFill>
                  <a:schemeClr val="dk1"/>
                </a:solidFill>
              </a:rPr>
              <a:t>Product Management</a:t>
            </a:r>
            <a:endParaRPr b="1" sz="1600">
              <a:solidFill>
                <a:schemeClr val="dk1"/>
              </a:solidFill>
            </a:endParaRPr>
          </a:p>
          <a:p>
            <a:pPr indent="-330200" lvl="0" marL="457200" rtl="0" algn="l">
              <a:spcBef>
                <a:spcPts val="1200"/>
              </a:spcBef>
              <a:spcAft>
                <a:spcPts val="0"/>
              </a:spcAft>
              <a:buClr>
                <a:schemeClr val="dk1"/>
              </a:buClr>
              <a:buSzPts val="1600"/>
              <a:buChar char="●"/>
            </a:pPr>
            <a:r>
              <a:rPr lang="en-GB" sz="1600">
                <a:solidFill>
                  <a:schemeClr val="dk1"/>
                </a:solidFill>
              </a:rPr>
              <a:t>Defines vision and priorities.</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Maintains the Program Backlog.</a:t>
            </a:r>
            <a:endParaRPr sz="1600">
              <a:solidFill>
                <a:schemeClr val="dk1"/>
              </a:solidFill>
            </a:endParaRPr>
          </a:p>
          <a:p>
            <a:pPr indent="0" lvl="0" marL="0" rtl="0" algn="l">
              <a:spcBef>
                <a:spcPts val="1200"/>
              </a:spcBef>
              <a:spcAft>
                <a:spcPts val="1200"/>
              </a:spcAft>
              <a:buNone/>
            </a:pPr>
            <a:r>
              <a:t/>
            </a:r>
            <a:endParaRPr/>
          </a:p>
        </p:txBody>
      </p:sp>
      <p:sp>
        <p:nvSpPr>
          <p:cNvPr id="296" name="Google Shape;296;p56"/>
          <p:cNvSpPr txBox="1"/>
          <p:nvPr/>
        </p:nvSpPr>
        <p:spPr>
          <a:xfrm>
            <a:off x="4572000" y="889175"/>
            <a:ext cx="4091400" cy="205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sz="1600">
                <a:solidFill>
                  <a:schemeClr val="dk1"/>
                </a:solidFill>
              </a:rPr>
              <a:t>System Architect</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Provides technical guidance.</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Ensures architectural consistency.</a:t>
            </a:r>
            <a:endParaRPr sz="1600">
              <a:solidFill>
                <a:schemeClr val="dk1"/>
              </a:solidFill>
            </a:endParaRPr>
          </a:p>
          <a:p>
            <a:pPr indent="0" lvl="0" marL="0" rtl="0" algn="l">
              <a:lnSpc>
                <a:spcPct val="115000"/>
              </a:lnSpc>
              <a:spcBef>
                <a:spcPts val="1400"/>
              </a:spcBef>
              <a:spcAft>
                <a:spcPts val="0"/>
              </a:spcAft>
              <a:buNone/>
            </a:pPr>
            <a:r>
              <a:rPr b="1" lang="en-GB" sz="1600">
                <a:solidFill>
                  <a:schemeClr val="dk1"/>
                </a:solidFill>
              </a:rPr>
              <a:t>Agile Teams</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lang="en-GB" sz="1600">
                <a:solidFill>
                  <a:schemeClr val="dk1"/>
                </a:solidFill>
              </a:rPr>
              <a:t>Develop, test, and deliver features</a:t>
            </a:r>
            <a:r>
              <a:rPr lang="en-GB">
                <a:solidFill>
                  <a:schemeClr val="dk1"/>
                </a:solidFill>
              </a:rPr>
              <a: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7"/>
          <p:cNvSpPr txBox="1"/>
          <p:nvPr>
            <p:ph idx="1" type="body"/>
          </p:nvPr>
        </p:nvSpPr>
        <p:spPr>
          <a:xfrm>
            <a:off x="311700" y="300950"/>
            <a:ext cx="8520600" cy="47331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lang="en-GB" sz="1600">
                <a:solidFill>
                  <a:schemeClr val="dk1"/>
                </a:solidFill>
              </a:rPr>
              <a:t>Agile Release Train Cycle</a:t>
            </a:r>
            <a:endParaRPr sz="1600">
              <a:solidFill>
                <a:schemeClr val="dk1"/>
              </a:solidFill>
            </a:endParaRPr>
          </a:p>
          <a:p>
            <a:pPr indent="-330200" lvl="0" marL="457200" rtl="0" algn="l">
              <a:spcBef>
                <a:spcPts val="1200"/>
              </a:spcBef>
              <a:spcAft>
                <a:spcPts val="0"/>
              </a:spcAft>
              <a:buClr>
                <a:schemeClr val="dk1"/>
              </a:buClr>
              <a:buSzPts val="1600"/>
              <a:buAutoNum type="arabicPeriod"/>
            </a:pPr>
            <a:r>
              <a:rPr lang="en-GB" sz="1600">
                <a:solidFill>
                  <a:schemeClr val="dk1"/>
                </a:solidFill>
              </a:rPr>
              <a:t>Program Increment (PI) Planning</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Sprint Planning</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Development &amp; Testing</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System Demo</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Inspect and Adapt Workshop</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Release of Product Increment</a:t>
            </a:r>
            <a:endParaRPr sz="1600">
              <a:solidFill>
                <a:schemeClr val="dk1"/>
              </a:solidFill>
            </a:endParaRPr>
          </a:p>
          <a:p>
            <a:pPr indent="0" lvl="0" marL="0" rtl="0" algn="l">
              <a:spcBef>
                <a:spcPts val="1800"/>
              </a:spcBef>
              <a:spcAft>
                <a:spcPts val="0"/>
              </a:spcAft>
              <a:buClr>
                <a:schemeClr val="dk1"/>
              </a:buClr>
              <a:buSzPts val="1100"/>
              <a:buFont typeface="Arial"/>
              <a:buNone/>
            </a:pPr>
            <a:r>
              <a:rPr lang="en-GB" sz="1600">
                <a:solidFill>
                  <a:schemeClr val="dk1"/>
                </a:solidFill>
              </a:rPr>
              <a:t>Benefits of Agile Release Train</a:t>
            </a:r>
            <a:endParaRPr sz="1600">
              <a:solidFill>
                <a:schemeClr val="dk1"/>
              </a:solidFill>
            </a:endParaRPr>
          </a:p>
          <a:p>
            <a:pPr indent="-330200" lvl="0" marL="457200" rtl="0" algn="l">
              <a:spcBef>
                <a:spcPts val="1200"/>
              </a:spcBef>
              <a:spcAft>
                <a:spcPts val="0"/>
              </a:spcAft>
              <a:buClr>
                <a:schemeClr val="dk1"/>
              </a:buClr>
              <a:buSzPts val="1600"/>
              <a:buAutoNum type="arabicPeriod"/>
            </a:pPr>
            <a:r>
              <a:rPr lang="en-GB" sz="1600">
                <a:solidFill>
                  <a:schemeClr val="dk1"/>
                </a:solidFill>
              </a:rPr>
              <a:t>Improves coordination among teams.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Aligns business and technical goals.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Enhances productivity and quality.</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Enables large-scale Agile implementation.</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Supports predictable delivery schedules.</a:t>
            </a:r>
            <a:endParaRPr sz="16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Testing: </a:t>
            </a:r>
            <a:endParaRPr/>
          </a:p>
        </p:txBody>
      </p:sp>
      <p:sp>
        <p:nvSpPr>
          <p:cNvPr id="307" name="Google Shape;307;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t>Functional testing</a:t>
            </a:r>
            <a:endParaRPr/>
          </a:p>
          <a:p>
            <a:pPr indent="0" lvl="0" marL="0" rtl="0" algn="l">
              <a:spcBef>
                <a:spcPts val="0"/>
              </a:spcBef>
              <a:spcAft>
                <a:spcPts val="0"/>
              </a:spcAft>
              <a:buClr>
                <a:schemeClr val="dk1"/>
              </a:buClr>
              <a:buSzPct val="39286"/>
              <a:buFont typeface="Arial"/>
              <a:buNone/>
            </a:pPr>
            <a:r>
              <a:t/>
            </a:r>
            <a:endParaRPr/>
          </a:p>
          <a:p>
            <a:pPr indent="0" lvl="0" marL="0" rtl="0" algn="l">
              <a:spcBef>
                <a:spcPts val="0"/>
              </a:spcBef>
              <a:spcAft>
                <a:spcPts val="0"/>
              </a:spcAft>
              <a:buClr>
                <a:schemeClr val="dk1"/>
              </a:buClr>
              <a:buSzPct val="39286"/>
              <a:buFont typeface="Arial"/>
              <a:buNone/>
            </a:pPr>
            <a:r>
              <a:rPr lang="en-GB"/>
              <a:t>Object property coverage</a:t>
            </a:r>
            <a:endParaRPr/>
          </a:p>
          <a:p>
            <a:pPr indent="0" lvl="0" marL="0" rtl="0" algn="l">
              <a:spcBef>
                <a:spcPts val="0"/>
              </a:spcBef>
              <a:spcAft>
                <a:spcPts val="0"/>
              </a:spcAft>
              <a:buClr>
                <a:schemeClr val="dk1"/>
              </a:buClr>
              <a:buSzPct val="39286"/>
              <a:buFont typeface="Arial"/>
              <a:buNone/>
            </a:pPr>
            <a:r>
              <a:rPr lang="en-GB"/>
              <a:t>• (such properties which changes at run time like OK Button)</a:t>
            </a:r>
            <a:endParaRPr/>
          </a:p>
          <a:p>
            <a:pPr indent="0" lvl="0" marL="0" rtl="0" algn="l">
              <a:spcBef>
                <a:spcPts val="0"/>
              </a:spcBef>
              <a:spcAft>
                <a:spcPts val="0"/>
              </a:spcAft>
              <a:buClr>
                <a:schemeClr val="dk1"/>
              </a:buClr>
              <a:buSzPct val="39286"/>
              <a:buFont typeface="Arial"/>
              <a:buNone/>
            </a:pPr>
            <a:r>
              <a:rPr lang="en-GB"/>
              <a:t>• For example: for any form, value of two dropdown boxes should be</a:t>
            </a:r>
            <a:endParaRPr/>
          </a:p>
          <a:p>
            <a:pPr indent="0" lvl="0" marL="0" rtl="0" algn="l">
              <a:spcBef>
                <a:spcPts val="0"/>
              </a:spcBef>
              <a:spcAft>
                <a:spcPts val="0"/>
              </a:spcAft>
              <a:buClr>
                <a:schemeClr val="dk1"/>
              </a:buClr>
              <a:buSzPct val="39286"/>
              <a:buFont typeface="Arial"/>
              <a:buNone/>
            </a:pPr>
            <a:r>
              <a:rPr lang="en-GB"/>
              <a:t>different</a:t>
            </a:r>
            <a:endParaRPr/>
          </a:p>
          <a:p>
            <a:pPr indent="0" lvl="0" marL="0" rtl="0" algn="l">
              <a:spcBef>
                <a:spcPts val="0"/>
              </a:spcBef>
              <a:spcAft>
                <a:spcPts val="0"/>
              </a:spcAft>
              <a:buClr>
                <a:schemeClr val="dk1"/>
              </a:buClr>
              <a:buSzPct val="39286"/>
              <a:buFont typeface="Arial"/>
              <a:buNone/>
            </a:pPr>
            <a:r>
              <a:rPr lang="en-GB"/>
              <a:t>DB Testing</a:t>
            </a:r>
            <a:endParaRPr/>
          </a:p>
          <a:p>
            <a:pPr indent="0" lvl="0" marL="0" rtl="0" algn="l">
              <a:spcBef>
                <a:spcPts val="0"/>
              </a:spcBef>
              <a:spcAft>
                <a:spcPts val="0"/>
              </a:spcAft>
              <a:buClr>
                <a:schemeClr val="dk1"/>
              </a:buClr>
              <a:buSzPct val="39286"/>
              <a:buFont typeface="Arial"/>
              <a:buNone/>
            </a:pPr>
            <a:r>
              <a:rPr lang="en-GB"/>
              <a:t>• Huge testing- a whole team is required for doing this.</a:t>
            </a:r>
            <a:endParaRPr/>
          </a:p>
          <a:p>
            <a:pPr indent="0" lvl="0" marL="0" rtl="0" algn="l">
              <a:spcBef>
                <a:spcPts val="0"/>
              </a:spcBef>
              <a:spcAft>
                <a:spcPts val="0"/>
              </a:spcAft>
              <a:buClr>
                <a:schemeClr val="dk1"/>
              </a:buClr>
              <a:buSzPct val="39286"/>
              <a:buFont typeface="Arial"/>
              <a:buNone/>
            </a:pPr>
            <a:r>
              <a:rPr lang="en-GB"/>
              <a:t>• Because dependencies and relationships are included</a:t>
            </a:r>
            <a:endParaRPr/>
          </a:p>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60"/>
          <p:cNvSpPr txBox="1"/>
          <p:nvPr>
            <p:ph idx="1" type="body"/>
          </p:nvPr>
        </p:nvSpPr>
        <p:spPr>
          <a:xfrm>
            <a:off x="311700" y="283775"/>
            <a:ext cx="8520600" cy="428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 DB Function testing(Insert, update, delete from table; correct DB,</a:t>
            </a:r>
            <a:endParaRPr/>
          </a:p>
          <a:p>
            <a:pPr indent="0" lvl="0" marL="0" rtl="0" algn="l">
              <a:spcBef>
                <a:spcPts val="1200"/>
              </a:spcBef>
              <a:spcAft>
                <a:spcPts val="0"/>
              </a:spcAft>
              <a:buClr>
                <a:schemeClr val="dk1"/>
              </a:buClr>
              <a:buSzPts val="1100"/>
              <a:buFont typeface="Arial"/>
              <a:buNone/>
            </a:pPr>
            <a:r>
              <a:rPr lang="en-GB"/>
              <a:t>correct table)</a:t>
            </a:r>
            <a:endParaRPr/>
          </a:p>
          <a:p>
            <a:pPr indent="0" lvl="0" marL="0" rtl="0" algn="l">
              <a:spcBef>
                <a:spcPts val="1200"/>
              </a:spcBef>
              <a:spcAft>
                <a:spcPts val="0"/>
              </a:spcAft>
              <a:buClr>
                <a:schemeClr val="dk1"/>
              </a:buClr>
              <a:buSzPts val="1100"/>
              <a:buFont typeface="Arial"/>
              <a:buNone/>
            </a:pPr>
            <a:r>
              <a:rPr lang="en-GB"/>
              <a:t>• DB Structure testing (validation of tables, size of data, relation</a:t>
            </a:r>
            <a:endParaRPr/>
          </a:p>
          <a:p>
            <a:pPr indent="0" lvl="0" marL="0" rtl="0" algn="l">
              <a:spcBef>
                <a:spcPts val="1200"/>
              </a:spcBef>
              <a:spcAft>
                <a:spcPts val="0"/>
              </a:spcAft>
              <a:buClr>
                <a:schemeClr val="dk1"/>
              </a:buClr>
              <a:buSzPts val="1100"/>
              <a:buFont typeface="Arial"/>
              <a:buNone/>
            </a:pPr>
            <a:r>
              <a:rPr lang="en-GB"/>
              <a:t>between tables of DB, links between them etc., functions,</a:t>
            </a:r>
            <a:endParaRPr/>
          </a:p>
          <a:p>
            <a:pPr indent="0" lvl="0" marL="0" rtl="0" algn="l">
              <a:spcBef>
                <a:spcPts val="1200"/>
              </a:spcBef>
              <a:spcAft>
                <a:spcPts val="0"/>
              </a:spcAft>
              <a:buClr>
                <a:schemeClr val="dk1"/>
              </a:buClr>
              <a:buSzPts val="1100"/>
              <a:buFont typeface="Arial"/>
              <a:buNone/>
            </a:pPr>
            <a:r>
              <a:rPr lang="en-GB"/>
              <a:t>procedures, schemas – kind of unit testing)</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GB"/>
              <a:t>Error handling coverage</a:t>
            </a:r>
            <a:endParaRPr/>
          </a:p>
          <a:p>
            <a:pPr indent="0" lvl="0" marL="0" rtl="0" algn="l">
              <a:spcBef>
                <a:spcPts val="1200"/>
              </a:spcBef>
              <a:spcAft>
                <a:spcPts val="0"/>
              </a:spcAft>
              <a:buClr>
                <a:schemeClr val="dk1"/>
              </a:buClr>
              <a:buSzPts val="1100"/>
              <a:buFont typeface="Arial"/>
              <a:buNone/>
            </a:pPr>
            <a:r>
              <a:rPr lang="en-GB"/>
              <a:t>• Proper error handling messages</a:t>
            </a:r>
            <a:endParaRPr/>
          </a:p>
          <a:p>
            <a:pPr indent="0" lvl="0" marL="0" rtl="0" algn="l">
              <a:spcBef>
                <a:spcPts val="1200"/>
              </a:spcBef>
              <a:spcAft>
                <a:spcPts val="1200"/>
              </a:spcAft>
              <a:buNone/>
            </a:pPr>
            <a:r>
              <a:rPr lang="en-GB"/>
              <a:t>• Invalid input messages – should be short and understandable.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61"/>
          <p:cNvSpPr txBox="1"/>
          <p:nvPr>
            <p:ph idx="1" type="body"/>
          </p:nvPr>
        </p:nvSpPr>
        <p:spPr>
          <a:xfrm>
            <a:off x="311700" y="377300"/>
            <a:ext cx="8520600" cy="4613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GB"/>
              <a:t>Calculation</a:t>
            </a:r>
            <a:endParaRPr/>
          </a:p>
          <a:p>
            <a:pPr indent="0" lvl="0" marL="0" rtl="0" algn="l">
              <a:spcBef>
                <a:spcPts val="1200"/>
              </a:spcBef>
              <a:spcAft>
                <a:spcPts val="0"/>
              </a:spcAft>
              <a:buClr>
                <a:schemeClr val="dk1"/>
              </a:buClr>
              <a:buSzPts val="1100"/>
              <a:buFont typeface="Arial"/>
              <a:buNone/>
            </a:pPr>
            <a:r>
              <a:rPr lang="en-GB"/>
              <a:t>• Takes a lot of times to cover</a:t>
            </a:r>
            <a:endParaRPr/>
          </a:p>
          <a:p>
            <a:pPr indent="0" lvl="0" marL="0" rtl="0" algn="l">
              <a:spcBef>
                <a:spcPts val="1200"/>
              </a:spcBef>
              <a:spcAft>
                <a:spcPts val="0"/>
              </a:spcAft>
              <a:buClr>
                <a:schemeClr val="dk1"/>
              </a:buClr>
              <a:buSzPts val="1100"/>
              <a:buFont typeface="Arial"/>
              <a:buNone/>
            </a:pPr>
            <a:r>
              <a:rPr lang="en-GB"/>
              <a:t>• Used for financial and banking applications majorly</a:t>
            </a:r>
            <a:endParaRPr/>
          </a:p>
          <a:p>
            <a:pPr indent="0" lvl="0" marL="0" rtl="0" algn="l">
              <a:spcBef>
                <a:spcPts val="1200"/>
              </a:spcBef>
              <a:spcAft>
                <a:spcPts val="0"/>
              </a:spcAft>
              <a:buClr>
                <a:schemeClr val="dk1"/>
              </a:buClr>
              <a:buSzPts val="1100"/>
              <a:buFont typeface="Arial"/>
              <a:buNone/>
            </a:pPr>
            <a:r>
              <a:rPr lang="en-GB"/>
              <a:t>• Needed to check if the data is passing to the correct destinations or</a:t>
            </a:r>
            <a:endParaRPr/>
          </a:p>
          <a:p>
            <a:pPr indent="0" lvl="0" marL="0" rtl="0" algn="l">
              <a:spcBef>
                <a:spcPts val="1200"/>
              </a:spcBef>
              <a:spcAft>
                <a:spcPts val="0"/>
              </a:spcAft>
              <a:buClr>
                <a:schemeClr val="dk1"/>
              </a:buClr>
              <a:buSzPts val="1100"/>
              <a:buFont typeface="Arial"/>
              <a:buNone/>
            </a:pPr>
            <a:r>
              <a:rPr lang="en-GB"/>
              <a:t>not.</a:t>
            </a:r>
            <a:endParaRPr/>
          </a:p>
          <a:p>
            <a:pPr indent="0" lvl="0" marL="0" rtl="0" algn="l">
              <a:spcBef>
                <a:spcPts val="1200"/>
              </a:spcBef>
              <a:spcAft>
                <a:spcPts val="0"/>
              </a:spcAft>
              <a:buClr>
                <a:schemeClr val="dk1"/>
              </a:buClr>
              <a:buSzPts val="1100"/>
              <a:buFont typeface="Arial"/>
              <a:buNone/>
            </a:pPr>
            <a:r>
              <a:rPr lang="en-GB"/>
              <a:t>Links</a:t>
            </a:r>
            <a:endParaRPr/>
          </a:p>
          <a:p>
            <a:pPr indent="0" lvl="0" marL="0" rtl="0" algn="l">
              <a:spcBef>
                <a:spcPts val="1200"/>
              </a:spcBef>
              <a:spcAft>
                <a:spcPts val="0"/>
              </a:spcAft>
              <a:buClr>
                <a:schemeClr val="dk1"/>
              </a:buClr>
              <a:buSzPts val="1100"/>
              <a:buFont typeface="Arial"/>
              <a:buNone/>
            </a:pPr>
            <a:r>
              <a:rPr lang="en-GB"/>
              <a:t>• Access of link is working or not.</a:t>
            </a:r>
            <a:endParaRPr/>
          </a:p>
          <a:p>
            <a:pPr indent="0" lvl="0" marL="0" rtl="0" algn="l">
              <a:spcBef>
                <a:spcPts val="1200"/>
              </a:spcBef>
              <a:spcAft>
                <a:spcPts val="0"/>
              </a:spcAft>
              <a:buClr>
                <a:schemeClr val="dk1"/>
              </a:buClr>
              <a:buSzPts val="1100"/>
              <a:buFont typeface="Arial"/>
              <a:buNone/>
            </a:pPr>
            <a:r>
              <a:rPr lang="en-GB"/>
              <a:t>• Link to the valid website/ document/ webpage or anything.</a:t>
            </a:r>
            <a:endParaRPr/>
          </a:p>
          <a:p>
            <a:pPr indent="0" lvl="0" marL="0" rtl="0" algn="l">
              <a:spcBef>
                <a:spcPts val="1200"/>
              </a:spcBef>
              <a:spcAft>
                <a:spcPts val="0"/>
              </a:spcAft>
              <a:buClr>
                <a:schemeClr val="dk1"/>
              </a:buClr>
              <a:buSzPts val="1100"/>
              <a:buFont typeface="Arial"/>
              <a:buNone/>
            </a:pPr>
            <a:r>
              <a:rPr lang="en-GB"/>
              <a:t>Cookies etc.</a:t>
            </a:r>
            <a:endParaRPr/>
          </a:p>
          <a:p>
            <a:pPr indent="0" lvl="0" marL="0" rtl="0" algn="l">
              <a:spcBef>
                <a:spcPts val="1200"/>
              </a:spcBef>
              <a:spcAft>
                <a:spcPts val="0"/>
              </a:spcAft>
              <a:buClr>
                <a:schemeClr val="dk1"/>
              </a:buClr>
              <a:buSzPts val="1100"/>
              <a:buFont typeface="Arial"/>
              <a:buNone/>
            </a:pPr>
            <a:r>
              <a:rPr lang="en-GB"/>
              <a:t>• Related to cookies</a:t>
            </a:r>
            <a:endParaRPr/>
          </a:p>
          <a:p>
            <a:pPr indent="0" lvl="0" marL="0" rtl="0" algn="l">
              <a:spcBef>
                <a:spcPts val="1200"/>
              </a:spcBef>
              <a:spcAft>
                <a:spcPts val="1200"/>
              </a:spcAft>
              <a:buNone/>
            </a:pPr>
            <a:r>
              <a:rPr lang="en-GB"/>
              <a:t>• If it is accessible, deletable or not.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t>Usability Testing</a:t>
            </a:r>
            <a:endParaRPr/>
          </a:p>
          <a:p>
            <a:pPr indent="0" lvl="0" marL="0" rtl="0" algn="l">
              <a:spcBef>
                <a:spcPts val="0"/>
              </a:spcBef>
              <a:spcAft>
                <a:spcPts val="0"/>
              </a:spcAft>
              <a:buClr>
                <a:schemeClr val="dk1"/>
              </a:buClr>
              <a:buSzPct val="39286"/>
              <a:buFont typeface="Arial"/>
              <a:buNone/>
            </a:pPr>
            <a:r>
              <a:t/>
            </a:r>
            <a:endParaRPr/>
          </a:p>
          <a:p>
            <a:pPr indent="0" lvl="0" marL="0" rtl="0" algn="l">
              <a:spcBef>
                <a:spcPts val="0"/>
              </a:spcBef>
              <a:spcAft>
                <a:spcPts val="0"/>
              </a:spcAft>
              <a:buClr>
                <a:schemeClr val="dk1"/>
              </a:buClr>
              <a:buSzPct val="55000"/>
              <a:buFont typeface="Arial"/>
              <a:buNone/>
            </a:pPr>
            <a:r>
              <a:rPr lang="en-GB" sz="2000"/>
              <a:t>●Also known as UX (user Experience) testing</a:t>
            </a:r>
            <a:endParaRPr sz="2000"/>
          </a:p>
          <a:p>
            <a:pPr indent="0" lvl="0" marL="0" rtl="0" algn="l">
              <a:spcBef>
                <a:spcPts val="0"/>
              </a:spcBef>
              <a:spcAft>
                <a:spcPts val="0"/>
              </a:spcAft>
              <a:buClr>
                <a:schemeClr val="dk1"/>
              </a:buClr>
              <a:buSzPct val="55000"/>
              <a:buFont typeface="Arial"/>
              <a:buNone/>
            </a:pPr>
            <a:r>
              <a:rPr lang="en-GB" sz="2000"/>
              <a:t>●Used to check how easy and user-friendly the software</a:t>
            </a:r>
            <a:endParaRPr sz="2000"/>
          </a:p>
          <a:p>
            <a:pPr indent="0" lvl="0" marL="0" rtl="0" algn="l">
              <a:spcBef>
                <a:spcPts val="0"/>
              </a:spcBef>
              <a:spcAft>
                <a:spcPts val="0"/>
              </a:spcAft>
              <a:buClr>
                <a:schemeClr val="dk1"/>
              </a:buClr>
              <a:buSzPct val="55000"/>
              <a:buFont typeface="Arial"/>
              <a:buNone/>
            </a:pPr>
            <a:r>
              <a:rPr lang="en-GB" sz="2000"/>
              <a:t>application is</a:t>
            </a:r>
            <a:endParaRPr sz="2000"/>
          </a:p>
          <a:p>
            <a:pPr indent="0" lvl="0" marL="0" rtl="0" algn="l">
              <a:spcBef>
                <a:spcPts val="0"/>
              </a:spcBef>
              <a:spcAft>
                <a:spcPts val="0"/>
              </a:spcAft>
              <a:buClr>
                <a:schemeClr val="dk1"/>
              </a:buClr>
              <a:buSzPct val="55000"/>
              <a:buFont typeface="Arial"/>
              <a:buNone/>
            </a:pPr>
            <a:r>
              <a:rPr lang="en-GB" sz="2000"/>
              <a:t>●Generally focuses on user’s ease of using application,</a:t>
            </a:r>
            <a:endParaRPr sz="2000"/>
          </a:p>
          <a:p>
            <a:pPr indent="0" lvl="0" marL="0" rtl="0" algn="l">
              <a:spcBef>
                <a:spcPts val="0"/>
              </a:spcBef>
              <a:spcAft>
                <a:spcPts val="0"/>
              </a:spcAft>
              <a:buClr>
                <a:schemeClr val="dk1"/>
              </a:buClr>
              <a:buSzPct val="55000"/>
              <a:buFont typeface="Arial"/>
              <a:buNone/>
            </a:pPr>
            <a:r>
              <a:rPr lang="en-GB" sz="2000"/>
              <a:t>flexibility of application to handle the controls and ability of</a:t>
            </a:r>
            <a:endParaRPr sz="2000"/>
          </a:p>
          <a:p>
            <a:pPr indent="0" lvl="0" marL="0" rtl="0" algn="l">
              <a:spcBef>
                <a:spcPts val="0"/>
              </a:spcBef>
              <a:spcAft>
                <a:spcPts val="0"/>
              </a:spcAft>
              <a:buNone/>
            </a:pPr>
            <a:r>
              <a:rPr lang="en-GB" sz="2000"/>
              <a:t>application to meet its objectives.</a:t>
            </a:r>
            <a:endParaRPr sz="2000"/>
          </a:p>
          <a:p>
            <a:pPr indent="0" lvl="0" marL="0" rtl="0" algn="l">
              <a:spcBef>
                <a:spcPts val="0"/>
              </a:spcBef>
              <a:spcAft>
                <a:spcPts val="0"/>
              </a:spcAft>
              <a:buNone/>
            </a:pPr>
            <a:r>
              <a:rPr lang="en-GB" sz="2000"/>
              <a:t>●It gives answer to such questions:</a:t>
            </a:r>
            <a:endParaRPr sz="2000"/>
          </a:p>
          <a:p>
            <a:pPr indent="0" lvl="0" marL="457200" rtl="0" algn="l">
              <a:spcBef>
                <a:spcPts val="0"/>
              </a:spcBef>
              <a:spcAft>
                <a:spcPts val="0"/>
              </a:spcAft>
              <a:buNone/>
            </a:pPr>
            <a:r>
              <a:rPr lang="en-GB" sz="2000"/>
              <a:t>●Where to click next?</a:t>
            </a:r>
            <a:endParaRPr sz="2000"/>
          </a:p>
          <a:p>
            <a:pPr indent="0" lvl="0" marL="457200" rtl="0" algn="l">
              <a:spcBef>
                <a:spcPts val="0"/>
              </a:spcBef>
              <a:spcAft>
                <a:spcPts val="0"/>
              </a:spcAft>
              <a:buNone/>
            </a:pPr>
            <a:r>
              <a:rPr lang="en-GB" sz="2000"/>
              <a:t>●Which page needs to be navigated?</a:t>
            </a:r>
            <a:endParaRPr sz="2000"/>
          </a:p>
          <a:p>
            <a:pPr indent="0" lvl="0" marL="457200" rtl="0" algn="l">
              <a:spcBef>
                <a:spcPts val="0"/>
              </a:spcBef>
              <a:spcAft>
                <a:spcPts val="0"/>
              </a:spcAft>
              <a:buNone/>
            </a:pPr>
            <a:r>
              <a:rPr lang="en-GB" sz="2000"/>
              <a:t>●Which icon represents what?</a:t>
            </a:r>
            <a:endParaRPr sz="2000"/>
          </a:p>
          <a:p>
            <a:pPr indent="0" lvl="0" marL="457200" rtl="0" algn="l">
              <a:spcBef>
                <a:spcPts val="0"/>
              </a:spcBef>
              <a:spcAft>
                <a:spcPts val="0"/>
              </a:spcAft>
              <a:buNone/>
            </a:pPr>
            <a:r>
              <a:rPr lang="en-GB" sz="2000"/>
              <a:t>●Session time not sufficient</a:t>
            </a:r>
            <a:endParaRPr sz="2000"/>
          </a:p>
          <a:p>
            <a:pPr indent="0" lvl="0" marL="457200" rtl="0" algn="l">
              <a:spcBef>
                <a:spcPts val="0"/>
              </a:spcBef>
              <a:spcAft>
                <a:spcPts val="0"/>
              </a:spcAft>
              <a:buNone/>
            </a:pPr>
            <a:r>
              <a:rPr lang="en-GB" sz="2000"/>
              <a:t>●Error messages are not properly displayed</a:t>
            </a:r>
            <a:endParaRPr sz="2000"/>
          </a:p>
          <a:p>
            <a:pPr indent="0" lvl="0" marL="457200" rtl="0" algn="l">
              <a:spcBef>
                <a:spcPts val="0"/>
              </a:spcBef>
              <a:spcAft>
                <a:spcPts val="0"/>
              </a:spcAft>
              <a:buNone/>
            </a:pPr>
            <a:r>
              <a:t/>
            </a:r>
            <a:endParaRPr sz="2000"/>
          </a:p>
          <a:p>
            <a:pPr indent="0" lvl="0" marL="0" rtl="0" algn="l">
              <a:spcBef>
                <a:spcPts val="0"/>
              </a:spcBef>
              <a:spcAft>
                <a:spcPts val="0"/>
              </a:spcAft>
              <a:buClr>
                <a:schemeClr val="dk1"/>
              </a:buClr>
              <a:buSzPct val="55000"/>
              <a:buFont typeface="Arial"/>
              <a:buNone/>
            </a:pPr>
            <a:r>
              <a:t/>
            </a:r>
            <a:endParaRPr sz="2000"/>
          </a:p>
          <a:p>
            <a:pPr indent="0" lvl="0" marL="0" rtl="0" algn="l">
              <a:spcBef>
                <a:spcPts val="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63"/>
          <p:cNvSpPr txBox="1"/>
          <p:nvPr>
            <p:ph type="title"/>
          </p:nvPr>
        </p:nvSpPr>
        <p:spPr>
          <a:xfrm>
            <a:off x="311700" y="24193"/>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000"/>
              <a:t>How to perform usability testing</a:t>
            </a:r>
            <a:endParaRPr/>
          </a:p>
        </p:txBody>
      </p:sp>
      <p:sp>
        <p:nvSpPr>
          <p:cNvPr id="333" name="Google Shape;333;p63"/>
          <p:cNvSpPr txBox="1"/>
          <p:nvPr>
            <p:ph idx="1" type="body"/>
          </p:nvPr>
        </p:nvSpPr>
        <p:spPr>
          <a:xfrm>
            <a:off x="311700" y="689025"/>
            <a:ext cx="8520600" cy="387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I.Planning – goals of usability tests are determined</a:t>
            </a:r>
            <a:endParaRPr/>
          </a:p>
          <a:p>
            <a:pPr indent="0" lvl="0" marL="0" rtl="0" algn="l">
              <a:spcBef>
                <a:spcPts val="1200"/>
              </a:spcBef>
              <a:spcAft>
                <a:spcPts val="0"/>
              </a:spcAft>
              <a:buClr>
                <a:schemeClr val="dk1"/>
              </a:buClr>
              <a:buSzPts val="1100"/>
              <a:buFont typeface="Arial"/>
              <a:buNone/>
            </a:pPr>
            <a:r>
              <a:rPr lang="en-GB"/>
              <a:t>II.Recruiting – recruit a tester/ team member</a:t>
            </a:r>
            <a:endParaRPr/>
          </a:p>
          <a:p>
            <a:pPr indent="0" lvl="0" marL="0" rtl="0" algn="l">
              <a:spcBef>
                <a:spcPts val="1200"/>
              </a:spcBef>
              <a:spcAft>
                <a:spcPts val="0"/>
              </a:spcAft>
              <a:buClr>
                <a:schemeClr val="dk1"/>
              </a:buClr>
              <a:buSzPts val="1100"/>
              <a:buFont typeface="Arial"/>
              <a:buNone/>
            </a:pPr>
            <a:r>
              <a:rPr lang="en-GB"/>
              <a:t>III.Usability testing – test cases are executed</a:t>
            </a:r>
            <a:endParaRPr/>
          </a:p>
          <a:p>
            <a:pPr indent="0" lvl="0" marL="0" rtl="0" algn="l">
              <a:spcBef>
                <a:spcPts val="1200"/>
              </a:spcBef>
              <a:spcAft>
                <a:spcPts val="0"/>
              </a:spcAft>
              <a:buClr>
                <a:schemeClr val="dk1"/>
              </a:buClr>
              <a:buSzPts val="1100"/>
              <a:buFont typeface="Arial"/>
              <a:buNone/>
            </a:pPr>
            <a:r>
              <a:rPr lang="en-GB"/>
              <a:t>IV.Data Analysis – data is analysed to derive meaningful</a:t>
            </a:r>
            <a:endParaRPr/>
          </a:p>
          <a:p>
            <a:pPr indent="0" lvl="0" marL="0" rtl="0" algn="l">
              <a:spcBef>
                <a:spcPts val="1200"/>
              </a:spcBef>
              <a:spcAft>
                <a:spcPts val="0"/>
              </a:spcAft>
              <a:buClr>
                <a:schemeClr val="dk1"/>
              </a:buClr>
              <a:buSzPts val="1100"/>
              <a:buFont typeface="Arial"/>
              <a:buNone/>
            </a:pPr>
            <a:r>
              <a:rPr lang="en-GB"/>
              <a:t>inferences</a:t>
            </a:r>
            <a:endParaRPr/>
          </a:p>
          <a:p>
            <a:pPr indent="0" lvl="0" marL="0" rtl="0" algn="l">
              <a:spcBef>
                <a:spcPts val="1200"/>
              </a:spcBef>
              <a:spcAft>
                <a:spcPts val="0"/>
              </a:spcAft>
              <a:buClr>
                <a:schemeClr val="dk1"/>
              </a:buClr>
              <a:buSzPts val="1100"/>
              <a:buFont typeface="Arial"/>
              <a:buNone/>
            </a:pPr>
            <a:r>
              <a:rPr lang="en-GB"/>
              <a:t>V.Reporting – findings of the usability test is shared with all</a:t>
            </a:r>
            <a:endParaRPr/>
          </a:p>
          <a:p>
            <a:pPr indent="0" lvl="0" marL="0" rtl="0" algn="l">
              <a:spcBef>
                <a:spcPts val="1200"/>
              </a:spcBef>
              <a:spcAft>
                <a:spcPts val="0"/>
              </a:spcAft>
              <a:buClr>
                <a:schemeClr val="dk1"/>
              </a:buClr>
              <a:buSzPts val="1100"/>
              <a:buFont typeface="Arial"/>
              <a:buNone/>
            </a:pPr>
            <a:r>
              <a:rPr lang="en-GB"/>
              <a:t>users like designers, clients etc.</a:t>
            </a:r>
            <a:endParaRPr/>
          </a:p>
          <a:p>
            <a:pPr indent="0" lvl="0" marL="0" rtl="0" algn="l">
              <a:spcBef>
                <a:spcPts val="1200"/>
              </a:spcBef>
              <a:spcAft>
                <a:spcPts val="120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64"/>
          <p:cNvSpPr txBox="1"/>
          <p:nvPr/>
        </p:nvSpPr>
        <p:spPr>
          <a:xfrm>
            <a:off x="360025" y="607850"/>
            <a:ext cx="82764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rPr>
              <a:t>Methods of usability testing</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GB" sz="1800">
                <a:solidFill>
                  <a:schemeClr val="dk1"/>
                </a:solidFill>
              </a:rPr>
              <a:t>●Laboratery usability testing</a:t>
            </a:r>
            <a:endParaRPr sz="1800">
              <a:solidFill>
                <a:schemeClr val="dk1"/>
              </a:solidFill>
            </a:endParaRPr>
          </a:p>
          <a:p>
            <a:pPr indent="0" lvl="0" marL="0" rtl="0" algn="l">
              <a:spcBef>
                <a:spcPts val="0"/>
              </a:spcBef>
              <a:spcAft>
                <a:spcPts val="0"/>
              </a:spcAft>
              <a:buNone/>
            </a:pPr>
            <a:r>
              <a:rPr lang="en-GB" sz="1800">
                <a:solidFill>
                  <a:schemeClr val="dk1"/>
                </a:solidFill>
              </a:rPr>
              <a:t>●It is performed in front of observers, this testing is performed</a:t>
            </a:r>
            <a:endParaRPr sz="1800">
              <a:solidFill>
                <a:schemeClr val="dk1"/>
              </a:solidFill>
            </a:endParaRPr>
          </a:p>
          <a:p>
            <a:pPr indent="0" lvl="0" marL="0" rtl="0" algn="l">
              <a:spcBef>
                <a:spcPts val="0"/>
              </a:spcBef>
              <a:spcAft>
                <a:spcPts val="0"/>
              </a:spcAft>
              <a:buNone/>
            </a:pPr>
            <a:r>
              <a:rPr lang="en-GB" sz="1800">
                <a:solidFill>
                  <a:schemeClr val="dk1"/>
                </a:solidFill>
              </a:rPr>
              <a:t>in a dedicated separate laboratory</a:t>
            </a:r>
            <a:endParaRPr sz="1800">
              <a:solidFill>
                <a:schemeClr val="dk1"/>
              </a:solidFill>
            </a:endParaRPr>
          </a:p>
          <a:p>
            <a:pPr indent="0" lvl="0" marL="0" rtl="0" algn="l">
              <a:spcBef>
                <a:spcPts val="0"/>
              </a:spcBef>
              <a:spcAft>
                <a:spcPts val="0"/>
              </a:spcAft>
              <a:buNone/>
            </a:pPr>
            <a:r>
              <a:rPr lang="en-GB" sz="1800">
                <a:solidFill>
                  <a:schemeClr val="dk1"/>
                </a:solidFill>
              </a:rPr>
              <a:t>●Role of observer is to observe overall behaviour of the tester.</a:t>
            </a:r>
            <a:endParaRPr sz="1800">
              <a:solidFill>
                <a:schemeClr val="dk1"/>
              </a:solidFill>
            </a:endParaRPr>
          </a:p>
          <a:p>
            <a:pPr indent="0" lvl="0" marL="0" rtl="0" algn="l">
              <a:spcBef>
                <a:spcPts val="0"/>
              </a:spcBef>
              <a:spcAft>
                <a:spcPts val="0"/>
              </a:spcAft>
              <a:buNone/>
            </a:pPr>
            <a:r>
              <a:rPr lang="en-GB" sz="1800">
                <a:solidFill>
                  <a:schemeClr val="dk1"/>
                </a:solidFill>
              </a:rPr>
              <a:t>●Both are present at same physical location</a:t>
            </a:r>
            <a:endParaRPr sz="1800">
              <a:solidFill>
                <a:schemeClr val="dk1"/>
              </a:solidFill>
            </a:endParaRPr>
          </a:p>
          <a:p>
            <a:pPr indent="0" lvl="0" marL="0" rtl="0" algn="l">
              <a:spcBef>
                <a:spcPts val="0"/>
              </a:spcBef>
              <a:spcAft>
                <a:spcPts val="0"/>
              </a:spcAft>
              <a:buNone/>
            </a:pPr>
            <a:r>
              <a:rPr lang="en-GB" sz="1800">
                <a:solidFill>
                  <a:schemeClr val="dk1"/>
                </a:solidFill>
              </a:rPr>
              <a:t>●Remote usability testing</a:t>
            </a:r>
            <a:endParaRPr sz="1800">
              <a:solidFill>
                <a:schemeClr val="dk1"/>
              </a:solidFill>
            </a:endParaRPr>
          </a:p>
          <a:p>
            <a:pPr indent="0" lvl="0" marL="0" rtl="0" algn="l">
              <a:spcBef>
                <a:spcPts val="0"/>
              </a:spcBef>
              <a:spcAft>
                <a:spcPts val="0"/>
              </a:spcAft>
              <a:buNone/>
            </a:pPr>
            <a:r>
              <a:rPr lang="en-GB" sz="1800">
                <a:solidFill>
                  <a:schemeClr val="dk1"/>
                </a:solidFill>
              </a:rPr>
              <a:t>●Both are remotely located.</a:t>
            </a:r>
            <a:endParaRPr sz="1800">
              <a:solidFill>
                <a:schemeClr val="dk1"/>
              </a:solidFill>
            </a:endParaRPr>
          </a:p>
          <a:p>
            <a:pPr indent="0" lvl="0" marL="0" rtl="0" algn="l">
              <a:spcBef>
                <a:spcPts val="0"/>
              </a:spcBef>
              <a:spcAft>
                <a:spcPts val="0"/>
              </a:spcAft>
              <a:buNone/>
            </a:pPr>
            <a:r>
              <a:rPr lang="en-GB" sz="1800">
                <a:solidFill>
                  <a:schemeClr val="dk1"/>
                </a:solidFill>
              </a:rPr>
              <a:t>●tester’s voice, screen activity, facial expressions are</a:t>
            </a:r>
            <a:endParaRPr sz="1800">
              <a:solidFill>
                <a:schemeClr val="dk1"/>
              </a:solidFill>
            </a:endParaRPr>
          </a:p>
          <a:p>
            <a:pPr indent="0" lvl="0" marL="0" rtl="0" algn="l">
              <a:spcBef>
                <a:spcPts val="0"/>
              </a:spcBef>
              <a:spcAft>
                <a:spcPts val="0"/>
              </a:spcAft>
              <a:buNone/>
            </a:pPr>
            <a:r>
              <a:rPr lang="en-GB" sz="1800">
                <a:solidFill>
                  <a:schemeClr val="dk1"/>
                </a:solidFill>
              </a:rPr>
              <a:t>measured using automated software</a:t>
            </a:r>
            <a:endParaRPr sz="1800">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t>Security testing</a:t>
            </a:r>
            <a:endParaRPr/>
          </a:p>
          <a:p>
            <a:pPr indent="0" lvl="0" marL="0" rtl="0" algn="l">
              <a:spcBef>
                <a:spcPts val="0"/>
              </a:spcBef>
              <a:spcAft>
                <a:spcPts val="0"/>
              </a:spcAft>
              <a:buClr>
                <a:schemeClr val="dk1"/>
              </a:buClr>
              <a:buSzPct val="39286"/>
              <a:buFont typeface="Arial"/>
              <a:buNone/>
            </a:pPr>
            <a:r>
              <a:t/>
            </a:r>
            <a:endParaRPr/>
          </a:p>
          <a:p>
            <a:pPr indent="0" lvl="0" marL="0" rtl="0" algn="l">
              <a:spcBef>
                <a:spcPts val="0"/>
              </a:spcBef>
              <a:spcAft>
                <a:spcPts val="0"/>
              </a:spcAft>
              <a:buClr>
                <a:schemeClr val="dk1"/>
              </a:buClr>
              <a:buSzPct val="55000"/>
              <a:buFont typeface="Arial"/>
              <a:buNone/>
            </a:pPr>
            <a:r>
              <a:rPr lang="en-GB" sz="2000"/>
              <a:t>●Helps to uncover vulnerabilities, threats, risks in a software</a:t>
            </a:r>
            <a:endParaRPr sz="2000"/>
          </a:p>
          <a:p>
            <a:pPr indent="0" lvl="0" marL="0" rtl="0" algn="l">
              <a:spcBef>
                <a:spcPts val="0"/>
              </a:spcBef>
              <a:spcAft>
                <a:spcPts val="0"/>
              </a:spcAft>
              <a:buClr>
                <a:schemeClr val="dk1"/>
              </a:buClr>
              <a:buSzPct val="55000"/>
              <a:buFont typeface="Arial"/>
              <a:buNone/>
            </a:pPr>
            <a:r>
              <a:rPr lang="en-GB" sz="2000"/>
              <a:t>application and prevents malicious attacks from intruders</a:t>
            </a:r>
            <a:endParaRPr sz="2000"/>
          </a:p>
          <a:p>
            <a:pPr indent="0" lvl="0" marL="0" rtl="0" algn="l">
              <a:spcBef>
                <a:spcPts val="0"/>
              </a:spcBef>
              <a:spcAft>
                <a:spcPts val="0"/>
              </a:spcAft>
              <a:buClr>
                <a:schemeClr val="dk1"/>
              </a:buClr>
              <a:buSzPct val="55000"/>
              <a:buFont typeface="Arial"/>
              <a:buNone/>
            </a:pPr>
            <a:r>
              <a:rPr lang="en-GB" sz="2000"/>
              <a:t>●The purpose is to find out all loopholes and weaknesses of the</a:t>
            </a:r>
            <a:endParaRPr sz="2000"/>
          </a:p>
          <a:p>
            <a:pPr indent="0" lvl="0" marL="0" rtl="0" algn="l">
              <a:spcBef>
                <a:spcPts val="0"/>
              </a:spcBef>
              <a:spcAft>
                <a:spcPts val="0"/>
              </a:spcAft>
              <a:buClr>
                <a:schemeClr val="dk1"/>
              </a:buClr>
              <a:buSzPct val="55000"/>
              <a:buFont typeface="Arial"/>
              <a:buNone/>
            </a:pPr>
            <a:r>
              <a:rPr lang="en-GB" sz="2000"/>
              <a:t>software system that result in loss of information, revenue at</a:t>
            </a:r>
            <a:endParaRPr sz="2000"/>
          </a:p>
          <a:p>
            <a:pPr indent="0" lvl="0" marL="0" rtl="0" algn="l">
              <a:spcBef>
                <a:spcPts val="0"/>
              </a:spcBef>
              <a:spcAft>
                <a:spcPts val="0"/>
              </a:spcAft>
              <a:buNone/>
            </a:pPr>
            <a:r>
              <a:rPr lang="en-GB" sz="2000"/>
              <a:t>the hands of employees or outsiders of the organization.</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GB" sz="2000"/>
              <a:t>Focus Areas of security testing:</a:t>
            </a:r>
            <a:endParaRPr sz="2000"/>
          </a:p>
          <a:p>
            <a:pPr indent="0" lvl="0" marL="0" rtl="0" algn="l">
              <a:spcBef>
                <a:spcPts val="0"/>
              </a:spcBef>
              <a:spcAft>
                <a:spcPts val="0"/>
              </a:spcAft>
              <a:buNone/>
            </a:pPr>
            <a:r>
              <a:rPr lang="en-GB" sz="2000"/>
              <a:t>●Network security</a:t>
            </a:r>
            <a:endParaRPr sz="2000"/>
          </a:p>
          <a:p>
            <a:pPr indent="0" lvl="0" marL="0" rtl="0" algn="l">
              <a:spcBef>
                <a:spcPts val="0"/>
              </a:spcBef>
              <a:spcAft>
                <a:spcPts val="0"/>
              </a:spcAft>
              <a:buNone/>
            </a:pPr>
            <a:r>
              <a:rPr lang="en-GB" sz="2000"/>
              <a:t>●System software security</a:t>
            </a:r>
            <a:endParaRPr sz="2000"/>
          </a:p>
          <a:p>
            <a:pPr indent="0" lvl="0" marL="0" rtl="0" algn="l">
              <a:spcBef>
                <a:spcPts val="0"/>
              </a:spcBef>
              <a:spcAft>
                <a:spcPts val="0"/>
              </a:spcAft>
              <a:buNone/>
            </a:pPr>
            <a:r>
              <a:rPr lang="en-GB" sz="2000"/>
              <a:t>●Client-side application Security</a:t>
            </a:r>
            <a:endParaRPr sz="2000"/>
          </a:p>
          <a:p>
            <a:pPr indent="0" lvl="0" marL="0" rtl="0" algn="l">
              <a:spcBef>
                <a:spcPts val="0"/>
              </a:spcBef>
              <a:spcAft>
                <a:spcPts val="0"/>
              </a:spcAft>
              <a:buNone/>
            </a:pPr>
            <a:r>
              <a:rPr lang="en-GB" sz="2000"/>
              <a:t>●Server-Side application Security</a:t>
            </a:r>
            <a:endParaRPr sz="2000"/>
          </a:p>
          <a:p>
            <a:pPr indent="0" lvl="0" marL="0" rtl="0" algn="l">
              <a:spcBef>
                <a:spcPts val="0"/>
              </a:spcBef>
              <a:spcAft>
                <a:spcPts val="0"/>
              </a:spcAft>
              <a:buClr>
                <a:schemeClr val="dk1"/>
              </a:buClr>
              <a:buSzPct val="55000"/>
              <a:buFont typeface="Arial"/>
              <a:buNone/>
            </a:pPr>
            <a:r>
              <a:t/>
            </a:r>
            <a:endParaRPr sz="2000"/>
          </a:p>
          <a:p>
            <a:pPr indent="0" lvl="0" marL="0" rtl="0" algn="l">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66"/>
          <p:cNvSpPr txBox="1"/>
          <p:nvPr>
            <p:ph type="title"/>
          </p:nvPr>
        </p:nvSpPr>
        <p:spPr>
          <a:xfrm>
            <a:off x="311700" y="13329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Types of Security testing</a:t>
            </a:r>
            <a:endParaRPr/>
          </a:p>
        </p:txBody>
      </p:sp>
      <p:sp>
        <p:nvSpPr>
          <p:cNvPr id="349" name="Google Shape;349;p66"/>
          <p:cNvSpPr txBox="1"/>
          <p:nvPr>
            <p:ph idx="1" type="body"/>
          </p:nvPr>
        </p:nvSpPr>
        <p:spPr>
          <a:xfrm>
            <a:off x="311700" y="564350"/>
            <a:ext cx="8520600" cy="4578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GB"/>
              <a:t>●Vulnarability scanning testing:</a:t>
            </a:r>
            <a:endParaRPr/>
          </a:p>
          <a:p>
            <a:pPr indent="0" lvl="0" marL="0" rtl="0" algn="l">
              <a:spcBef>
                <a:spcPts val="1200"/>
              </a:spcBef>
              <a:spcAft>
                <a:spcPts val="0"/>
              </a:spcAft>
              <a:buClr>
                <a:schemeClr val="dk1"/>
              </a:buClr>
              <a:buSzPts val="1100"/>
              <a:buFont typeface="Arial"/>
              <a:buNone/>
            </a:pPr>
            <a:r>
              <a:rPr lang="en-GB"/>
              <a:t>●It is performed with the help of automated software to scan a</a:t>
            </a:r>
            <a:endParaRPr/>
          </a:p>
          <a:p>
            <a:pPr indent="0" lvl="0" marL="0" rtl="0" algn="l">
              <a:spcBef>
                <a:spcPts val="1200"/>
              </a:spcBef>
              <a:spcAft>
                <a:spcPts val="0"/>
              </a:spcAft>
              <a:buClr>
                <a:schemeClr val="dk1"/>
              </a:buClr>
              <a:buSzPts val="1100"/>
              <a:buFont typeface="Arial"/>
              <a:buNone/>
            </a:pPr>
            <a:r>
              <a:rPr lang="en-GB"/>
              <a:t>system to detect the known vulnerability patterns.</a:t>
            </a:r>
            <a:endParaRPr/>
          </a:p>
          <a:p>
            <a:pPr indent="0" lvl="0" marL="0" rtl="0" algn="l">
              <a:spcBef>
                <a:spcPts val="1200"/>
              </a:spcBef>
              <a:spcAft>
                <a:spcPts val="0"/>
              </a:spcAft>
              <a:buClr>
                <a:schemeClr val="dk1"/>
              </a:buClr>
              <a:buSzPts val="1100"/>
              <a:buFont typeface="Arial"/>
              <a:buNone/>
            </a:pPr>
            <a:r>
              <a:rPr lang="en-GB"/>
              <a:t>●Security scanning testing:</a:t>
            </a:r>
            <a:endParaRPr/>
          </a:p>
          <a:p>
            <a:pPr indent="0" lvl="0" marL="0" rtl="0" algn="l">
              <a:spcBef>
                <a:spcPts val="1200"/>
              </a:spcBef>
              <a:spcAft>
                <a:spcPts val="0"/>
              </a:spcAft>
              <a:buClr>
                <a:schemeClr val="dk1"/>
              </a:buClr>
              <a:buSzPts val="1100"/>
              <a:buFont typeface="Arial"/>
              <a:buNone/>
            </a:pPr>
            <a:r>
              <a:rPr lang="en-GB"/>
              <a:t>●It is the identification of network and system weaknesses.</a:t>
            </a:r>
            <a:endParaRPr/>
          </a:p>
          <a:p>
            <a:pPr indent="0" lvl="0" marL="0" rtl="0" algn="l">
              <a:spcBef>
                <a:spcPts val="1200"/>
              </a:spcBef>
              <a:spcAft>
                <a:spcPts val="0"/>
              </a:spcAft>
              <a:buClr>
                <a:schemeClr val="dk1"/>
              </a:buClr>
              <a:buSzPts val="1100"/>
              <a:buFont typeface="Arial"/>
              <a:buNone/>
            </a:pPr>
            <a:r>
              <a:rPr lang="en-GB"/>
              <a:t>Later on it provides solutions for reducing these defects or</a:t>
            </a:r>
            <a:endParaRPr/>
          </a:p>
          <a:p>
            <a:pPr indent="0" lvl="0" marL="0" rtl="0" algn="l">
              <a:spcBef>
                <a:spcPts val="1200"/>
              </a:spcBef>
              <a:spcAft>
                <a:spcPts val="0"/>
              </a:spcAft>
              <a:buClr>
                <a:schemeClr val="dk1"/>
              </a:buClr>
              <a:buSzPts val="1100"/>
              <a:buFont typeface="Arial"/>
              <a:buNone/>
            </a:pPr>
            <a:r>
              <a:rPr lang="en-GB"/>
              <a:t>risks.</a:t>
            </a:r>
            <a:endParaRPr/>
          </a:p>
          <a:p>
            <a:pPr indent="0" lvl="0" marL="0" rtl="0" algn="l">
              <a:spcBef>
                <a:spcPts val="1200"/>
              </a:spcBef>
              <a:spcAft>
                <a:spcPts val="0"/>
              </a:spcAft>
              <a:buClr>
                <a:schemeClr val="dk1"/>
              </a:buClr>
              <a:buSzPts val="1100"/>
              <a:buFont typeface="Arial"/>
              <a:buNone/>
            </a:pPr>
            <a:r>
              <a:rPr lang="en-GB"/>
              <a:t>●Penetration testing:</a:t>
            </a:r>
            <a:endParaRPr/>
          </a:p>
          <a:p>
            <a:pPr indent="0" lvl="0" marL="0" rtl="0" algn="l">
              <a:spcBef>
                <a:spcPts val="1200"/>
              </a:spcBef>
              <a:spcAft>
                <a:spcPts val="0"/>
              </a:spcAft>
              <a:buClr>
                <a:schemeClr val="dk1"/>
              </a:buClr>
              <a:buSzPts val="1100"/>
              <a:buFont typeface="Arial"/>
              <a:buNone/>
            </a:pPr>
            <a:r>
              <a:rPr lang="en-GB"/>
              <a:t>●It is attack from malicious hacker. It includes analysis of a</a:t>
            </a:r>
            <a:endParaRPr/>
          </a:p>
          <a:p>
            <a:pPr indent="0" lvl="0" marL="0" rtl="0" algn="l">
              <a:spcBef>
                <a:spcPts val="1200"/>
              </a:spcBef>
              <a:spcAft>
                <a:spcPts val="0"/>
              </a:spcAft>
              <a:buClr>
                <a:schemeClr val="dk1"/>
              </a:buClr>
              <a:buSzPts val="1100"/>
              <a:buFont typeface="Arial"/>
              <a:buNone/>
            </a:pPr>
            <a:r>
              <a:rPr lang="en-GB"/>
              <a:t>particular system to examine for potential vulnerabilities from a</a:t>
            </a:r>
            <a:endParaRPr/>
          </a:p>
          <a:p>
            <a:pPr indent="0" lvl="0" marL="0" rtl="0" algn="l">
              <a:spcBef>
                <a:spcPts val="1200"/>
              </a:spcBef>
              <a:spcAft>
                <a:spcPts val="1200"/>
              </a:spcAft>
              <a:buNone/>
            </a:pPr>
            <a:r>
              <a:rPr lang="en-GB"/>
              <a:t>malicious hacker that attempts to hack the system</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7"/>
          <p:cNvSpPr txBox="1"/>
          <p:nvPr>
            <p:ph idx="1" type="body"/>
          </p:nvPr>
        </p:nvSpPr>
        <p:spPr>
          <a:xfrm>
            <a:off x="311700" y="486400"/>
            <a:ext cx="8520600" cy="4082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61111"/>
              <a:buFont typeface="Arial"/>
              <a:buNone/>
            </a:pPr>
            <a:r>
              <a:rPr lang="en-GB"/>
              <a:t>●Risk assessment:</a:t>
            </a:r>
            <a:endParaRPr/>
          </a:p>
          <a:p>
            <a:pPr indent="0" lvl="0" marL="0" rtl="0" algn="l">
              <a:spcBef>
                <a:spcPts val="1200"/>
              </a:spcBef>
              <a:spcAft>
                <a:spcPts val="0"/>
              </a:spcAft>
              <a:buClr>
                <a:schemeClr val="dk1"/>
              </a:buClr>
              <a:buSzPct val="61111"/>
              <a:buFont typeface="Arial"/>
              <a:buNone/>
            </a:pPr>
            <a:r>
              <a:rPr lang="en-GB"/>
              <a:t>●Here, testing of security risks are observed and analysed.</a:t>
            </a:r>
            <a:endParaRPr/>
          </a:p>
          <a:p>
            <a:pPr indent="0" lvl="0" marL="0" rtl="0" algn="l">
              <a:spcBef>
                <a:spcPts val="1200"/>
              </a:spcBef>
              <a:spcAft>
                <a:spcPts val="0"/>
              </a:spcAft>
              <a:buClr>
                <a:schemeClr val="dk1"/>
              </a:buClr>
              <a:buSzPct val="61111"/>
              <a:buFont typeface="Arial"/>
              <a:buNone/>
            </a:pPr>
            <a:r>
              <a:rPr lang="en-GB"/>
              <a:t>Three categories are classified: Low, Medium, High</a:t>
            </a:r>
            <a:endParaRPr/>
          </a:p>
          <a:p>
            <a:pPr indent="0" lvl="0" marL="0" rtl="0" algn="l">
              <a:spcBef>
                <a:spcPts val="1200"/>
              </a:spcBef>
              <a:spcAft>
                <a:spcPts val="0"/>
              </a:spcAft>
              <a:buClr>
                <a:schemeClr val="dk1"/>
              </a:buClr>
              <a:buSzPct val="61111"/>
              <a:buFont typeface="Arial"/>
              <a:buNone/>
            </a:pPr>
            <a:r>
              <a:rPr lang="en-GB"/>
              <a:t>●Security Auditing</a:t>
            </a:r>
            <a:endParaRPr/>
          </a:p>
          <a:p>
            <a:pPr indent="0" lvl="0" marL="0" rtl="0" algn="l">
              <a:spcBef>
                <a:spcPts val="1200"/>
              </a:spcBef>
              <a:spcAft>
                <a:spcPts val="0"/>
              </a:spcAft>
              <a:buClr>
                <a:schemeClr val="dk1"/>
              </a:buClr>
              <a:buSzPct val="61111"/>
              <a:buFont typeface="Arial"/>
              <a:buNone/>
            </a:pPr>
            <a:r>
              <a:rPr lang="en-GB"/>
              <a:t>●It is internal inspection of application and operating system for</a:t>
            </a:r>
            <a:endParaRPr/>
          </a:p>
          <a:p>
            <a:pPr indent="0" lvl="0" marL="0" rtl="0" algn="l">
              <a:spcBef>
                <a:spcPts val="1200"/>
              </a:spcBef>
              <a:spcAft>
                <a:spcPts val="0"/>
              </a:spcAft>
              <a:buClr>
                <a:schemeClr val="dk1"/>
              </a:buClr>
              <a:buSzPct val="61111"/>
              <a:buFont typeface="Arial"/>
              <a:buNone/>
            </a:pPr>
            <a:r>
              <a:rPr lang="en-GB"/>
              <a:t>security defects.</a:t>
            </a:r>
            <a:endParaRPr/>
          </a:p>
          <a:p>
            <a:pPr indent="0" lvl="0" marL="0" rtl="0" algn="l">
              <a:spcBef>
                <a:spcPts val="1200"/>
              </a:spcBef>
              <a:spcAft>
                <a:spcPts val="0"/>
              </a:spcAft>
              <a:buClr>
                <a:schemeClr val="dk1"/>
              </a:buClr>
              <a:buSzPct val="61111"/>
              <a:buFont typeface="Arial"/>
              <a:buNone/>
            </a:pPr>
            <a:r>
              <a:rPr lang="en-GB"/>
              <a:t>●Ethical hacking</a:t>
            </a:r>
            <a:endParaRPr/>
          </a:p>
          <a:p>
            <a:pPr indent="0" lvl="0" marL="0" rtl="0" algn="l">
              <a:spcBef>
                <a:spcPts val="1200"/>
              </a:spcBef>
              <a:spcAft>
                <a:spcPts val="0"/>
              </a:spcAft>
              <a:buClr>
                <a:schemeClr val="dk1"/>
              </a:buClr>
              <a:buSzPct val="61111"/>
              <a:buFont typeface="Arial"/>
              <a:buNone/>
            </a:pPr>
            <a:r>
              <a:rPr lang="en-GB"/>
              <a:t>●The purpose is to expose security flaws in the organization</a:t>
            </a:r>
            <a:endParaRPr/>
          </a:p>
          <a:p>
            <a:pPr indent="0" lvl="0" marL="0" rtl="0" algn="l">
              <a:spcBef>
                <a:spcPts val="1200"/>
              </a:spcBef>
              <a:spcAft>
                <a:spcPts val="0"/>
              </a:spcAft>
              <a:buClr>
                <a:schemeClr val="dk1"/>
              </a:buClr>
              <a:buSzPct val="61111"/>
              <a:buFont typeface="Arial"/>
              <a:buNone/>
            </a:pPr>
            <a:r>
              <a:rPr lang="en-GB"/>
              <a:t>system.</a:t>
            </a:r>
            <a:endParaRPr/>
          </a:p>
          <a:p>
            <a:pPr indent="0" lvl="0" marL="0" rtl="0" algn="l">
              <a:spcBef>
                <a:spcPts val="1200"/>
              </a:spcBef>
              <a:spcAft>
                <a:spcPts val="0"/>
              </a:spcAft>
              <a:buClr>
                <a:schemeClr val="dk1"/>
              </a:buClr>
              <a:buSzPct val="61111"/>
              <a:buFont typeface="Arial"/>
              <a:buNone/>
            </a:pPr>
            <a:r>
              <a:rPr lang="en-GB"/>
              <a:t>●Posture Assessment</a:t>
            </a:r>
            <a:endParaRPr/>
          </a:p>
          <a:p>
            <a:pPr indent="0" lvl="0" marL="0" rtl="0" algn="l">
              <a:spcBef>
                <a:spcPts val="1200"/>
              </a:spcBef>
              <a:spcAft>
                <a:spcPts val="0"/>
              </a:spcAft>
              <a:buClr>
                <a:schemeClr val="dk1"/>
              </a:buClr>
              <a:buSzPct val="61111"/>
              <a:buFont typeface="Arial"/>
              <a:buNone/>
            </a:pPr>
            <a:r>
              <a:rPr lang="en-GB"/>
              <a:t>●It combines security scanning,ethical hacking and risk</a:t>
            </a:r>
            <a:endParaRPr/>
          </a:p>
          <a:p>
            <a:pPr indent="0" lvl="0" marL="0" rtl="0" algn="l">
              <a:spcBef>
                <a:spcPts val="1200"/>
              </a:spcBef>
              <a:spcAft>
                <a:spcPts val="1200"/>
              </a:spcAft>
              <a:buNone/>
            </a:pPr>
            <a:r>
              <a:rPr lang="en-GB"/>
              <a:t>assessment to provide security.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