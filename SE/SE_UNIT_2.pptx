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DEA2727-71D2-4BB0-8E86-C92FB58CEFF3}">
  <a:tblStyle styleId="{FDEA2727-71D2-4BB0-8E86-C92FB58CEFF3}"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86FE01BB-6C40-43A5-BE39-A6695E1A0672}"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justinmind.com/blog/examples-user-story-best-practices/"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e8d84a610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e8d84a610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8d84a610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8d84a610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e8d84a610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e8d84a610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e8d84a610b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e8d84a610b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e8d84a610b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e8d84a610b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Reference</a:t>
            </a:r>
            <a:r>
              <a:rPr lang="en-GB"/>
              <a:t>: </a:t>
            </a:r>
            <a:r>
              <a:rPr lang="en-GB" u="sng">
                <a:solidFill>
                  <a:schemeClr val="hlink"/>
                </a:solidFill>
                <a:hlinkClick r:id="rId2"/>
              </a:rPr>
              <a:t>https://www.justinmind.com/blog/examples-user-story-best-practices/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e8d84a610b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e8d84a610b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e8d84a610b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e8d84a610b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e8d84a610b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e8d84a610b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e8d84a610b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e8d84a610b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e8d84a610b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e8d84a610b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e8d84a610b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e8d84a610b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a6b90f48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ea6b90f48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ea6d72c93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ea6d72c93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ea6d72c93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ea6d72c93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e988c4b6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ee988c4b6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e988c4b6c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ee988c4b6c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e988c4b6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ee988c4b6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ee988c4b6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ee988c4b6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ee988c4b6c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ee988c4b6c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af535679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eaf535679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eaf535679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eaf535679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eaf535679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eaf535679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eaf5356793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eaf5356793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eaf5356793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eaf5356793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eaf535679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eaf535679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Works on principle → Many Teams → 1 Product</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ba38b3a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eba38b3a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eba38b3ab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3eba38b3ab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eaf5356793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eaf5356793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eaf535679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eaf535679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3eeda893a1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3eeda893a1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eeda893a1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eeda893a1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eeda893a1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eeda893a1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eeda893a12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eeda893a12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ec0b8cc35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ec0b8cc35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f11178ad0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f11178ad0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f11178ad0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f11178ad0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f11178ad0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f11178ad07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3f11178ad0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3f11178ad0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f11178ad0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3f11178ad0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f11178ad07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f11178ad07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f1254e46b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2" name="Google Shape;302;g3f1254e46b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f1254e46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f1254e46b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f11178ad0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f11178ad0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f12b8a91e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f12b8a91e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ec75dd975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ec75dd975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f12b8a91e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f12b8a91e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3ec75dd9752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7" name="Google Shape;337;g3ec75dd9752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f12b8a91e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f12b8a91e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invensislearning.com/blog/user-stories-agile-development-intro/"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GB"/>
              <a:t>Unit 2</a:t>
            </a:r>
            <a:endParaRPr b="1"/>
          </a:p>
          <a:p>
            <a:pPr indent="0" lvl="0" marL="0" rtl="0" algn="ctr">
              <a:spcBef>
                <a:spcPts val="0"/>
              </a:spcBef>
              <a:spcAft>
                <a:spcPts val="0"/>
              </a:spcAft>
              <a:buNone/>
            </a:pPr>
            <a:r>
              <a:t/>
            </a:r>
            <a:endParaRPr b="1"/>
          </a:p>
        </p:txBody>
      </p:sp>
      <p:sp>
        <p:nvSpPr>
          <p:cNvPr id="55" name="Google Shape;55;p13"/>
          <p:cNvSpPr txBox="1"/>
          <p:nvPr>
            <p:ph idx="1" type="subTitle"/>
          </p:nvPr>
        </p:nvSpPr>
        <p:spPr>
          <a:xfrm>
            <a:off x="401950" y="21754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GB">
                <a:solidFill>
                  <a:schemeClr val="dk1"/>
                </a:solidFill>
              </a:rPr>
              <a:t>MCA0302</a:t>
            </a:r>
            <a:endParaRPr b="1">
              <a:solidFill>
                <a:schemeClr val="dk1"/>
              </a:solidFill>
            </a:endParaRPr>
          </a:p>
        </p:txBody>
      </p:sp>
      <p:sp>
        <p:nvSpPr>
          <p:cNvPr id="56" name="Google Shape;56;p13"/>
          <p:cNvSpPr txBox="1"/>
          <p:nvPr>
            <p:ph idx="1" type="subTitle"/>
          </p:nvPr>
        </p:nvSpPr>
        <p:spPr>
          <a:xfrm>
            <a:off x="623400" y="4103200"/>
            <a:ext cx="8520600" cy="6411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t/>
            </a:r>
            <a:endParaRPr sz="20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2.1 - Ag</a:t>
            </a:r>
            <a:r>
              <a:rPr lang="en-GB"/>
              <a:t>ile requirements that include the user persona, story mapping, user stories, 3Cs, INVEST, acceptance criteria, sprints, requirements, product backlog and backlog grooming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00396" y="72253"/>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0556"/>
              <a:buFont typeface="Arial"/>
              <a:buNone/>
            </a:pPr>
            <a:r>
              <a:rPr lang="en-GB" sz="3600"/>
              <a:t>Agile Requirements</a:t>
            </a:r>
            <a:endParaRPr/>
          </a:p>
        </p:txBody>
      </p:sp>
      <p:sp>
        <p:nvSpPr>
          <p:cNvPr id="67" name="Google Shape;67;p15"/>
          <p:cNvSpPr txBox="1"/>
          <p:nvPr>
            <p:ph idx="1" type="body"/>
          </p:nvPr>
        </p:nvSpPr>
        <p:spPr>
          <a:xfrm>
            <a:off x="311700" y="685768"/>
            <a:ext cx="8520600" cy="787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solidFill>
                  <a:schemeClr val="dk1"/>
                </a:solidFill>
              </a:rPr>
              <a:t>A flexible, user-centric approach to defining project features. </a:t>
            </a:r>
            <a:r>
              <a:rPr lang="en-GB">
                <a:solidFill>
                  <a:schemeClr val="dk1"/>
                </a:solidFill>
                <a:highlight>
                  <a:srgbClr val="FFFFFF"/>
                </a:highlight>
              </a:rPr>
              <a:t>Agile requirements are fluid and responsive. </a:t>
            </a:r>
            <a:r>
              <a:rPr lang="en-GB">
                <a:solidFill>
                  <a:schemeClr val="dk1"/>
                </a:solidFill>
              </a:rPr>
              <a:t> </a:t>
            </a:r>
            <a:endParaRPr/>
          </a:p>
        </p:txBody>
      </p:sp>
      <p:pic>
        <p:nvPicPr>
          <p:cNvPr id="68" name="Google Shape;68;p15"/>
          <p:cNvPicPr preferRelativeResize="0"/>
          <p:nvPr/>
        </p:nvPicPr>
        <p:blipFill rotWithShape="1">
          <a:blip r:embed="rId3">
            <a:alphaModFix/>
          </a:blip>
          <a:srcRect b="10243" l="13007" r="9063" t="6075"/>
          <a:stretch/>
        </p:blipFill>
        <p:spPr>
          <a:xfrm>
            <a:off x="3824130" y="1653602"/>
            <a:ext cx="5166076" cy="3124450"/>
          </a:xfrm>
          <a:prstGeom prst="rect">
            <a:avLst/>
          </a:prstGeom>
          <a:noFill/>
          <a:ln>
            <a:noFill/>
          </a:ln>
        </p:spPr>
      </p:pic>
      <p:sp>
        <p:nvSpPr>
          <p:cNvPr id="69" name="Google Shape;69;p15"/>
          <p:cNvSpPr txBox="1"/>
          <p:nvPr/>
        </p:nvSpPr>
        <p:spPr>
          <a:xfrm>
            <a:off x="311700" y="1468978"/>
            <a:ext cx="3382800" cy="3432300"/>
          </a:xfrm>
          <a:prstGeom prst="rect">
            <a:avLst/>
          </a:prstGeom>
          <a:noFill/>
          <a:ln>
            <a:noFill/>
          </a:ln>
        </p:spPr>
        <p:txBody>
          <a:bodyPr anchorCtr="0" anchor="t" bIns="91425" lIns="91425" spcFirstLastPara="1" rIns="91425" wrap="square" tIns="91425">
            <a:spAutoFit/>
          </a:bodyPr>
          <a:lstStyle/>
          <a:p>
            <a:pPr indent="0" lvl="0" marL="0" rtl="0" algn="l">
              <a:lnSpc>
                <a:spcPct val="139000"/>
              </a:lnSpc>
              <a:spcBef>
                <a:spcPts val="200"/>
              </a:spcBef>
              <a:spcAft>
                <a:spcPts val="0"/>
              </a:spcAft>
              <a:buNone/>
            </a:pPr>
            <a:r>
              <a:rPr b="1" lang="en-GB" sz="1500">
                <a:solidFill>
                  <a:srgbClr val="111111"/>
                </a:solidFill>
                <a:highlight>
                  <a:srgbClr val="FFFFFF"/>
                </a:highlight>
              </a:rPr>
              <a:t>How to Collect Agile Requirements?</a:t>
            </a:r>
            <a:endParaRPr b="1" sz="1500">
              <a:solidFill>
                <a:srgbClr val="111111"/>
              </a:solidFill>
              <a:highlight>
                <a:srgbClr val="FFFFFF"/>
              </a:highlight>
            </a:endParaRPr>
          </a:p>
          <a:p>
            <a:pPr indent="0" lvl="0" marL="0" rtl="0" algn="l">
              <a:lnSpc>
                <a:spcPct val="139000"/>
              </a:lnSpc>
              <a:spcBef>
                <a:spcPts val="200"/>
              </a:spcBef>
              <a:spcAft>
                <a:spcPts val="0"/>
              </a:spcAft>
              <a:buNone/>
            </a:pPr>
            <a:r>
              <a:rPr lang="en-GB" sz="1500">
                <a:solidFill>
                  <a:srgbClr val="111111"/>
                </a:solidFill>
                <a:highlight>
                  <a:srgbClr val="FFFFFF"/>
                </a:highlight>
              </a:rPr>
              <a:t>Stakeholder Collaboration and Goal Determination</a:t>
            </a:r>
            <a:endParaRPr sz="1500">
              <a:solidFill>
                <a:srgbClr val="111111"/>
              </a:solidFill>
              <a:highlight>
                <a:srgbClr val="FFFFFF"/>
              </a:highlight>
            </a:endParaRPr>
          </a:p>
          <a:p>
            <a:pPr indent="0" lvl="0" marL="0" rtl="0" algn="l">
              <a:lnSpc>
                <a:spcPct val="139000"/>
              </a:lnSpc>
              <a:spcBef>
                <a:spcPts val="200"/>
              </a:spcBef>
              <a:spcAft>
                <a:spcPts val="0"/>
              </a:spcAft>
              <a:buNone/>
            </a:pPr>
            <a:r>
              <a:rPr lang="en-GB" sz="1500">
                <a:solidFill>
                  <a:srgbClr val="111111"/>
                </a:solidFill>
                <a:highlight>
                  <a:srgbClr val="FFFFFF"/>
                </a:highlight>
              </a:rPr>
              <a:t>User Stories and Narrowing Requirements</a:t>
            </a:r>
            <a:endParaRPr sz="1500">
              <a:solidFill>
                <a:schemeClr val="dk1"/>
              </a:solidFill>
            </a:endParaRPr>
          </a:p>
          <a:p>
            <a:pPr indent="0" lvl="0" marL="0" rtl="0" algn="l">
              <a:lnSpc>
                <a:spcPct val="139000"/>
              </a:lnSpc>
              <a:spcBef>
                <a:spcPts val="200"/>
              </a:spcBef>
              <a:spcAft>
                <a:spcPts val="0"/>
              </a:spcAft>
              <a:buNone/>
            </a:pPr>
            <a:r>
              <a:rPr lang="en-GB" sz="1500">
                <a:solidFill>
                  <a:srgbClr val="111111"/>
                </a:solidFill>
                <a:highlight>
                  <a:srgbClr val="FFFFFF"/>
                </a:highlight>
              </a:rPr>
              <a:t>Iteration and Continuous Refinement</a:t>
            </a:r>
            <a:endParaRPr sz="1500">
              <a:solidFill>
                <a:schemeClr val="dk1"/>
              </a:solidFill>
            </a:endParaRPr>
          </a:p>
          <a:p>
            <a:pPr indent="0" lvl="0" marL="0" rtl="0" algn="l">
              <a:lnSpc>
                <a:spcPct val="139000"/>
              </a:lnSpc>
              <a:spcBef>
                <a:spcPts val="200"/>
              </a:spcBef>
              <a:spcAft>
                <a:spcPts val="0"/>
              </a:spcAft>
              <a:buNone/>
            </a:pPr>
            <a:r>
              <a:rPr lang="en-GB" sz="1500">
                <a:solidFill>
                  <a:srgbClr val="111111"/>
                </a:solidFill>
                <a:highlight>
                  <a:srgbClr val="FFFFFF"/>
                </a:highlight>
              </a:rPr>
              <a:t>Finalization and Unique Identifiers</a:t>
            </a:r>
            <a:endParaRPr sz="1500">
              <a:solidFill>
                <a:schemeClr val="dk1"/>
              </a:solidFill>
            </a:endParaRPr>
          </a:p>
          <a:p>
            <a:pPr indent="0" lvl="0" marL="0" rtl="0" algn="l">
              <a:lnSpc>
                <a:spcPct val="139000"/>
              </a:lnSpc>
              <a:spcBef>
                <a:spcPts val="200"/>
              </a:spcBef>
              <a:spcAft>
                <a:spcPts val="200"/>
              </a:spcAft>
              <a:buNone/>
            </a:pPr>
            <a:r>
              <a:rPr lang="en-GB" sz="1500">
                <a:solidFill>
                  <a:srgbClr val="111111"/>
                </a:solidFill>
                <a:highlight>
                  <a:srgbClr val="FFFFFF"/>
                </a:highlight>
              </a:rPr>
              <a:t>Review with Product Teams and Leadership</a:t>
            </a:r>
            <a:endParaRPr sz="15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61518"/>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Types of agile requirements: </a:t>
            </a:r>
            <a:endParaRPr/>
          </a:p>
        </p:txBody>
      </p:sp>
      <p:sp>
        <p:nvSpPr>
          <p:cNvPr id="75" name="Google Shape;75;p16"/>
          <p:cNvSpPr txBox="1"/>
          <p:nvPr>
            <p:ph idx="1" type="body"/>
          </p:nvPr>
        </p:nvSpPr>
        <p:spPr>
          <a:xfrm>
            <a:off x="311700" y="814075"/>
            <a:ext cx="2563500" cy="3416400"/>
          </a:xfrm>
          <a:prstGeom prst="rect">
            <a:avLst/>
          </a:prstGeom>
        </p:spPr>
        <p:txBody>
          <a:bodyPr anchorCtr="0" anchor="t" bIns="91425" lIns="91425" spcFirstLastPara="1" rIns="91425" wrap="square" tIns="91425">
            <a:noAutofit/>
          </a:bodyPr>
          <a:lstStyle/>
          <a:p>
            <a:pPr indent="0" lvl="0" marL="0" rtl="0" algn="l">
              <a:lnSpc>
                <a:spcPct val="136000"/>
              </a:lnSpc>
              <a:spcBef>
                <a:spcPts val="300"/>
              </a:spcBef>
              <a:spcAft>
                <a:spcPts val="0"/>
              </a:spcAft>
              <a:buClr>
                <a:schemeClr val="dk1"/>
              </a:buClr>
              <a:buSzPts val="1100"/>
              <a:buFont typeface="Arial"/>
              <a:buNone/>
            </a:pPr>
            <a:r>
              <a:rPr b="1" lang="en-GB" sz="1400">
                <a:solidFill>
                  <a:srgbClr val="111111"/>
                </a:solidFill>
                <a:highlight>
                  <a:srgbClr val="FFFFFF"/>
                </a:highlight>
              </a:rPr>
              <a:t>Functional Requirements (FRs)</a:t>
            </a:r>
            <a:endParaRPr b="1" sz="1400">
              <a:solidFill>
                <a:srgbClr val="111111"/>
              </a:solidFill>
              <a:highlight>
                <a:srgbClr val="FFFFFF"/>
              </a:highlight>
            </a:endParaRPr>
          </a:p>
          <a:p>
            <a:pPr indent="0" lvl="0" marL="0" rtl="0" algn="just">
              <a:lnSpc>
                <a:spcPct val="136000"/>
              </a:lnSpc>
              <a:spcBef>
                <a:spcPts val="300"/>
              </a:spcBef>
              <a:spcAft>
                <a:spcPts val="0"/>
              </a:spcAft>
              <a:buClr>
                <a:schemeClr val="dk1"/>
              </a:buClr>
              <a:buSzPts val="1100"/>
              <a:buFont typeface="Arial"/>
              <a:buNone/>
            </a:pPr>
            <a:r>
              <a:rPr lang="en-GB" sz="1400">
                <a:solidFill>
                  <a:srgbClr val="222222"/>
                </a:solidFill>
                <a:highlight>
                  <a:srgbClr val="FFFFFF"/>
                </a:highlight>
              </a:rPr>
              <a:t>Agile functional requirements pinpoint specific functions or features the final product must possess. Teams utilize these to outline steps for product development, establish goals, and set benchmarks to track progress. </a:t>
            </a:r>
            <a:endParaRPr sz="1400">
              <a:solidFill>
                <a:srgbClr val="222222"/>
              </a:solidFill>
              <a:highlight>
                <a:srgbClr val="FFFFFF"/>
              </a:highlight>
            </a:endParaRPr>
          </a:p>
          <a:p>
            <a:pPr indent="0" lvl="0" marL="0" rtl="0" algn="just">
              <a:lnSpc>
                <a:spcPct val="136000"/>
              </a:lnSpc>
              <a:spcBef>
                <a:spcPts val="300"/>
              </a:spcBef>
              <a:spcAft>
                <a:spcPts val="300"/>
              </a:spcAft>
              <a:buNone/>
            </a:pPr>
            <a:r>
              <a:rPr b="1" lang="en-GB" sz="1400">
                <a:solidFill>
                  <a:srgbClr val="222222"/>
                </a:solidFill>
                <a:highlight>
                  <a:srgbClr val="FFFFFF"/>
                </a:highlight>
              </a:rPr>
              <a:t>Examples:</a:t>
            </a:r>
            <a:r>
              <a:rPr lang="en-GB" sz="1400">
                <a:solidFill>
                  <a:srgbClr val="222222"/>
                </a:solidFill>
                <a:highlight>
                  <a:srgbClr val="FFFFFF"/>
                </a:highlight>
              </a:rPr>
              <a:t> features like a customer feedback form on a landing page for past invoices</a:t>
            </a:r>
            <a:endParaRPr sz="1400"/>
          </a:p>
        </p:txBody>
      </p:sp>
      <p:sp>
        <p:nvSpPr>
          <p:cNvPr id="76" name="Google Shape;76;p16"/>
          <p:cNvSpPr txBox="1"/>
          <p:nvPr>
            <p:ph idx="1" type="body"/>
          </p:nvPr>
        </p:nvSpPr>
        <p:spPr>
          <a:xfrm>
            <a:off x="3018127" y="768955"/>
            <a:ext cx="2710800" cy="3416400"/>
          </a:xfrm>
          <a:prstGeom prst="rect">
            <a:avLst/>
          </a:prstGeom>
        </p:spPr>
        <p:txBody>
          <a:bodyPr anchorCtr="0" anchor="t" bIns="91425" lIns="91425" spcFirstLastPara="1" rIns="91425" wrap="square" tIns="91425">
            <a:noAutofit/>
          </a:bodyPr>
          <a:lstStyle/>
          <a:p>
            <a:pPr indent="0" lvl="0" marL="0" rtl="0" algn="l">
              <a:lnSpc>
                <a:spcPct val="136000"/>
              </a:lnSpc>
              <a:spcBef>
                <a:spcPts val="300"/>
              </a:spcBef>
              <a:spcAft>
                <a:spcPts val="0"/>
              </a:spcAft>
              <a:buNone/>
            </a:pPr>
            <a:r>
              <a:rPr b="1" lang="en-GB" sz="1400">
                <a:solidFill>
                  <a:srgbClr val="111111"/>
                </a:solidFill>
                <a:highlight>
                  <a:srgbClr val="FFFFFF"/>
                </a:highlight>
              </a:rPr>
              <a:t>Non </a:t>
            </a:r>
            <a:r>
              <a:rPr b="1" lang="en-GB" sz="1400">
                <a:solidFill>
                  <a:srgbClr val="111111"/>
                </a:solidFill>
                <a:highlight>
                  <a:srgbClr val="FFFFFF"/>
                </a:highlight>
              </a:rPr>
              <a:t>Functional Requirements (NFRs)</a:t>
            </a:r>
            <a:endParaRPr b="1" sz="1400">
              <a:solidFill>
                <a:srgbClr val="111111"/>
              </a:solidFill>
              <a:highlight>
                <a:srgbClr val="FFFFFF"/>
              </a:highlight>
            </a:endParaRPr>
          </a:p>
          <a:p>
            <a:pPr indent="0" lvl="0" marL="0" rtl="0" algn="just">
              <a:lnSpc>
                <a:spcPct val="136000"/>
              </a:lnSpc>
              <a:spcBef>
                <a:spcPts val="300"/>
              </a:spcBef>
              <a:spcAft>
                <a:spcPts val="0"/>
              </a:spcAft>
              <a:buClr>
                <a:schemeClr val="dk1"/>
              </a:buClr>
              <a:buSzPts val="1100"/>
              <a:buFont typeface="Arial"/>
              <a:buNone/>
            </a:pPr>
            <a:r>
              <a:rPr lang="en-GB" sz="1400">
                <a:solidFill>
                  <a:srgbClr val="222222"/>
                </a:solidFill>
                <a:highlight>
                  <a:srgbClr val="FFFFFF"/>
                </a:highlight>
              </a:rPr>
              <a:t>Nonfunctional requirements, or quality attributes, define the expected performance of a solution. Areas such as usability, security, reliability, and overall system performance fall under NFRs. </a:t>
            </a:r>
            <a:endParaRPr sz="1400">
              <a:solidFill>
                <a:srgbClr val="222222"/>
              </a:solidFill>
              <a:highlight>
                <a:srgbClr val="FFFFFF"/>
              </a:highlight>
            </a:endParaRPr>
          </a:p>
          <a:p>
            <a:pPr indent="0" lvl="0" marL="0" rtl="0" algn="just">
              <a:lnSpc>
                <a:spcPct val="136000"/>
              </a:lnSpc>
              <a:spcBef>
                <a:spcPts val="300"/>
              </a:spcBef>
              <a:spcAft>
                <a:spcPts val="300"/>
              </a:spcAft>
              <a:buNone/>
            </a:pPr>
            <a:r>
              <a:rPr lang="en-GB" sz="1400">
                <a:solidFill>
                  <a:srgbClr val="222222"/>
                </a:solidFill>
                <a:highlight>
                  <a:srgbClr val="FFFFFF"/>
                </a:highlight>
              </a:rPr>
              <a:t>These requirements ensure the product behaves as intended, protecting against unauthorized access, ensuring reliability, and measuring user satisfaction. </a:t>
            </a:r>
            <a:endParaRPr sz="1400">
              <a:solidFill>
                <a:srgbClr val="222222"/>
              </a:solidFill>
              <a:highlight>
                <a:srgbClr val="FFFFFF"/>
              </a:highlight>
            </a:endParaRPr>
          </a:p>
        </p:txBody>
      </p:sp>
      <p:sp>
        <p:nvSpPr>
          <p:cNvPr id="77" name="Google Shape;77;p16"/>
          <p:cNvSpPr txBox="1"/>
          <p:nvPr/>
        </p:nvSpPr>
        <p:spPr>
          <a:xfrm>
            <a:off x="5887967" y="541130"/>
            <a:ext cx="3000000" cy="4287000"/>
          </a:xfrm>
          <a:prstGeom prst="rect">
            <a:avLst/>
          </a:prstGeom>
          <a:noFill/>
          <a:ln>
            <a:noFill/>
          </a:ln>
        </p:spPr>
        <p:txBody>
          <a:bodyPr anchorCtr="0" anchor="t" bIns="91425" lIns="91425" spcFirstLastPara="1" rIns="91425" wrap="square" tIns="91425">
            <a:spAutoFit/>
          </a:bodyPr>
          <a:lstStyle/>
          <a:p>
            <a:pPr indent="0" lvl="0" marL="0" rtl="0" algn="l">
              <a:lnSpc>
                <a:spcPct val="136000"/>
              </a:lnSpc>
              <a:spcBef>
                <a:spcPts val="300"/>
              </a:spcBef>
              <a:spcAft>
                <a:spcPts val="0"/>
              </a:spcAft>
              <a:buNone/>
            </a:pPr>
            <a:r>
              <a:rPr b="1" lang="en-GB">
                <a:solidFill>
                  <a:srgbClr val="111111"/>
                </a:solidFill>
                <a:highlight>
                  <a:srgbClr val="FFFFFF"/>
                </a:highlight>
              </a:rPr>
              <a:t>User Stories</a:t>
            </a:r>
            <a:endParaRPr b="1">
              <a:solidFill>
                <a:srgbClr val="111111"/>
              </a:solidFill>
              <a:highlight>
                <a:srgbClr val="FFFFFF"/>
              </a:highlight>
            </a:endParaRPr>
          </a:p>
          <a:p>
            <a:pPr indent="0" lvl="0" marL="0" rtl="0" algn="just">
              <a:lnSpc>
                <a:spcPct val="136000"/>
              </a:lnSpc>
              <a:spcBef>
                <a:spcPts val="300"/>
              </a:spcBef>
              <a:spcAft>
                <a:spcPts val="0"/>
              </a:spcAft>
              <a:buNone/>
            </a:pPr>
            <a:r>
              <a:rPr lang="en-GB">
                <a:solidFill>
                  <a:srgbClr val="222222"/>
                </a:solidFill>
                <a:highlight>
                  <a:srgbClr val="FFFFFF"/>
                </a:highlight>
              </a:rPr>
              <a:t>Agile teams express requirements from an end-user perspective through </a:t>
            </a:r>
            <a:r>
              <a:rPr lang="en-GB">
                <a:solidFill>
                  <a:srgbClr val="3F51B5"/>
                </a:solidFill>
                <a:highlight>
                  <a:srgbClr val="FFFFFF"/>
                </a:highlight>
                <a:uFill>
                  <a:noFill/>
                </a:uFill>
                <a:hlinkClick r:id="rId3">
                  <a:extLst>
                    <a:ext uri="{A12FA001-AC4F-418D-AE19-62706E023703}">
                      <ahyp:hlinkClr val="tx"/>
                    </a:ext>
                  </a:extLst>
                </a:hlinkClick>
              </a:rPr>
              <a:t>user stories</a:t>
            </a:r>
            <a:r>
              <a:rPr lang="en-GB">
                <a:solidFill>
                  <a:srgbClr val="222222"/>
                </a:solidFill>
                <a:highlight>
                  <a:srgbClr val="FFFFFF"/>
                </a:highlight>
              </a:rPr>
              <a:t>. These stories help assess feature importance, break down complex functionalities, and guide product development to meet user needs.</a:t>
            </a:r>
            <a:endParaRPr>
              <a:solidFill>
                <a:srgbClr val="222222"/>
              </a:solidFill>
              <a:highlight>
                <a:srgbClr val="FFFFFF"/>
              </a:highlight>
            </a:endParaRPr>
          </a:p>
          <a:p>
            <a:pPr indent="0" lvl="0" marL="0" rtl="0" algn="just">
              <a:lnSpc>
                <a:spcPct val="136000"/>
              </a:lnSpc>
              <a:spcBef>
                <a:spcPts val="300"/>
              </a:spcBef>
              <a:spcAft>
                <a:spcPts val="300"/>
              </a:spcAft>
              <a:buNone/>
            </a:pPr>
            <a:r>
              <a:rPr lang="en-GB">
                <a:solidFill>
                  <a:srgbClr val="222222"/>
                </a:solidFill>
                <a:highlight>
                  <a:srgbClr val="FFFFFF"/>
                </a:highlight>
              </a:rPr>
              <a:t>These stories facilitate communication by articulating the end-user perspective, fostering a cohesive approach to feature prioritization and development alignment with user needs.</a:t>
            </a:r>
            <a:endParaRPr>
              <a:solidFill>
                <a:srgbClr val="222222"/>
              </a:solidFill>
              <a:highlight>
                <a:srgbClr val="FFFFFF"/>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idx="1" type="body"/>
          </p:nvPr>
        </p:nvSpPr>
        <p:spPr>
          <a:xfrm>
            <a:off x="774150" y="396750"/>
            <a:ext cx="3195000" cy="3416400"/>
          </a:xfrm>
          <a:prstGeom prst="rect">
            <a:avLst/>
          </a:prstGeom>
        </p:spPr>
        <p:txBody>
          <a:bodyPr anchorCtr="0" anchor="t" bIns="91425" lIns="91425" spcFirstLastPara="1" rIns="91425" wrap="square" tIns="91425">
            <a:noAutofit/>
          </a:bodyPr>
          <a:lstStyle/>
          <a:p>
            <a:pPr indent="0" lvl="0" marL="0" rtl="0" algn="l">
              <a:lnSpc>
                <a:spcPct val="136000"/>
              </a:lnSpc>
              <a:spcBef>
                <a:spcPts val="300"/>
              </a:spcBef>
              <a:spcAft>
                <a:spcPts val="0"/>
              </a:spcAft>
              <a:buClr>
                <a:schemeClr val="dk1"/>
              </a:buClr>
              <a:buSzPts val="1100"/>
              <a:buFont typeface="Arial"/>
              <a:buNone/>
            </a:pPr>
            <a:r>
              <a:rPr b="1" lang="en-GB" sz="1400">
                <a:solidFill>
                  <a:srgbClr val="111111"/>
                </a:solidFill>
                <a:highlight>
                  <a:srgbClr val="FFFFFF"/>
                </a:highlight>
              </a:rPr>
              <a:t>Acceptance Criteria</a:t>
            </a:r>
            <a:endParaRPr b="1" sz="1400">
              <a:solidFill>
                <a:srgbClr val="111111"/>
              </a:solidFill>
              <a:highlight>
                <a:srgbClr val="FFFFFF"/>
              </a:highlight>
            </a:endParaRPr>
          </a:p>
          <a:p>
            <a:pPr indent="0" lvl="0" marL="0" rtl="0" algn="just">
              <a:lnSpc>
                <a:spcPct val="136000"/>
              </a:lnSpc>
              <a:spcBef>
                <a:spcPts val="300"/>
              </a:spcBef>
              <a:spcAft>
                <a:spcPts val="0"/>
              </a:spcAft>
              <a:buNone/>
            </a:pPr>
            <a:r>
              <a:rPr lang="en-GB" sz="1400">
                <a:solidFill>
                  <a:srgbClr val="222222"/>
                </a:solidFill>
                <a:highlight>
                  <a:srgbClr val="FFFFFF"/>
                </a:highlight>
              </a:rPr>
              <a:t>Acceptance criteria define how to test or measure the success of a user story. These criteria establish metrics to assess project success, such as improvements in customer retention or specific speed benchmarks for product dispatch.</a:t>
            </a:r>
            <a:endParaRPr sz="1400">
              <a:solidFill>
                <a:srgbClr val="222222"/>
              </a:solidFill>
              <a:highlight>
                <a:srgbClr val="FFFFFF"/>
              </a:highlight>
            </a:endParaRPr>
          </a:p>
          <a:p>
            <a:pPr indent="0" lvl="0" marL="0" rtl="0" algn="l">
              <a:lnSpc>
                <a:spcPct val="136000"/>
              </a:lnSpc>
              <a:spcBef>
                <a:spcPts val="300"/>
              </a:spcBef>
              <a:spcAft>
                <a:spcPts val="300"/>
              </a:spcAft>
              <a:buNone/>
            </a:pPr>
            <a:r>
              <a:t/>
            </a:r>
            <a:endParaRPr sz="1400">
              <a:solidFill>
                <a:srgbClr val="222222"/>
              </a:solidFill>
              <a:highlight>
                <a:srgbClr val="FFFFFF"/>
              </a:highlight>
            </a:endParaRPr>
          </a:p>
        </p:txBody>
      </p:sp>
      <p:sp>
        <p:nvSpPr>
          <p:cNvPr id="83" name="Google Shape;83;p17"/>
          <p:cNvSpPr txBox="1"/>
          <p:nvPr/>
        </p:nvSpPr>
        <p:spPr>
          <a:xfrm>
            <a:off x="4963025" y="515250"/>
            <a:ext cx="3867900" cy="3114900"/>
          </a:xfrm>
          <a:prstGeom prst="rect">
            <a:avLst/>
          </a:prstGeom>
          <a:noFill/>
          <a:ln>
            <a:noFill/>
          </a:ln>
        </p:spPr>
        <p:txBody>
          <a:bodyPr anchorCtr="0" anchor="t" bIns="91425" lIns="91425" spcFirstLastPara="1" rIns="91425" wrap="square" tIns="91425">
            <a:spAutoFit/>
          </a:bodyPr>
          <a:lstStyle/>
          <a:p>
            <a:pPr indent="0" lvl="0" marL="0" rtl="0" algn="l">
              <a:lnSpc>
                <a:spcPct val="136000"/>
              </a:lnSpc>
              <a:spcBef>
                <a:spcPts val="300"/>
              </a:spcBef>
              <a:spcAft>
                <a:spcPts val="0"/>
              </a:spcAft>
              <a:buNone/>
            </a:pPr>
            <a:r>
              <a:rPr b="1" lang="en-GB">
                <a:solidFill>
                  <a:srgbClr val="111111"/>
                </a:solidFill>
                <a:highlight>
                  <a:srgbClr val="FFFFFF"/>
                </a:highlight>
              </a:rPr>
              <a:t>User Acceptance Tests</a:t>
            </a:r>
            <a:endParaRPr b="1">
              <a:solidFill>
                <a:srgbClr val="111111"/>
              </a:solidFill>
              <a:highlight>
                <a:srgbClr val="FFFFFF"/>
              </a:highlight>
            </a:endParaRPr>
          </a:p>
          <a:p>
            <a:pPr indent="0" lvl="0" marL="0" rtl="0" algn="just">
              <a:lnSpc>
                <a:spcPct val="136000"/>
              </a:lnSpc>
              <a:spcBef>
                <a:spcPts val="300"/>
              </a:spcBef>
              <a:spcAft>
                <a:spcPts val="0"/>
              </a:spcAft>
              <a:buNone/>
            </a:pPr>
            <a:r>
              <a:rPr lang="en-GB">
                <a:solidFill>
                  <a:srgbClr val="222222"/>
                </a:solidFill>
                <a:highlight>
                  <a:srgbClr val="FFFFFF"/>
                </a:highlight>
              </a:rPr>
              <a:t>User acceptance tests provide scenarios for testing specific product or service features. These tests help teams and clients understand how features work and verify if solutions meet customer needs.</a:t>
            </a:r>
            <a:endParaRPr>
              <a:solidFill>
                <a:srgbClr val="222222"/>
              </a:solidFill>
              <a:highlight>
                <a:srgbClr val="FFFFFF"/>
              </a:highlight>
            </a:endParaRPr>
          </a:p>
          <a:p>
            <a:pPr indent="0" lvl="0" marL="0" rtl="0" algn="just">
              <a:lnSpc>
                <a:spcPct val="136000"/>
              </a:lnSpc>
              <a:spcBef>
                <a:spcPts val="300"/>
              </a:spcBef>
              <a:spcAft>
                <a:spcPts val="300"/>
              </a:spcAft>
              <a:buNone/>
            </a:pPr>
            <a:r>
              <a:rPr lang="en-GB">
                <a:solidFill>
                  <a:srgbClr val="222222"/>
                </a:solidFill>
                <a:highlight>
                  <a:srgbClr val="FFFFFF"/>
                </a:highlight>
              </a:rPr>
              <a:t>For instance, a user acceptance test for a confirmation email feature may include visiting the registration website, filling out a form, and confirming email receipt.</a:t>
            </a:r>
            <a:endParaRPr>
              <a:solidFill>
                <a:srgbClr val="222222"/>
              </a:solidFill>
              <a:highlight>
                <a:srgbClr val="FFFFFF"/>
              </a:high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ph type="title"/>
          </p:nvPr>
        </p:nvSpPr>
        <p:spPr>
          <a:xfrm>
            <a:off x="311700" y="2307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User Story:</a:t>
            </a:r>
            <a:endParaRPr/>
          </a:p>
        </p:txBody>
      </p:sp>
      <p:pic>
        <p:nvPicPr>
          <p:cNvPr id="89" name="Google Shape;89;p18"/>
          <p:cNvPicPr preferRelativeResize="0"/>
          <p:nvPr/>
        </p:nvPicPr>
        <p:blipFill>
          <a:blip r:embed="rId3">
            <a:alphaModFix/>
          </a:blip>
          <a:stretch>
            <a:fillRect/>
          </a:stretch>
        </p:blipFill>
        <p:spPr>
          <a:xfrm>
            <a:off x="5943225" y="393375"/>
            <a:ext cx="3009525" cy="1828700"/>
          </a:xfrm>
          <a:prstGeom prst="rect">
            <a:avLst/>
          </a:prstGeom>
          <a:noFill/>
          <a:ln>
            <a:noFill/>
          </a:ln>
        </p:spPr>
      </p:pic>
      <p:pic>
        <p:nvPicPr>
          <p:cNvPr id="90" name="Google Shape;90;p18"/>
          <p:cNvPicPr preferRelativeResize="0"/>
          <p:nvPr/>
        </p:nvPicPr>
        <p:blipFill rotWithShape="1">
          <a:blip r:embed="rId4">
            <a:alphaModFix/>
          </a:blip>
          <a:srcRect b="11698" l="12676" r="10502" t="6955"/>
          <a:stretch/>
        </p:blipFill>
        <p:spPr>
          <a:xfrm>
            <a:off x="247025" y="1800225"/>
            <a:ext cx="5357801" cy="3404450"/>
          </a:xfrm>
          <a:prstGeom prst="rect">
            <a:avLst/>
          </a:prstGeom>
          <a:noFill/>
          <a:ln>
            <a:noFill/>
          </a:ln>
        </p:spPr>
      </p:pic>
      <p:sp>
        <p:nvSpPr>
          <p:cNvPr id="91" name="Google Shape;91;p18"/>
          <p:cNvSpPr txBox="1"/>
          <p:nvPr/>
        </p:nvSpPr>
        <p:spPr>
          <a:xfrm>
            <a:off x="6180100" y="3373875"/>
            <a:ext cx="28761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A user story is a short, simple description of a feature told from the perspective of the user. </a:t>
            </a:r>
            <a:endParaRPr b="1"/>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User Persona and Story Mapping</a:t>
            </a:r>
            <a:endParaRPr/>
          </a:p>
        </p:txBody>
      </p:sp>
      <p:sp>
        <p:nvSpPr>
          <p:cNvPr id="97" name="Google Shape;97;p19"/>
          <p:cNvSpPr txBox="1"/>
          <p:nvPr>
            <p:ph idx="1" type="body"/>
          </p:nvPr>
        </p:nvSpPr>
        <p:spPr>
          <a:xfrm>
            <a:off x="311700" y="1152475"/>
            <a:ext cx="84627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en-GB" sz="1400">
                <a:solidFill>
                  <a:srgbClr val="2B2B2B"/>
                </a:solidFill>
                <a:highlight>
                  <a:srgbClr val="FFFFFF"/>
                </a:highlight>
              </a:rPr>
              <a:t>User stories can bring </a:t>
            </a:r>
            <a:r>
              <a:rPr b="1" lang="en-GB" sz="1400">
                <a:solidFill>
                  <a:srgbClr val="2B2B2B"/>
                </a:solidFill>
                <a:highlight>
                  <a:srgbClr val="FFFFFF"/>
                </a:highlight>
              </a:rPr>
              <a:t>user personas(a fictional representation of a typical user of a product )</a:t>
            </a:r>
            <a:r>
              <a:rPr lang="en-GB" sz="1400">
                <a:solidFill>
                  <a:srgbClr val="2B2B2B"/>
                </a:solidFill>
                <a:highlight>
                  <a:srgbClr val="FFFFFF"/>
                </a:highlight>
              </a:rPr>
              <a:t> to life, involving these fictional yet real-life-based personas in the project</a:t>
            </a:r>
            <a:r>
              <a:rPr lang="en-GB" sz="1400">
                <a:solidFill>
                  <a:schemeClr val="dk1"/>
                </a:solidFill>
              </a:rPr>
              <a:t>. </a:t>
            </a:r>
            <a:r>
              <a:rPr lang="en-GB" sz="1400">
                <a:solidFill>
                  <a:srgbClr val="2B2B2B"/>
                </a:solidFill>
                <a:highlight>
                  <a:srgbClr val="FFFFFF"/>
                </a:highlight>
              </a:rPr>
              <a:t> having representatives of thousands or millions of users guiding the development team on what they need, rather than the team simply imagining it. User stories can combine to form user story maps, a productive agile technique where all stories are organized to create a development timeline and a priority list.</a:t>
            </a:r>
            <a:r>
              <a:rPr lang="en-GB" sz="1400">
                <a:solidFill>
                  <a:schemeClr val="dk1"/>
                </a:solidFill>
              </a:rPr>
              <a:t> </a:t>
            </a:r>
            <a:endParaRPr sz="1400">
              <a:solidFill>
                <a:schemeClr val="dk1"/>
              </a:solidFill>
            </a:endParaRPr>
          </a:p>
          <a:p>
            <a:pPr indent="0" lvl="0" marL="0" rtl="0" algn="just">
              <a:spcBef>
                <a:spcPts val="1200"/>
              </a:spcBef>
              <a:spcAft>
                <a:spcPts val="0"/>
              </a:spcAft>
              <a:buNone/>
            </a:pPr>
            <a:r>
              <a:rPr b="1" lang="en-GB" sz="1400">
                <a:solidFill>
                  <a:schemeClr val="dk1"/>
                </a:solidFill>
              </a:rPr>
              <a:t>User persona Example: </a:t>
            </a:r>
            <a:endParaRPr b="1" sz="1400">
              <a:solidFill>
                <a:schemeClr val="dk1"/>
              </a:solidFill>
            </a:endParaRPr>
          </a:p>
          <a:p>
            <a:pPr indent="-317500" lvl="0" marL="457200" rtl="0" algn="just">
              <a:spcBef>
                <a:spcPts val="1200"/>
              </a:spcBef>
              <a:spcAft>
                <a:spcPts val="0"/>
              </a:spcAft>
              <a:buClr>
                <a:schemeClr val="dk1"/>
              </a:buClr>
              <a:buSzPts val="1400"/>
              <a:buAutoNum type="arabicPeriod"/>
            </a:pPr>
            <a:r>
              <a:rPr lang="en-GB" sz="1400">
                <a:solidFill>
                  <a:schemeClr val="dk1"/>
                </a:solidFill>
              </a:rPr>
              <a:t>Ms .Priya Patel, MCA Student </a:t>
            </a:r>
            <a:endParaRPr sz="1400">
              <a:solidFill>
                <a:schemeClr val="dk1"/>
              </a:solidFill>
            </a:endParaRPr>
          </a:p>
          <a:p>
            <a:pPr indent="0" lvl="0" marL="457200" rtl="0" algn="just">
              <a:spcBef>
                <a:spcPts val="1200"/>
              </a:spcBef>
              <a:spcAft>
                <a:spcPts val="0"/>
              </a:spcAft>
              <a:buNone/>
            </a:pPr>
            <a:r>
              <a:rPr lang="en-GB" sz="1400">
                <a:solidFill>
                  <a:schemeClr val="dk1"/>
                </a:solidFill>
              </a:rPr>
              <a:t>Her Goal: Find books quickly, check due dates, pay fine if applicable</a:t>
            </a:r>
            <a:endParaRPr sz="1400">
              <a:solidFill>
                <a:schemeClr val="dk1"/>
              </a:solidFill>
            </a:endParaRPr>
          </a:p>
          <a:p>
            <a:pPr indent="0" lvl="0" marL="457200" rtl="0" algn="just">
              <a:spcBef>
                <a:spcPts val="1200"/>
              </a:spcBef>
              <a:spcAft>
                <a:spcPts val="0"/>
              </a:spcAft>
              <a:buNone/>
            </a:pPr>
            <a:r>
              <a:rPr lang="en-GB" sz="1400">
                <a:solidFill>
                  <a:schemeClr val="dk1"/>
                </a:solidFill>
              </a:rPr>
              <a:t>Challanges: Limited time to visit library, difficulty finding needed books</a:t>
            </a:r>
            <a:endParaRPr sz="1400">
              <a:solidFill>
                <a:schemeClr val="dk1"/>
              </a:solidFill>
            </a:endParaRPr>
          </a:p>
          <a:p>
            <a:pPr indent="0" lvl="0" marL="457200" rtl="0" algn="just">
              <a:spcBef>
                <a:spcPts val="1200"/>
              </a:spcBef>
              <a:spcAft>
                <a:spcPts val="0"/>
              </a:spcAft>
              <a:buNone/>
            </a:pPr>
            <a:r>
              <a:rPr lang="en-GB" sz="1400">
                <a:solidFill>
                  <a:schemeClr val="dk1"/>
                </a:solidFill>
              </a:rPr>
              <a:t>Motivations: Save time, Access study materials quickly. </a:t>
            </a:r>
            <a:endParaRPr sz="1400">
              <a:solidFill>
                <a:schemeClr val="dk1"/>
              </a:solidFill>
            </a:endParaRPr>
          </a:p>
          <a:p>
            <a:pPr indent="0" lvl="0" marL="457200" rtl="0" algn="just">
              <a:spcBef>
                <a:spcPts val="1200"/>
              </a:spcBef>
              <a:spcAft>
                <a:spcPts val="1200"/>
              </a:spcAft>
              <a:buNone/>
            </a:pPr>
            <a:r>
              <a:rPr i="1" lang="en-GB" sz="1400">
                <a:solidFill>
                  <a:schemeClr val="dk1"/>
                </a:solidFill>
              </a:rPr>
              <a:t>“I want to find the right book in lesser clicks instead searching it on book shelves”</a:t>
            </a:r>
            <a:endParaRPr sz="14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nvSpPr>
        <p:spPr>
          <a:xfrm>
            <a:off x="259450" y="124581"/>
            <a:ext cx="7274100" cy="554100"/>
          </a:xfrm>
          <a:prstGeom prst="rect">
            <a:avLst/>
          </a:prstGeom>
          <a:noFill/>
          <a:ln>
            <a:noFill/>
          </a:ln>
        </p:spPr>
        <p:txBody>
          <a:bodyPr anchorCtr="0" anchor="t" bIns="91425" lIns="91425" spcFirstLastPara="1" rIns="91425" wrap="square" tIns="91425">
            <a:spAutoFit/>
          </a:bodyPr>
          <a:lstStyle/>
          <a:p>
            <a:pPr indent="0" lvl="0" marL="0" rtl="0" algn="l">
              <a:lnSpc>
                <a:spcPct val="120000"/>
              </a:lnSpc>
              <a:spcBef>
                <a:spcPts val="0"/>
              </a:spcBef>
              <a:spcAft>
                <a:spcPts val="2300"/>
              </a:spcAft>
              <a:buNone/>
            </a:pPr>
            <a:r>
              <a:rPr b="1" lang="en-GB" sz="2400">
                <a:solidFill>
                  <a:srgbClr val="272626"/>
                </a:solidFill>
                <a:highlight>
                  <a:srgbClr val="FFFFFF"/>
                </a:highlight>
              </a:rPr>
              <a:t>Techniques for Writing User Stories</a:t>
            </a:r>
            <a:endParaRPr b="1" sz="1700">
              <a:solidFill>
                <a:schemeClr val="dk1"/>
              </a:solidFill>
            </a:endParaRPr>
          </a:p>
        </p:txBody>
      </p:sp>
      <p:sp>
        <p:nvSpPr>
          <p:cNvPr id="103" name="Google Shape;103;p20"/>
          <p:cNvSpPr txBox="1"/>
          <p:nvPr/>
        </p:nvSpPr>
        <p:spPr>
          <a:xfrm>
            <a:off x="0" y="631675"/>
            <a:ext cx="9011400" cy="1856400"/>
          </a:xfrm>
          <a:prstGeom prst="rect">
            <a:avLst/>
          </a:prstGeom>
          <a:noFill/>
          <a:ln>
            <a:noFill/>
          </a:ln>
        </p:spPr>
        <p:txBody>
          <a:bodyPr anchorCtr="0" anchor="t" bIns="91425" lIns="91425" spcFirstLastPara="1" rIns="91425" wrap="square" tIns="91425">
            <a:spAutoFit/>
          </a:bodyPr>
          <a:lstStyle/>
          <a:p>
            <a:pPr indent="-304800" lvl="0" marL="457200" rtl="0" algn="just">
              <a:lnSpc>
                <a:spcPct val="115000"/>
              </a:lnSpc>
              <a:spcBef>
                <a:spcPts val="3100"/>
              </a:spcBef>
              <a:spcAft>
                <a:spcPts val="0"/>
              </a:spcAft>
              <a:buClr>
                <a:srgbClr val="272626"/>
              </a:buClr>
              <a:buSzPts val="1200"/>
              <a:buAutoNum type="arabicPeriod"/>
            </a:pPr>
            <a:r>
              <a:rPr b="1" lang="en-GB" sz="1200">
                <a:solidFill>
                  <a:srgbClr val="272626"/>
                </a:solidFill>
                <a:highlight>
                  <a:srgbClr val="FFFFFF"/>
                </a:highlight>
              </a:rPr>
              <a:t>User Persona Mapping:</a:t>
            </a:r>
            <a:r>
              <a:rPr lang="en-GB" sz="1200">
                <a:solidFill>
                  <a:srgbClr val="272626"/>
                </a:solidFill>
                <a:highlight>
                  <a:srgbClr val="FFFFFF"/>
                </a:highlight>
              </a:rPr>
              <a:t> a technique that involves creating a detailed profile of the user for whom the story is being written. This helps to ensure that the user story is focused on the needs of the user and that it accurately reflects their goals and motivations.</a:t>
            </a:r>
            <a:endParaRPr sz="1200">
              <a:solidFill>
                <a:srgbClr val="272626"/>
              </a:solidFill>
              <a:highlight>
                <a:srgbClr val="FFFFFF"/>
              </a:highlight>
            </a:endParaRPr>
          </a:p>
          <a:p>
            <a:pPr indent="-304800" lvl="0" marL="457200" rtl="0" algn="just">
              <a:lnSpc>
                <a:spcPct val="115000"/>
              </a:lnSpc>
              <a:spcBef>
                <a:spcPts val="0"/>
              </a:spcBef>
              <a:spcAft>
                <a:spcPts val="0"/>
              </a:spcAft>
              <a:buClr>
                <a:srgbClr val="272626"/>
              </a:buClr>
              <a:buSzPts val="1200"/>
              <a:buAutoNum type="arabicPeriod"/>
            </a:pPr>
            <a:r>
              <a:rPr b="1" lang="en-GB" sz="1200">
                <a:solidFill>
                  <a:srgbClr val="272626"/>
                </a:solidFill>
                <a:highlight>
                  <a:srgbClr val="FFFFFF"/>
                </a:highlight>
              </a:rPr>
              <a:t>Story Mapping:</a:t>
            </a:r>
            <a:r>
              <a:rPr lang="en-GB" sz="1200">
                <a:solidFill>
                  <a:srgbClr val="272626"/>
                </a:solidFill>
                <a:highlight>
                  <a:srgbClr val="FFFFFF"/>
                </a:highlight>
              </a:rPr>
              <a:t> a technique that involves visualizing the user’s journey through the software product. This helps to ensure that the user story is part of a larger narrative and that it fits into the overall product roadmap.</a:t>
            </a:r>
            <a:endParaRPr sz="1200">
              <a:solidFill>
                <a:srgbClr val="272626"/>
              </a:solidFill>
              <a:highlight>
                <a:srgbClr val="FFFFFF"/>
              </a:highlight>
            </a:endParaRPr>
          </a:p>
          <a:p>
            <a:pPr indent="-304800" lvl="0" marL="457200" rtl="0" algn="just">
              <a:lnSpc>
                <a:spcPct val="115000"/>
              </a:lnSpc>
              <a:spcBef>
                <a:spcPts val="0"/>
              </a:spcBef>
              <a:spcAft>
                <a:spcPts val="0"/>
              </a:spcAft>
              <a:buClr>
                <a:srgbClr val="272626"/>
              </a:buClr>
              <a:buSzPts val="1200"/>
              <a:buAutoNum type="arabicPeriod"/>
            </a:pPr>
            <a:r>
              <a:rPr b="1" lang="en-GB" sz="1200">
                <a:solidFill>
                  <a:srgbClr val="272626"/>
                </a:solidFill>
                <a:highlight>
                  <a:srgbClr val="FFFFFF"/>
                </a:highlight>
              </a:rPr>
              <a:t>Acceptance Criteria:</a:t>
            </a:r>
            <a:r>
              <a:rPr lang="en-GB" sz="1200">
                <a:solidFill>
                  <a:srgbClr val="272626"/>
                </a:solidFill>
                <a:highlight>
                  <a:srgbClr val="FFFFFF"/>
                </a:highlight>
              </a:rPr>
              <a:t> These are the specific conditions that must be met in order for the user story to be considered complete. By defining acceptance criteria up front, teams can ensure that the user story is well-defined and that everyone is on the same page.</a:t>
            </a:r>
            <a:endParaRPr sz="1200">
              <a:solidFill>
                <a:srgbClr val="272626"/>
              </a:solidFill>
              <a:highlight>
                <a:srgbClr val="FFFFFF"/>
              </a:highlight>
            </a:endParaRPr>
          </a:p>
        </p:txBody>
      </p:sp>
      <p:pic>
        <p:nvPicPr>
          <p:cNvPr id="104" name="Google Shape;104;p20"/>
          <p:cNvPicPr preferRelativeResize="0"/>
          <p:nvPr/>
        </p:nvPicPr>
        <p:blipFill>
          <a:blip r:embed="rId3">
            <a:alphaModFix/>
          </a:blip>
          <a:stretch>
            <a:fillRect/>
          </a:stretch>
        </p:blipFill>
        <p:spPr>
          <a:xfrm>
            <a:off x="2882200" y="2170325"/>
            <a:ext cx="6261802" cy="287361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129196"/>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3 Cs of User Story</a:t>
            </a:r>
            <a:endParaRPr/>
          </a:p>
        </p:txBody>
      </p:sp>
      <p:sp>
        <p:nvSpPr>
          <p:cNvPr id="110" name="Google Shape;110;p21"/>
          <p:cNvSpPr txBox="1"/>
          <p:nvPr>
            <p:ph idx="1" type="body"/>
          </p:nvPr>
        </p:nvSpPr>
        <p:spPr>
          <a:xfrm>
            <a:off x="311700" y="1152475"/>
            <a:ext cx="2236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600">
                <a:solidFill>
                  <a:schemeClr val="dk1"/>
                </a:solidFill>
              </a:rPr>
              <a:t>Card:</a:t>
            </a:r>
            <a:endParaRPr b="1" sz="1600">
              <a:solidFill>
                <a:schemeClr val="dk1"/>
              </a:solidFill>
            </a:endParaRPr>
          </a:p>
          <a:p>
            <a:pPr indent="0" lvl="0" marL="0" rtl="0" algn="just">
              <a:spcBef>
                <a:spcPts val="1200"/>
              </a:spcBef>
              <a:spcAft>
                <a:spcPts val="1200"/>
              </a:spcAft>
              <a:buNone/>
            </a:pPr>
            <a:r>
              <a:rPr lang="en-GB" sz="1600">
                <a:solidFill>
                  <a:schemeClr val="dk1"/>
                </a:solidFill>
              </a:rPr>
              <a:t>The physical or digital sticky note (e.g., in Jira) that displays the basic "Role-Action-Benefit" sentence </a:t>
            </a:r>
            <a:endParaRPr sz="1600">
              <a:solidFill>
                <a:schemeClr val="dk1"/>
              </a:solidFill>
            </a:endParaRPr>
          </a:p>
        </p:txBody>
      </p:sp>
      <p:sp>
        <p:nvSpPr>
          <p:cNvPr id="111" name="Google Shape;111;p21"/>
          <p:cNvSpPr txBox="1"/>
          <p:nvPr>
            <p:ph idx="1" type="body"/>
          </p:nvPr>
        </p:nvSpPr>
        <p:spPr>
          <a:xfrm>
            <a:off x="3137375" y="1152475"/>
            <a:ext cx="2236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600">
                <a:solidFill>
                  <a:schemeClr val="dk1"/>
                </a:solidFill>
              </a:rPr>
              <a:t>Conversation</a:t>
            </a:r>
            <a:r>
              <a:rPr b="1" lang="en-GB" sz="1600">
                <a:solidFill>
                  <a:schemeClr val="dk1"/>
                </a:solidFill>
              </a:rPr>
              <a:t>:</a:t>
            </a:r>
            <a:endParaRPr b="1" sz="1600">
              <a:solidFill>
                <a:schemeClr val="dk1"/>
              </a:solidFill>
            </a:endParaRPr>
          </a:p>
          <a:p>
            <a:pPr indent="0" lvl="0" marL="0" rtl="0" algn="just">
              <a:spcBef>
                <a:spcPts val="1200"/>
              </a:spcBef>
              <a:spcAft>
                <a:spcPts val="0"/>
              </a:spcAft>
              <a:buClr>
                <a:schemeClr val="dk1"/>
              </a:buClr>
              <a:buSzPts val="1200"/>
              <a:buFont typeface="Arial"/>
              <a:buNone/>
            </a:pPr>
            <a:r>
              <a:rPr lang="en-GB" sz="1600">
                <a:solidFill>
                  <a:schemeClr val="dk1"/>
                </a:solidFill>
              </a:rPr>
              <a:t>The verbal discussion between the product team and developers to clarify details, edge cases, and scope.</a:t>
            </a:r>
            <a:endParaRPr sz="1600">
              <a:solidFill>
                <a:schemeClr val="dk1"/>
              </a:solidFill>
            </a:endParaRPr>
          </a:p>
          <a:p>
            <a:pPr indent="0" lvl="0" marL="0" rtl="0" algn="l">
              <a:spcBef>
                <a:spcPts val="900"/>
              </a:spcBef>
              <a:spcAft>
                <a:spcPts val="0"/>
              </a:spcAft>
              <a:buClr>
                <a:schemeClr val="dk1"/>
              </a:buClr>
              <a:buSzPts val="1200"/>
              <a:buFont typeface="Arial"/>
              <a:buNone/>
            </a:pPr>
            <a:r>
              <a:t/>
            </a:r>
            <a:endParaRPr sz="1600">
              <a:solidFill>
                <a:schemeClr val="dk1"/>
              </a:solidFill>
            </a:endParaRPr>
          </a:p>
          <a:p>
            <a:pPr indent="0" lvl="0" marL="0" rtl="0" algn="l">
              <a:spcBef>
                <a:spcPts val="900"/>
              </a:spcBef>
              <a:spcAft>
                <a:spcPts val="1200"/>
              </a:spcAft>
              <a:buNone/>
            </a:pPr>
            <a:r>
              <a:t/>
            </a:r>
            <a:endParaRPr sz="1600">
              <a:solidFill>
                <a:schemeClr val="dk1"/>
              </a:solidFill>
            </a:endParaRPr>
          </a:p>
        </p:txBody>
      </p:sp>
      <p:sp>
        <p:nvSpPr>
          <p:cNvPr id="112" name="Google Shape;112;p21"/>
          <p:cNvSpPr txBox="1"/>
          <p:nvPr>
            <p:ph idx="1" type="body"/>
          </p:nvPr>
        </p:nvSpPr>
        <p:spPr>
          <a:xfrm>
            <a:off x="6595800" y="983525"/>
            <a:ext cx="22365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600">
                <a:solidFill>
                  <a:schemeClr val="dk1"/>
                </a:solidFill>
              </a:rPr>
              <a:t>Confirmation:</a:t>
            </a:r>
            <a:endParaRPr b="1" sz="1600">
              <a:solidFill>
                <a:schemeClr val="dk1"/>
              </a:solidFill>
            </a:endParaRPr>
          </a:p>
          <a:p>
            <a:pPr indent="0" lvl="0" marL="0" rtl="0" algn="l">
              <a:spcBef>
                <a:spcPts val="1200"/>
              </a:spcBef>
              <a:spcAft>
                <a:spcPts val="0"/>
              </a:spcAft>
              <a:buNone/>
            </a:pPr>
            <a:r>
              <a:rPr lang="en-GB" sz="1600">
                <a:solidFill>
                  <a:schemeClr val="dk1"/>
                </a:solidFill>
              </a:rPr>
              <a:t>(Acceptance Criteria): </a:t>
            </a:r>
            <a:endParaRPr sz="1600">
              <a:solidFill>
                <a:schemeClr val="dk1"/>
              </a:solidFill>
            </a:endParaRPr>
          </a:p>
          <a:p>
            <a:pPr indent="0" lvl="0" marL="0" rtl="0" algn="just">
              <a:spcBef>
                <a:spcPts val="1200"/>
              </a:spcBef>
              <a:spcAft>
                <a:spcPts val="1200"/>
              </a:spcAft>
              <a:buNone/>
            </a:pPr>
            <a:r>
              <a:rPr lang="en-GB" sz="1600">
                <a:solidFill>
                  <a:schemeClr val="dk1"/>
                </a:solidFill>
              </a:rPr>
              <a:t>The conditions that must be met for the story to be considered "done" </a:t>
            </a:r>
            <a:endParaRPr sz="16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435775" y="840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 of User story with acceptance criteria</a:t>
            </a:r>
            <a:endParaRPr/>
          </a:p>
          <a:p>
            <a:pPr indent="0" lvl="0" marL="0" rtl="0" algn="l">
              <a:spcBef>
                <a:spcPts val="0"/>
              </a:spcBef>
              <a:spcAft>
                <a:spcPts val="0"/>
              </a:spcAft>
              <a:buNone/>
            </a:pPr>
            <a:r>
              <a:rPr lang="en-GB" sz="2200"/>
              <a:t>Online Library Management System </a:t>
            </a:r>
            <a:endParaRPr sz="2200"/>
          </a:p>
        </p:txBody>
      </p:sp>
      <p:sp>
        <p:nvSpPr>
          <p:cNvPr id="118" name="Google Shape;118;p22"/>
          <p:cNvSpPr txBox="1"/>
          <p:nvPr>
            <p:ph idx="1" type="body"/>
          </p:nvPr>
        </p:nvSpPr>
        <p:spPr>
          <a:xfrm>
            <a:off x="311700" y="942975"/>
            <a:ext cx="8520600" cy="16287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rPr lang="en-GB">
                <a:solidFill>
                  <a:schemeClr val="dk1"/>
                </a:solidFill>
              </a:rPr>
              <a:t>User Story: Find a book</a:t>
            </a:r>
            <a:endParaRPr>
              <a:solidFill>
                <a:schemeClr val="dk1"/>
              </a:solidFill>
            </a:endParaRPr>
          </a:p>
          <a:p>
            <a:pPr indent="0" lvl="0" marL="0" rtl="0" algn="ctr">
              <a:spcBef>
                <a:spcPts val="1200"/>
              </a:spcBef>
              <a:spcAft>
                <a:spcPts val="0"/>
              </a:spcAft>
              <a:buNone/>
            </a:pPr>
            <a:r>
              <a:rPr i="1" lang="en-GB">
                <a:solidFill>
                  <a:schemeClr val="dk1"/>
                </a:solidFill>
              </a:rPr>
              <a:t>As </a:t>
            </a:r>
            <a:r>
              <a:rPr i="1" lang="en-GB">
                <a:solidFill>
                  <a:schemeClr val="accent1"/>
                </a:solidFill>
              </a:rPr>
              <a:t>&lt;a library member&gt;</a:t>
            </a:r>
            <a:r>
              <a:rPr i="1" lang="en-GB">
                <a:solidFill>
                  <a:schemeClr val="dk1"/>
                </a:solidFill>
              </a:rPr>
              <a:t> I want to </a:t>
            </a:r>
            <a:r>
              <a:rPr i="1" lang="en-GB">
                <a:solidFill>
                  <a:schemeClr val="accent1"/>
                </a:solidFill>
              </a:rPr>
              <a:t>&lt;search for book as title, author and category&gt;</a:t>
            </a:r>
            <a:r>
              <a:rPr i="1" lang="en-GB">
                <a:solidFill>
                  <a:schemeClr val="dk1"/>
                </a:solidFill>
              </a:rPr>
              <a:t> </a:t>
            </a:r>
            <a:endParaRPr i="1">
              <a:solidFill>
                <a:schemeClr val="dk1"/>
              </a:solidFill>
            </a:endParaRPr>
          </a:p>
          <a:p>
            <a:pPr indent="0" lvl="0" marL="0" rtl="0" algn="ctr">
              <a:spcBef>
                <a:spcPts val="1200"/>
              </a:spcBef>
              <a:spcAft>
                <a:spcPts val="0"/>
              </a:spcAft>
              <a:buNone/>
            </a:pPr>
            <a:r>
              <a:rPr i="1" lang="en-GB">
                <a:solidFill>
                  <a:schemeClr val="dk1"/>
                </a:solidFill>
              </a:rPr>
              <a:t>so that </a:t>
            </a:r>
            <a:r>
              <a:rPr i="1" lang="en-GB">
                <a:solidFill>
                  <a:schemeClr val="accent1"/>
                </a:solidFill>
              </a:rPr>
              <a:t>&lt;i can find quickly find the book available&gt;</a:t>
            </a:r>
            <a:endParaRPr i="1">
              <a:solidFill>
                <a:schemeClr val="accent1"/>
              </a:solidFill>
            </a:endParaRPr>
          </a:p>
          <a:p>
            <a:pPr indent="0" lvl="0" marL="0" rtl="0" algn="ctr">
              <a:spcBef>
                <a:spcPts val="1200"/>
              </a:spcBef>
              <a:spcAft>
                <a:spcPts val="1200"/>
              </a:spcAft>
              <a:buNone/>
            </a:pPr>
            <a:r>
              <a:rPr lang="en-GB">
                <a:solidFill>
                  <a:schemeClr val="dk1"/>
                </a:solidFill>
              </a:rPr>
              <a:t>Acceptance criteria</a:t>
            </a:r>
            <a:endParaRPr>
              <a:solidFill>
                <a:schemeClr val="dk1"/>
              </a:solidFill>
            </a:endParaRPr>
          </a:p>
        </p:txBody>
      </p:sp>
      <p:sp>
        <p:nvSpPr>
          <p:cNvPr id="119" name="Google Shape;119;p22"/>
          <p:cNvSpPr txBox="1"/>
          <p:nvPr/>
        </p:nvSpPr>
        <p:spPr>
          <a:xfrm>
            <a:off x="119947" y="2740950"/>
            <a:ext cx="29922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Scenario 1: Search by Book Title </a:t>
            </a:r>
            <a:endParaRPr b="1"/>
          </a:p>
          <a:p>
            <a:pPr indent="0" lvl="0" marL="0" rtl="0" algn="l">
              <a:spcBef>
                <a:spcPts val="0"/>
              </a:spcBef>
              <a:spcAft>
                <a:spcPts val="0"/>
              </a:spcAft>
              <a:buNone/>
            </a:pPr>
            <a:r>
              <a:rPr b="1" lang="en-GB"/>
              <a:t>Given:</a:t>
            </a:r>
            <a:r>
              <a:rPr lang="en-GB"/>
              <a:t> User on the search page</a:t>
            </a:r>
            <a:endParaRPr/>
          </a:p>
          <a:p>
            <a:pPr indent="0" lvl="0" marL="0" rtl="0" algn="l">
              <a:spcBef>
                <a:spcPts val="0"/>
              </a:spcBef>
              <a:spcAft>
                <a:spcPts val="0"/>
              </a:spcAft>
              <a:buNone/>
            </a:pPr>
            <a:r>
              <a:rPr b="1" lang="en-GB"/>
              <a:t>When:</a:t>
            </a:r>
            <a:r>
              <a:rPr lang="en-GB"/>
              <a:t> User enters valid title in search</a:t>
            </a:r>
            <a:endParaRPr/>
          </a:p>
          <a:p>
            <a:pPr indent="0" lvl="0" marL="0" rtl="0" algn="l">
              <a:spcBef>
                <a:spcPts val="0"/>
              </a:spcBef>
              <a:spcAft>
                <a:spcPts val="0"/>
              </a:spcAft>
              <a:buNone/>
            </a:pPr>
            <a:r>
              <a:rPr b="1" lang="en-GB"/>
              <a:t>And:</a:t>
            </a:r>
            <a:r>
              <a:rPr lang="en-GB"/>
              <a:t> clicks the search button</a:t>
            </a:r>
            <a:endParaRPr/>
          </a:p>
          <a:p>
            <a:pPr indent="0" lvl="0" marL="0" rtl="0" algn="l">
              <a:spcBef>
                <a:spcPts val="0"/>
              </a:spcBef>
              <a:spcAft>
                <a:spcPts val="0"/>
              </a:spcAft>
              <a:buNone/>
            </a:pPr>
            <a:r>
              <a:rPr b="1" lang="en-GB"/>
              <a:t>Then:</a:t>
            </a:r>
            <a:r>
              <a:rPr lang="en-GB"/>
              <a:t> System should display all books matching that title. </a:t>
            </a:r>
            <a:endParaRPr/>
          </a:p>
        </p:txBody>
      </p:sp>
      <p:sp>
        <p:nvSpPr>
          <p:cNvPr id="120" name="Google Shape;120;p22"/>
          <p:cNvSpPr txBox="1"/>
          <p:nvPr/>
        </p:nvSpPr>
        <p:spPr>
          <a:xfrm>
            <a:off x="3103515" y="2740950"/>
            <a:ext cx="2992200" cy="190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Scenario 2: Search by Book author</a:t>
            </a:r>
            <a:endParaRPr b="1"/>
          </a:p>
          <a:p>
            <a:pPr indent="0" lvl="0" marL="0" rtl="0" algn="l">
              <a:spcBef>
                <a:spcPts val="0"/>
              </a:spcBef>
              <a:spcAft>
                <a:spcPts val="0"/>
              </a:spcAft>
              <a:buNone/>
            </a:pPr>
            <a:r>
              <a:rPr b="1" lang="en-GB"/>
              <a:t>Given: </a:t>
            </a:r>
            <a:r>
              <a:rPr lang="en-GB">
                <a:solidFill>
                  <a:schemeClr val="dk1"/>
                </a:solidFill>
              </a:rPr>
              <a:t>User on the search page</a:t>
            </a:r>
            <a:endParaRPr b="1"/>
          </a:p>
          <a:p>
            <a:pPr indent="0" lvl="0" marL="0" rtl="0" algn="l">
              <a:spcBef>
                <a:spcPts val="0"/>
              </a:spcBef>
              <a:spcAft>
                <a:spcPts val="0"/>
              </a:spcAft>
              <a:buNone/>
            </a:pPr>
            <a:r>
              <a:rPr b="1" lang="en-GB"/>
              <a:t>When: </a:t>
            </a:r>
            <a:r>
              <a:rPr lang="en-GB">
                <a:solidFill>
                  <a:schemeClr val="dk1"/>
                </a:solidFill>
              </a:rPr>
              <a:t>User enters valid author name in search</a:t>
            </a:r>
            <a:endParaRPr>
              <a:solidFill>
                <a:schemeClr val="dk1"/>
              </a:solidFill>
            </a:endParaRPr>
          </a:p>
          <a:p>
            <a:pPr indent="0" lvl="0" marL="0" rtl="0" algn="l">
              <a:spcBef>
                <a:spcPts val="0"/>
              </a:spcBef>
              <a:spcAft>
                <a:spcPts val="0"/>
              </a:spcAft>
              <a:buNone/>
            </a:pPr>
            <a:r>
              <a:rPr b="1" lang="en-GB"/>
              <a:t>And: </a:t>
            </a:r>
            <a:r>
              <a:rPr lang="en-GB">
                <a:solidFill>
                  <a:schemeClr val="dk1"/>
                </a:solidFill>
              </a:rPr>
              <a:t>clicks the search button</a:t>
            </a:r>
            <a:endParaRPr b="1"/>
          </a:p>
          <a:p>
            <a:pPr indent="0" lvl="0" marL="0" rtl="0" algn="l">
              <a:spcBef>
                <a:spcPts val="0"/>
              </a:spcBef>
              <a:spcAft>
                <a:spcPts val="0"/>
              </a:spcAft>
              <a:buNone/>
            </a:pPr>
            <a:r>
              <a:rPr b="1" lang="en-GB"/>
              <a:t>Then: </a:t>
            </a:r>
            <a:r>
              <a:rPr lang="en-GB">
                <a:solidFill>
                  <a:schemeClr val="dk1"/>
                </a:solidFill>
              </a:rPr>
              <a:t>System should display all books matching that author Name. </a:t>
            </a:r>
            <a:endParaRPr b="1"/>
          </a:p>
        </p:txBody>
      </p:sp>
      <p:sp>
        <p:nvSpPr>
          <p:cNvPr id="121" name="Google Shape;121;p22"/>
          <p:cNvSpPr txBox="1"/>
          <p:nvPr/>
        </p:nvSpPr>
        <p:spPr>
          <a:xfrm>
            <a:off x="6028033" y="2729675"/>
            <a:ext cx="32991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Scenario 3: Search by Book category</a:t>
            </a:r>
            <a:endParaRPr b="1"/>
          </a:p>
          <a:p>
            <a:pPr indent="0" lvl="0" marL="0" rtl="0" algn="l">
              <a:spcBef>
                <a:spcPts val="0"/>
              </a:spcBef>
              <a:spcAft>
                <a:spcPts val="0"/>
              </a:spcAft>
              <a:buNone/>
            </a:pPr>
            <a:r>
              <a:rPr b="1" lang="en-GB"/>
              <a:t>Given: </a:t>
            </a:r>
            <a:r>
              <a:rPr lang="en-GB">
                <a:solidFill>
                  <a:schemeClr val="dk1"/>
                </a:solidFill>
              </a:rPr>
              <a:t>User on the search page</a:t>
            </a:r>
            <a:endParaRPr b="1">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When: </a:t>
            </a:r>
            <a:r>
              <a:rPr lang="en-GB">
                <a:solidFill>
                  <a:schemeClr val="dk1"/>
                </a:solidFill>
              </a:rPr>
              <a:t>User enters valid category in search</a:t>
            </a:r>
            <a:endParaRPr>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And: </a:t>
            </a:r>
            <a:r>
              <a:rPr lang="en-GB">
                <a:solidFill>
                  <a:schemeClr val="dk1"/>
                </a:solidFill>
              </a:rPr>
              <a:t>clicks the search button</a:t>
            </a:r>
            <a:endParaRPr b="1">
              <a:solidFill>
                <a:schemeClr val="dk1"/>
              </a:solidFill>
            </a:endParaRPr>
          </a:p>
          <a:p>
            <a:pPr indent="0" lvl="0" marL="0" rtl="0" algn="l">
              <a:spcBef>
                <a:spcPts val="0"/>
              </a:spcBef>
              <a:spcAft>
                <a:spcPts val="0"/>
              </a:spcAft>
              <a:buClr>
                <a:schemeClr val="dk1"/>
              </a:buClr>
              <a:buSzPts val="1100"/>
              <a:buFont typeface="Arial"/>
              <a:buNone/>
            </a:pPr>
            <a:r>
              <a:rPr b="1" lang="en-GB">
                <a:solidFill>
                  <a:schemeClr val="dk1"/>
                </a:solidFill>
              </a:rPr>
              <a:t>Then: </a:t>
            </a:r>
            <a:r>
              <a:rPr lang="en-GB">
                <a:solidFill>
                  <a:schemeClr val="dk1"/>
                </a:solidFill>
              </a:rPr>
              <a:t>System should display all books matching that category. </a:t>
            </a:r>
            <a:endParaRPr b="1"/>
          </a:p>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3"/>
          <p:cNvSpPr txBox="1"/>
          <p:nvPr/>
        </p:nvSpPr>
        <p:spPr>
          <a:xfrm>
            <a:off x="1116490" y="242716"/>
            <a:ext cx="29922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Scenario 4: No matching result</a:t>
            </a:r>
            <a:endParaRPr b="1"/>
          </a:p>
          <a:p>
            <a:pPr indent="0" lvl="0" marL="0" rtl="0" algn="l">
              <a:spcBef>
                <a:spcPts val="0"/>
              </a:spcBef>
              <a:spcAft>
                <a:spcPts val="0"/>
              </a:spcAft>
              <a:buNone/>
            </a:pPr>
            <a:r>
              <a:rPr b="1" lang="en-GB"/>
              <a:t>Given:</a:t>
            </a:r>
            <a:r>
              <a:rPr lang="en-GB"/>
              <a:t> User on the search page</a:t>
            </a:r>
            <a:endParaRPr/>
          </a:p>
          <a:p>
            <a:pPr indent="0" lvl="0" marL="0" rtl="0" algn="l">
              <a:spcBef>
                <a:spcPts val="0"/>
              </a:spcBef>
              <a:spcAft>
                <a:spcPts val="0"/>
              </a:spcAft>
              <a:buNone/>
            </a:pPr>
            <a:r>
              <a:rPr b="1" lang="en-GB"/>
              <a:t>When:</a:t>
            </a:r>
            <a:r>
              <a:rPr lang="en-GB"/>
              <a:t> User enters </a:t>
            </a:r>
            <a:r>
              <a:rPr lang="en-GB"/>
              <a:t>title, author, or category that does not exist </a:t>
            </a:r>
            <a:endParaRPr/>
          </a:p>
          <a:p>
            <a:pPr indent="0" lvl="0" marL="0" rtl="0" algn="l">
              <a:spcBef>
                <a:spcPts val="0"/>
              </a:spcBef>
              <a:spcAft>
                <a:spcPts val="0"/>
              </a:spcAft>
              <a:buNone/>
            </a:pPr>
            <a:r>
              <a:rPr b="1" lang="en-GB"/>
              <a:t>And:</a:t>
            </a:r>
            <a:r>
              <a:rPr lang="en-GB"/>
              <a:t> clicks the search button</a:t>
            </a:r>
            <a:endParaRPr/>
          </a:p>
          <a:p>
            <a:pPr indent="0" lvl="0" marL="0" rtl="0" algn="l">
              <a:spcBef>
                <a:spcPts val="0"/>
              </a:spcBef>
              <a:spcAft>
                <a:spcPts val="0"/>
              </a:spcAft>
              <a:buNone/>
            </a:pPr>
            <a:r>
              <a:rPr b="1" lang="en-GB"/>
              <a:t>Then:</a:t>
            </a:r>
            <a:r>
              <a:rPr lang="en-GB"/>
              <a:t> System should display “No result found”. </a:t>
            </a:r>
            <a:endParaRPr/>
          </a:p>
        </p:txBody>
      </p:sp>
      <p:sp>
        <p:nvSpPr>
          <p:cNvPr id="127" name="Google Shape;127;p23"/>
          <p:cNvSpPr txBox="1"/>
          <p:nvPr/>
        </p:nvSpPr>
        <p:spPr>
          <a:xfrm>
            <a:off x="4934765" y="316166"/>
            <a:ext cx="29922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a:t>Scenario 5: Search is empty</a:t>
            </a:r>
            <a:endParaRPr b="1"/>
          </a:p>
          <a:p>
            <a:pPr indent="0" lvl="0" marL="0" rtl="0" algn="l">
              <a:spcBef>
                <a:spcPts val="0"/>
              </a:spcBef>
              <a:spcAft>
                <a:spcPts val="0"/>
              </a:spcAft>
              <a:buNone/>
            </a:pPr>
            <a:r>
              <a:rPr b="1" lang="en-GB"/>
              <a:t>Given:</a:t>
            </a:r>
            <a:r>
              <a:rPr lang="en-GB"/>
              <a:t> User on the search page</a:t>
            </a:r>
            <a:endParaRPr/>
          </a:p>
          <a:p>
            <a:pPr indent="0" lvl="0" marL="0" rtl="0" algn="l">
              <a:spcBef>
                <a:spcPts val="0"/>
              </a:spcBef>
              <a:spcAft>
                <a:spcPts val="0"/>
              </a:spcAft>
              <a:buNone/>
            </a:pPr>
            <a:r>
              <a:rPr b="1" lang="en-GB"/>
              <a:t>When:</a:t>
            </a:r>
            <a:r>
              <a:rPr lang="en-GB"/>
              <a:t> User enters nothing in the search box.</a:t>
            </a:r>
            <a:endParaRPr/>
          </a:p>
          <a:p>
            <a:pPr indent="0" lvl="0" marL="0" rtl="0" algn="l">
              <a:spcBef>
                <a:spcPts val="0"/>
              </a:spcBef>
              <a:spcAft>
                <a:spcPts val="0"/>
              </a:spcAft>
              <a:buNone/>
            </a:pPr>
            <a:r>
              <a:rPr b="1" lang="en-GB"/>
              <a:t>And:</a:t>
            </a:r>
            <a:r>
              <a:rPr lang="en-GB"/>
              <a:t> clicks the search button</a:t>
            </a:r>
            <a:endParaRPr/>
          </a:p>
          <a:p>
            <a:pPr indent="0" lvl="0" marL="0" rtl="0" algn="l">
              <a:spcBef>
                <a:spcPts val="0"/>
              </a:spcBef>
              <a:spcAft>
                <a:spcPts val="0"/>
              </a:spcAft>
              <a:buNone/>
            </a:pPr>
            <a:r>
              <a:rPr b="1" lang="en-GB"/>
              <a:t>Then:</a:t>
            </a:r>
            <a:r>
              <a:rPr lang="en-GB"/>
              <a:t> System should display “Enter Data” </a:t>
            </a:r>
            <a:endParaRPr/>
          </a:p>
        </p:txBody>
      </p:sp>
      <p:pic>
        <p:nvPicPr>
          <p:cNvPr id="128" name="Google Shape;128;p23"/>
          <p:cNvPicPr preferRelativeResize="0"/>
          <p:nvPr/>
        </p:nvPicPr>
        <p:blipFill>
          <a:blip r:embed="rId3">
            <a:alphaModFix/>
          </a:blip>
          <a:stretch>
            <a:fillRect/>
          </a:stretch>
        </p:blipFill>
        <p:spPr>
          <a:xfrm>
            <a:off x="2419825" y="2112191"/>
            <a:ext cx="5052383" cy="282933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4"/>
          <p:cNvSpPr txBox="1"/>
          <p:nvPr>
            <p:ph type="title"/>
          </p:nvPr>
        </p:nvSpPr>
        <p:spPr>
          <a:xfrm>
            <a:off x="311700" y="230713"/>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Template</a:t>
            </a:r>
            <a:endParaRPr/>
          </a:p>
        </p:txBody>
      </p:sp>
      <p:pic>
        <p:nvPicPr>
          <p:cNvPr id="134" name="Google Shape;134;p24"/>
          <p:cNvPicPr preferRelativeResize="0"/>
          <p:nvPr/>
        </p:nvPicPr>
        <p:blipFill>
          <a:blip r:embed="rId3">
            <a:alphaModFix/>
          </a:blip>
          <a:stretch>
            <a:fillRect/>
          </a:stretch>
        </p:blipFill>
        <p:spPr>
          <a:xfrm>
            <a:off x="1269100" y="803413"/>
            <a:ext cx="6439286" cy="403528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0556"/>
              <a:buFont typeface="Arial"/>
              <a:buNone/>
            </a:pPr>
            <a:r>
              <a:rPr lang="en-GB" sz="3600"/>
              <a:t>INVEST</a:t>
            </a:r>
            <a:endParaRPr/>
          </a:p>
        </p:txBody>
      </p:sp>
      <p:sp>
        <p:nvSpPr>
          <p:cNvPr id="140" name="Google Shape;140;p25"/>
          <p:cNvSpPr txBox="1"/>
          <p:nvPr>
            <p:ph type="title"/>
          </p:nvPr>
        </p:nvSpPr>
        <p:spPr>
          <a:xfrm>
            <a:off x="623400" y="166005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Clr>
                <a:schemeClr val="dk1"/>
              </a:buClr>
              <a:buSzPct val="30556"/>
              <a:buFont typeface="Arial"/>
              <a:buNone/>
            </a:pPr>
            <a:r>
              <a:rPr lang="en-GB" sz="3600"/>
              <a:t>I- Independent</a:t>
            </a:r>
            <a:endParaRPr sz="3600"/>
          </a:p>
          <a:p>
            <a:pPr indent="0" lvl="0" marL="0" rtl="0" algn="ctr">
              <a:spcBef>
                <a:spcPts val="0"/>
              </a:spcBef>
              <a:spcAft>
                <a:spcPts val="0"/>
              </a:spcAft>
              <a:buClr>
                <a:schemeClr val="dk1"/>
              </a:buClr>
              <a:buSzPct val="30556"/>
              <a:buFont typeface="Arial"/>
              <a:buNone/>
            </a:pPr>
            <a:r>
              <a:rPr lang="en-GB" sz="3600"/>
              <a:t>N- Negotiable</a:t>
            </a:r>
            <a:endParaRPr sz="3600"/>
          </a:p>
          <a:p>
            <a:pPr indent="0" lvl="0" marL="0" rtl="0" algn="ctr">
              <a:spcBef>
                <a:spcPts val="0"/>
              </a:spcBef>
              <a:spcAft>
                <a:spcPts val="0"/>
              </a:spcAft>
              <a:buClr>
                <a:schemeClr val="dk1"/>
              </a:buClr>
              <a:buSzPct val="30556"/>
              <a:buFont typeface="Arial"/>
              <a:buNone/>
            </a:pPr>
            <a:r>
              <a:rPr lang="en-GB" sz="3600"/>
              <a:t>V- Valuable</a:t>
            </a:r>
            <a:endParaRPr sz="3600"/>
          </a:p>
          <a:p>
            <a:pPr indent="0" lvl="0" marL="0" rtl="0" algn="ctr">
              <a:spcBef>
                <a:spcPts val="0"/>
              </a:spcBef>
              <a:spcAft>
                <a:spcPts val="0"/>
              </a:spcAft>
              <a:buClr>
                <a:schemeClr val="dk1"/>
              </a:buClr>
              <a:buSzPct val="30556"/>
              <a:buFont typeface="Arial"/>
              <a:buNone/>
            </a:pPr>
            <a:r>
              <a:rPr lang="en-GB" sz="3600"/>
              <a:t>E- Estimable</a:t>
            </a:r>
            <a:endParaRPr sz="3600"/>
          </a:p>
          <a:p>
            <a:pPr indent="0" lvl="0" marL="0" rtl="0" algn="ctr">
              <a:spcBef>
                <a:spcPts val="0"/>
              </a:spcBef>
              <a:spcAft>
                <a:spcPts val="0"/>
              </a:spcAft>
              <a:buClr>
                <a:schemeClr val="dk1"/>
              </a:buClr>
              <a:buSzPct val="30556"/>
              <a:buFont typeface="Arial"/>
              <a:buNone/>
            </a:pPr>
            <a:r>
              <a:rPr lang="en-GB" sz="3600"/>
              <a:t>S- Small</a:t>
            </a:r>
            <a:endParaRPr sz="3600"/>
          </a:p>
          <a:p>
            <a:pPr indent="0" lvl="0" marL="0" rtl="0" algn="ctr">
              <a:spcBef>
                <a:spcPts val="0"/>
              </a:spcBef>
              <a:spcAft>
                <a:spcPts val="0"/>
              </a:spcAft>
              <a:buClr>
                <a:schemeClr val="dk1"/>
              </a:buClr>
              <a:buSzPct val="30556"/>
              <a:buFont typeface="Arial"/>
              <a:buNone/>
            </a:pPr>
            <a:r>
              <a:rPr lang="en-GB" sz="3600"/>
              <a:t>T- Testable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a:t>
            </a:r>
            <a:endParaRPr/>
          </a:p>
        </p:txBody>
      </p:sp>
      <p:sp>
        <p:nvSpPr>
          <p:cNvPr id="146" name="Google Shape;146;p26"/>
          <p:cNvSpPr txBox="1"/>
          <p:nvPr>
            <p:ph idx="1" type="body"/>
          </p:nvPr>
        </p:nvSpPr>
        <p:spPr>
          <a:xfrm>
            <a:off x="311700" y="1152475"/>
            <a:ext cx="8520600" cy="945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A Story:</a:t>
            </a:r>
            <a:endParaRPr>
              <a:solidFill>
                <a:schemeClr val="dk1"/>
              </a:solidFill>
            </a:endParaRPr>
          </a:p>
          <a:p>
            <a:pPr indent="0" lvl="0" marL="0" rtl="0" algn="l">
              <a:spcBef>
                <a:spcPts val="1200"/>
              </a:spcBef>
              <a:spcAft>
                <a:spcPts val="1200"/>
              </a:spcAft>
              <a:buNone/>
            </a:pPr>
            <a:r>
              <a:rPr b="1" lang="en-GB" u="sng">
                <a:solidFill>
                  <a:schemeClr val="dk1"/>
                </a:solidFill>
              </a:rPr>
              <a:t> AS A USER I WANT WHOLE PAYMENT SYSTEM TO BE UPDATED</a:t>
            </a:r>
            <a:endParaRPr b="1" u="sng">
              <a:solidFill>
                <a:schemeClr val="dk1"/>
              </a:solidFill>
            </a:endParaRPr>
          </a:p>
        </p:txBody>
      </p:sp>
      <p:sp>
        <p:nvSpPr>
          <p:cNvPr id="147" name="Google Shape;147;p26"/>
          <p:cNvSpPr txBox="1"/>
          <p:nvPr>
            <p:ph idx="1" type="body"/>
          </p:nvPr>
        </p:nvSpPr>
        <p:spPr>
          <a:xfrm>
            <a:off x="407575" y="2390100"/>
            <a:ext cx="8736300" cy="212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AN INVEST Story:</a:t>
            </a:r>
            <a:endParaRPr>
              <a:solidFill>
                <a:schemeClr val="dk1"/>
              </a:solidFill>
            </a:endParaRPr>
          </a:p>
          <a:p>
            <a:pPr indent="0" lvl="0" marL="0" rtl="0" algn="l">
              <a:spcBef>
                <a:spcPts val="1200"/>
              </a:spcBef>
              <a:spcAft>
                <a:spcPts val="0"/>
              </a:spcAft>
              <a:buNone/>
            </a:pPr>
            <a:r>
              <a:rPr b="1" lang="en-GB" u="sng">
                <a:solidFill>
                  <a:schemeClr val="dk1"/>
                </a:solidFill>
                <a:highlight>
                  <a:srgbClr val="D5A6BD"/>
                </a:highlight>
              </a:rPr>
              <a:t>AS A CUSTOMER, </a:t>
            </a:r>
            <a:endParaRPr b="1" u="sng">
              <a:solidFill>
                <a:schemeClr val="dk1"/>
              </a:solidFill>
              <a:highlight>
                <a:srgbClr val="D5A6BD"/>
              </a:highlight>
            </a:endParaRPr>
          </a:p>
          <a:p>
            <a:pPr indent="0" lvl="0" marL="0" rtl="0" algn="l">
              <a:spcBef>
                <a:spcPts val="1200"/>
              </a:spcBef>
              <a:spcAft>
                <a:spcPts val="0"/>
              </a:spcAft>
              <a:buNone/>
            </a:pPr>
            <a:r>
              <a:rPr b="1" lang="en-GB" u="sng">
                <a:solidFill>
                  <a:schemeClr val="dk1"/>
                </a:solidFill>
                <a:highlight>
                  <a:srgbClr val="D5A6BD"/>
                </a:highlight>
              </a:rPr>
              <a:t>I WANT TO SAVE MY CREDIT CARD, </a:t>
            </a:r>
            <a:endParaRPr b="1" u="sng">
              <a:solidFill>
                <a:schemeClr val="dk1"/>
              </a:solidFill>
              <a:highlight>
                <a:srgbClr val="D5A6BD"/>
              </a:highlight>
            </a:endParaRPr>
          </a:p>
          <a:p>
            <a:pPr indent="0" lvl="0" marL="0" rtl="0" algn="l">
              <a:spcBef>
                <a:spcPts val="1200"/>
              </a:spcBef>
              <a:spcAft>
                <a:spcPts val="1200"/>
              </a:spcAft>
              <a:buNone/>
            </a:pPr>
            <a:r>
              <a:rPr b="1" lang="en-GB" u="sng">
                <a:solidFill>
                  <a:schemeClr val="dk1"/>
                </a:solidFill>
                <a:highlight>
                  <a:srgbClr val="D5A6BD"/>
                </a:highlight>
              </a:rPr>
              <a:t>SO THAT I CAN CHECK OUT FASTER</a:t>
            </a:r>
            <a:endParaRPr b="1" u="sng">
              <a:solidFill>
                <a:schemeClr val="dk1"/>
              </a:solidFill>
              <a:highlight>
                <a:srgbClr val="D5A6BD"/>
              </a:high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7"/>
          <p:cNvSpPr txBox="1"/>
          <p:nvPr>
            <p:ph idx="1" type="body"/>
          </p:nvPr>
        </p:nvSpPr>
        <p:spPr>
          <a:xfrm>
            <a:off x="311700" y="605925"/>
            <a:ext cx="8520600" cy="3963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Independent - Can be built without other payment methods</a:t>
            </a:r>
            <a:endParaRPr>
              <a:solidFill>
                <a:schemeClr val="dk1"/>
              </a:solidFill>
            </a:endParaRPr>
          </a:p>
          <a:p>
            <a:pPr indent="0" lvl="0" marL="0" rtl="0" algn="l">
              <a:spcBef>
                <a:spcPts val="1200"/>
              </a:spcBef>
              <a:spcAft>
                <a:spcPts val="0"/>
              </a:spcAft>
              <a:buNone/>
            </a:pPr>
            <a:r>
              <a:rPr lang="en-GB">
                <a:solidFill>
                  <a:schemeClr val="dk1"/>
                </a:solidFill>
              </a:rPr>
              <a:t>Negotiable- Discuss which Card Type, so it is negotiable</a:t>
            </a:r>
            <a:endParaRPr>
              <a:solidFill>
                <a:schemeClr val="dk1"/>
              </a:solidFill>
            </a:endParaRPr>
          </a:p>
          <a:p>
            <a:pPr indent="0" lvl="0" marL="0" rtl="0" algn="l">
              <a:spcBef>
                <a:spcPts val="1200"/>
              </a:spcBef>
              <a:spcAft>
                <a:spcPts val="0"/>
              </a:spcAft>
              <a:buNone/>
            </a:pPr>
            <a:r>
              <a:rPr lang="en-GB">
                <a:solidFill>
                  <a:schemeClr val="dk1"/>
                </a:solidFill>
              </a:rPr>
              <a:t>Valuable - Faster check out= Less cart abandonment</a:t>
            </a:r>
            <a:endParaRPr>
              <a:solidFill>
                <a:schemeClr val="dk1"/>
              </a:solidFill>
            </a:endParaRPr>
          </a:p>
          <a:p>
            <a:pPr indent="0" lvl="0" marL="0" rtl="0" algn="l">
              <a:spcBef>
                <a:spcPts val="1200"/>
              </a:spcBef>
              <a:spcAft>
                <a:spcPts val="0"/>
              </a:spcAft>
              <a:buNone/>
            </a:pPr>
            <a:r>
              <a:rPr lang="en-GB">
                <a:solidFill>
                  <a:schemeClr val="dk1"/>
                </a:solidFill>
              </a:rPr>
              <a:t>Estimable- Development Team can size it → 3 story points to be added only </a:t>
            </a:r>
            <a:endParaRPr>
              <a:solidFill>
                <a:schemeClr val="dk1"/>
              </a:solidFill>
            </a:endParaRPr>
          </a:p>
          <a:p>
            <a:pPr indent="0" lvl="0" marL="0" rtl="0" algn="l">
              <a:spcBef>
                <a:spcPts val="1200"/>
              </a:spcBef>
              <a:spcAft>
                <a:spcPts val="0"/>
              </a:spcAft>
              <a:buNone/>
            </a:pPr>
            <a:r>
              <a:rPr lang="en-GB">
                <a:solidFill>
                  <a:schemeClr val="dk1"/>
                </a:solidFill>
              </a:rPr>
              <a:t>Small- Fits in 1 sprint</a:t>
            </a:r>
            <a:endParaRPr>
              <a:solidFill>
                <a:schemeClr val="dk1"/>
              </a:solidFill>
            </a:endParaRPr>
          </a:p>
          <a:p>
            <a:pPr indent="0" lvl="0" marL="0" rtl="0" algn="l">
              <a:spcBef>
                <a:spcPts val="1200"/>
              </a:spcBef>
              <a:spcAft>
                <a:spcPts val="1200"/>
              </a:spcAft>
              <a:buNone/>
            </a:pPr>
            <a:r>
              <a:rPr lang="en-GB">
                <a:solidFill>
                  <a:schemeClr val="dk1"/>
                </a:solidFill>
              </a:rPr>
              <a:t>Testable-  Add to cart, saves, Appear on next Check Out</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311700" y="1737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Product backlog and backlog grooming</a:t>
            </a:r>
            <a:endParaRPr/>
          </a:p>
        </p:txBody>
      </p:sp>
      <p:sp>
        <p:nvSpPr>
          <p:cNvPr id="158" name="Google Shape;158;p28"/>
          <p:cNvSpPr txBox="1"/>
          <p:nvPr>
            <p:ph idx="1" type="body"/>
          </p:nvPr>
        </p:nvSpPr>
        <p:spPr>
          <a:xfrm>
            <a:off x="311700" y="877225"/>
            <a:ext cx="8520600" cy="4058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GB" sz="1400">
                <a:solidFill>
                  <a:schemeClr val="dk1"/>
                </a:solidFill>
                <a:highlight>
                  <a:srgbClr val="FFFFFF"/>
                </a:highlight>
              </a:rPr>
              <a:t>A product backlog is a list of the new features, changes to existing features, bug fixes, infrastructure changes, or other activities that a team may deliver in order to achieve a specific outcome.</a:t>
            </a:r>
            <a:endParaRPr sz="1400">
              <a:solidFill>
                <a:schemeClr val="dk1"/>
              </a:solidFill>
              <a:highlight>
                <a:srgbClr val="FFFFFF"/>
              </a:highlight>
            </a:endParaRPr>
          </a:p>
          <a:p>
            <a:pPr indent="0" lvl="0" marL="0" rtl="0" algn="l">
              <a:spcBef>
                <a:spcPts val="1200"/>
              </a:spcBef>
              <a:spcAft>
                <a:spcPts val="0"/>
              </a:spcAft>
              <a:buClr>
                <a:schemeClr val="dk1"/>
              </a:buClr>
              <a:buSzPts val="1100"/>
              <a:buFont typeface="Arial"/>
              <a:buNone/>
            </a:pPr>
            <a:r>
              <a:rPr lang="en-GB" sz="1400">
                <a:solidFill>
                  <a:schemeClr val="dk1"/>
                </a:solidFill>
                <a:highlight>
                  <a:srgbClr val="FFFFFF"/>
                </a:highlight>
              </a:rPr>
              <a:t>The product backlog is the single authoritative source for things that a team works on. That means that nothing gets done that isn’t on the product backlog. </a:t>
            </a:r>
            <a:endParaRPr sz="1400">
              <a:solidFill>
                <a:schemeClr val="dk1"/>
              </a:solidFill>
              <a:highlight>
                <a:srgbClr val="FFFFFF"/>
              </a:highlight>
            </a:endParaRPr>
          </a:p>
          <a:p>
            <a:pPr indent="0" lvl="0" marL="0" rtl="0" algn="l">
              <a:spcBef>
                <a:spcPts val="1200"/>
              </a:spcBef>
              <a:spcAft>
                <a:spcPts val="0"/>
              </a:spcAft>
              <a:buNone/>
            </a:pPr>
            <a:r>
              <a:rPr lang="en-GB" sz="1400">
                <a:solidFill>
                  <a:schemeClr val="dk1"/>
                </a:solidFill>
                <a:highlight>
                  <a:srgbClr val="FFFFFF"/>
                </a:highlight>
              </a:rPr>
              <a:t>Product backlog items take a variety of formats</a:t>
            </a:r>
            <a:r>
              <a:rPr lang="en-GB" sz="1400">
                <a:solidFill>
                  <a:schemeClr val="dk1"/>
                </a:solidFill>
              </a:rPr>
              <a:t> including user stories. </a:t>
            </a:r>
            <a:endParaRPr sz="1400">
              <a:solidFill>
                <a:schemeClr val="dk1"/>
              </a:solidFill>
            </a:endParaRPr>
          </a:p>
          <a:p>
            <a:pPr indent="0" lvl="0" marL="0" rtl="0" algn="l">
              <a:spcBef>
                <a:spcPts val="1200"/>
              </a:spcBef>
              <a:spcAft>
                <a:spcPts val="0"/>
              </a:spcAft>
              <a:buNone/>
            </a:pPr>
            <a:r>
              <a:rPr lang="en-GB" sz="1400">
                <a:solidFill>
                  <a:schemeClr val="dk1"/>
                </a:solidFill>
              </a:rPr>
              <a:t>Backlog Grooming/ Refinement:is the ongoing process of reviewing, organizing, and improving items in a product backlog so they're ready for future development work.</a:t>
            </a:r>
            <a:endParaRPr sz="1400">
              <a:solidFill>
                <a:schemeClr val="dk1"/>
              </a:solidFill>
            </a:endParaRPr>
          </a:p>
          <a:p>
            <a:pPr indent="0" lvl="0" marL="0" rtl="0" algn="l">
              <a:spcBef>
                <a:spcPts val="1400"/>
              </a:spcBef>
              <a:spcAft>
                <a:spcPts val="0"/>
              </a:spcAft>
              <a:buClr>
                <a:schemeClr val="dk1"/>
              </a:buClr>
              <a:buSzPts val="1100"/>
              <a:buFont typeface="Arial"/>
              <a:buNone/>
            </a:pPr>
            <a:r>
              <a:rPr b="1" lang="en-GB" sz="1400">
                <a:solidFill>
                  <a:schemeClr val="dk1"/>
                </a:solidFill>
              </a:rPr>
              <a:t>Goals</a:t>
            </a:r>
            <a:endParaRPr b="1" sz="1400">
              <a:solidFill>
                <a:schemeClr val="dk1"/>
              </a:solidFill>
            </a:endParaRPr>
          </a:p>
          <a:p>
            <a:pPr indent="-317500" lvl="0" marL="457200" rtl="0" algn="l">
              <a:spcBef>
                <a:spcPts val="1200"/>
              </a:spcBef>
              <a:spcAft>
                <a:spcPts val="0"/>
              </a:spcAft>
              <a:buClr>
                <a:schemeClr val="dk1"/>
              </a:buClr>
              <a:buSzPts val="1400"/>
              <a:buChar char="●"/>
            </a:pPr>
            <a:r>
              <a:rPr lang="en-GB" sz="1400">
                <a:solidFill>
                  <a:schemeClr val="dk1"/>
                </a:solidFill>
              </a:rPr>
              <a:t>Ensure backlog items are clear and well-defined.</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Prioritize work based on business value and urgency.</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Break large features (epics) into smaller user stories.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Remove outdated or duplicate items.</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Estimate effort and identify </a:t>
            </a:r>
            <a:r>
              <a:rPr lang="en-GB" sz="1400">
                <a:solidFill>
                  <a:schemeClr val="dk1"/>
                </a:solidFill>
              </a:rPr>
              <a:t>dependencies</a:t>
            </a:r>
            <a:endParaRPr sz="14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29"/>
          <p:cNvSpPr txBox="1"/>
          <p:nvPr>
            <p:ph idx="1" type="body"/>
          </p:nvPr>
        </p:nvSpPr>
        <p:spPr>
          <a:xfrm>
            <a:off x="311700" y="266800"/>
            <a:ext cx="8520600" cy="430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400">
                <a:solidFill>
                  <a:schemeClr val="dk1"/>
                </a:solidFill>
              </a:rPr>
              <a:t>Example</a:t>
            </a:r>
            <a:r>
              <a:rPr lang="en-GB" sz="1400">
                <a:solidFill>
                  <a:schemeClr val="dk1"/>
                </a:solidFill>
              </a:rPr>
              <a:t>:</a:t>
            </a:r>
            <a:endParaRPr sz="1400">
              <a:solidFill>
                <a:schemeClr val="dk1"/>
              </a:solidFill>
            </a:endParaRPr>
          </a:p>
          <a:p>
            <a:pPr indent="0" lvl="0" marL="457200" rtl="0" algn="l">
              <a:spcBef>
                <a:spcPts val="1200"/>
              </a:spcBef>
              <a:spcAft>
                <a:spcPts val="0"/>
              </a:spcAft>
              <a:buClr>
                <a:schemeClr val="dk1"/>
              </a:buClr>
              <a:buSzPts val="1100"/>
              <a:buFont typeface="Arial"/>
              <a:buNone/>
            </a:pPr>
            <a:r>
              <a:rPr lang="en-GB" sz="1400">
                <a:solidFill>
                  <a:schemeClr val="dk1"/>
                </a:solidFill>
              </a:rPr>
              <a:t>Example: “Improve Reporting Dashboard”</a:t>
            </a:r>
            <a:endParaRPr sz="1400">
              <a:solidFill>
                <a:schemeClr val="dk1"/>
              </a:solidFill>
            </a:endParaRPr>
          </a:p>
          <a:p>
            <a:pPr indent="0" lvl="0" marL="457200" rtl="0" algn="l">
              <a:spcBef>
                <a:spcPts val="1200"/>
              </a:spcBef>
              <a:spcAft>
                <a:spcPts val="0"/>
              </a:spcAft>
              <a:buNone/>
            </a:pPr>
            <a:r>
              <a:rPr lang="en-GB" sz="1400">
                <a:solidFill>
                  <a:schemeClr val="dk1"/>
                </a:solidFill>
              </a:rPr>
              <a:t>After Grooming: “User Story: "As a manager, I can filter reports by date range."  </a:t>
            </a:r>
            <a:endParaRPr sz="1400">
              <a:solidFill>
                <a:schemeClr val="dk1"/>
              </a:solidFill>
            </a:endParaRPr>
          </a:p>
          <a:p>
            <a:pPr indent="0" lvl="0" marL="457200" rtl="0" algn="l">
              <a:spcBef>
                <a:spcPts val="1200"/>
              </a:spcBef>
              <a:spcAft>
                <a:spcPts val="0"/>
              </a:spcAft>
              <a:buNone/>
            </a:pPr>
            <a:r>
              <a:rPr lang="en-GB" sz="1400">
                <a:solidFill>
                  <a:schemeClr val="dk1"/>
                </a:solidFill>
              </a:rPr>
              <a:t>Acceptance Criteria defined</a:t>
            </a:r>
            <a:endParaRPr sz="1400">
              <a:solidFill>
                <a:schemeClr val="dk1"/>
              </a:solidFill>
            </a:endParaRPr>
          </a:p>
          <a:p>
            <a:pPr indent="0" lvl="0" marL="457200" rtl="0" algn="l">
              <a:spcBef>
                <a:spcPts val="1200"/>
              </a:spcBef>
              <a:spcAft>
                <a:spcPts val="0"/>
              </a:spcAft>
              <a:buNone/>
            </a:pPr>
            <a:r>
              <a:rPr lang="en-GB" sz="1400">
                <a:solidFill>
                  <a:schemeClr val="dk1"/>
                </a:solidFill>
              </a:rPr>
              <a:t>Estimated: 5 story points</a:t>
            </a:r>
            <a:endParaRPr sz="1400">
              <a:solidFill>
                <a:schemeClr val="dk1"/>
              </a:solidFill>
            </a:endParaRPr>
          </a:p>
          <a:p>
            <a:pPr indent="0" lvl="0" marL="457200" rtl="0" algn="l">
              <a:spcBef>
                <a:spcPts val="1200"/>
              </a:spcBef>
              <a:spcAft>
                <a:spcPts val="0"/>
              </a:spcAft>
              <a:buNone/>
            </a:pPr>
            <a:r>
              <a:rPr lang="en-GB" sz="1400">
                <a:solidFill>
                  <a:schemeClr val="dk1"/>
                </a:solidFill>
              </a:rPr>
              <a:t>Priority: High</a:t>
            </a:r>
            <a:endParaRPr sz="1400">
              <a:solidFill>
                <a:schemeClr val="dk1"/>
              </a:solidFill>
            </a:endParaRPr>
          </a:p>
          <a:p>
            <a:pPr indent="0" lvl="0" marL="457200" rtl="0" algn="l">
              <a:spcBef>
                <a:spcPts val="1200"/>
              </a:spcBef>
              <a:spcAft>
                <a:spcPts val="0"/>
              </a:spcAft>
              <a:buNone/>
            </a:pPr>
            <a:r>
              <a:rPr lang="en-GB" sz="1400">
                <a:solidFill>
                  <a:schemeClr val="dk1"/>
                </a:solidFill>
              </a:rPr>
              <a:t>Dependencies identified</a:t>
            </a:r>
            <a:endParaRPr sz="1400">
              <a:solidFill>
                <a:schemeClr val="dk1"/>
              </a:solidFill>
            </a:endParaRPr>
          </a:p>
          <a:p>
            <a:pPr indent="0" lvl="0" marL="0" rtl="0" algn="l">
              <a:spcBef>
                <a:spcPts val="1200"/>
              </a:spcBef>
              <a:spcAft>
                <a:spcPts val="0"/>
              </a:spcAft>
              <a:buNone/>
            </a:pPr>
            <a:r>
              <a:t/>
            </a:r>
            <a:endParaRPr sz="1400">
              <a:solidFill>
                <a:schemeClr val="dk1"/>
              </a:solidFill>
            </a:endParaRPr>
          </a:p>
          <a:p>
            <a:pPr indent="0" lvl="0" marL="0" rtl="0" algn="l">
              <a:spcBef>
                <a:spcPts val="1200"/>
              </a:spcBef>
              <a:spcAft>
                <a:spcPts val="1200"/>
              </a:spcAft>
              <a:buClr>
                <a:schemeClr val="dk1"/>
              </a:buClr>
              <a:buSzPts val="1100"/>
              <a:buFont typeface="Arial"/>
              <a:buNone/>
            </a:pPr>
            <a:r>
              <a:rPr b="1" lang="en-GB" sz="1400">
                <a:solidFill>
                  <a:schemeClr val="dk1"/>
                </a:solidFill>
              </a:rPr>
              <a:t>Benefit: </a:t>
            </a:r>
            <a:r>
              <a:rPr lang="en-GB" sz="1400">
                <a:solidFill>
                  <a:schemeClr val="dk1"/>
                </a:solidFill>
              </a:rPr>
              <a:t>A well-groomed backlog makes sprint planning faster and helps teams deliver more predictable outcomes. </a:t>
            </a:r>
            <a:endParaRPr sz="14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AGILE Tracking Tool: JIRA</a:t>
            </a:r>
            <a:endParaRPr/>
          </a:p>
        </p:txBody>
      </p:sp>
      <p:sp>
        <p:nvSpPr>
          <p:cNvPr id="169" name="Google Shape;16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400">
                <a:solidFill>
                  <a:schemeClr val="dk1"/>
                </a:solidFill>
              </a:rPr>
              <a:t>Jira is the leading agile project management and issue-tracking software developed by Atlassian .</a:t>
            </a:r>
            <a:endParaRPr sz="1400">
              <a:solidFill>
                <a:schemeClr val="dk1"/>
              </a:solidFill>
            </a:endParaRPr>
          </a:p>
          <a:p>
            <a:pPr indent="0" lvl="0" marL="0" rtl="0" algn="l">
              <a:spcBef>
                <a:spcPts val="1200"/>
              </a:spcBef>
              <a:spcAft>
                <a:spcPts val="0"/>
              </a:spcAft>
              <a:buNone/>
            </a:pPr>
            <a:r>
              <a:rPr lang="en-GB" sz="1400">
                <a:solidFill>
                  <a:schemeClr val="dk1"/>
                </a:solidFill>
              </a:rPr>
              <a:t>Key Agile Concepts in Jira :  </a:t>
            </a:r>
            <a:endParaRPr sz="1400">
              <a:solidFill>
                <a:schemeClr val="dk1"/>
              </a:solidFill>
            </a:endParaRPr>
          </a:p>
          <a:p>
            <a:pPr indent="0" lvl="0" marL="0" rtl="0" algn="l">
              <a:spcBef>
                <a:spcPts val="1200"/>
              </a:spcBef>
              <a:spcAft>
                <a:spcPts val="0"/>
              </a:spcAft>
              <a:buNone/>
            </a:pPr>
            <a:r>
              <a:rPr lang="en-GB" sz="1400">
                <a:solidFill>
                  <a:schemeClr val="dk1"/>
                </a:solidFill>
              </a:rPr>
              <a:t>1. </a:t>
            </a:r>
            <a:r>
              <a:rPr b="1" lang="en-GB" sz="1400">
                <a:solidFill>
                  <a:schemeClr val="dk1"/>
                </a:solidFill>
              </a:rPr>
              <a:t>Epics:</a:t>
            </a:r>
            <a:r>
              <a:rPr lang="en-GB" sz="1400">
                <a:solidFill>
                  <a:schemeClr val="dk1"/>
                </a:solidFill>
              </a:rPr>
              <a:t> Large chunks of work or major features that are broken down into smaller, manageable chunks. </a:t>
            </a:r>
            <a:endParaRPr sz="1400">
              <a:solidFill>
                <a:schemeClr val="dk1"/>
              </a:solidFill>
            </a:endParaRPr>
          </a:p>
          <a:p>
            <a:pPr indent="0" lvl="0" marL="0" rtl="0" algn="l">
              <a:spcBef>
                <a:spcPts val="1200"/>
              </a:spcBef>
              <a:spcAft>
                <a:spcPts val="0"/>
              </a:spcAft>
              <a:buNone/>
            </a:pPr>
            <a:r>
              <a:rPr lang="en-GB" sz="1400">
                <a:solidFill>
                  <a:schemeClr val="dk1"/>
                </a:solidFill>
              </a:rPr>
              <a:t>2. Stories: Shorter requirements or functional pieces of work written from the perspective of the end-user. </a:t>
            </a:r>
            <a:endParaRPr sz="1400">
              <a:solidFill>
                <a:schemeClr val="dk1"/>
              </a:solidFill>
            </a:endParaRPr>
          </a:p>
          <a:p>
            <a:pPr indent="0" lvl="0" marL="0" rtl="0" algn="l">
              <a:spcBef>
                <a:spcPts val="1200"/>
              </a:spcBef>
              <a:spcAft>
                <a:spcPts val="0"/>
              </a:spcAft>
              <a:buNone/>
            </a:pPr>
            <a:r>
              <a:rPr lang="en-GB" sz="1400">
                <a:solidFill>
                  <a:schemeClr val="dk1"/>
                </a:solidFill>
              </a:rPr>
              <a:t>3. </a:t>
            </a:r>
            <a:r>
              <a:rPr b="1" lang="en-GB" sz="1400">
                <a:solidFill>
                  <a:schemeClr val="dk1"/>
                </a:solidFill>
              </a:rPr>
              <a:t>Tasks &amp; Subtasks:</a:t>
            </a:r>
            <a:r>
              <a:rPr lang="en-GB" sz="1400">
                <a:solidFill>
                  <a:schemeClr val="dk1"/>
                </a:solidFill>
              </a:rPr>
              <a:t> The detailed, day-to-day activities required to complete a story. </a:t>
            </a:r>
            <a:endParaRPr sz="1400">
              <a:solidFill>
                <a:schemeClr val="dk1"/>
              </a:solidFill>
            </a:endParaRPr>
          </a:p>
          <a:p>
            <a:pPr indent="0" lvl="0" marL="0" rtl="0" algn="l">
              <a:spcBef>
                <a:spcPts val="1200"/>
              </a:spcBef>
              <a:spcAft>
                <a:spcPts val="0"/>
              </a:spcAft>
              <a:buNone/>
            </a:pPr>
            <a:r>
              <a:rPr lang="en-GB" sz="1400">
                <a:solidFill>
                  <a:schemeClr val="dk1"/>
                </a:solidFill>
              </a:rPr>
              <a:t>4. </a:t>
            </a:r>
            <a:r>
              <a:rPr b="1" lang="en-GB" sz="1400">
                <a:solidFill>
                  <a:schemeClr val="dk1"/>
                </a:solidFill>
              </a:rPr>
              <a:t>Backlog:</a:t>
            </a:r>
            <a:r>
              <a:rPr lang="en-GB" sz="1400">
                <a:solidFill>
                  <a:schemeClr val="dk1"/>
                </a:solidFill>
              </a:rPr>
              <a:t> A prioritized list of all work (epics, stories, bugs) to be completed for the project.</a:t>
            </a:r>
            <a:endParaRPr sz="1400">
              <a:solidFill>
                <a:schemeClr val="dk1"/>
              </a:solidFill>
            </a:endParaRPr>
          </a:p>
          <a:p>
            <a:pPr indent="0" lvl="0" marL="0" rtl="0" algn="l">
              <a:spcBef>
                <a:spcPts val="1200"/>
              </a:spcBef>
              <a:spcAft>
                <a:spcPts val="900"/>
              </a:spcAft>
              <a:buNone/>
            </a:pPr>
            <a:r>
              <a:rPr b="1" lang="en-GB" sz="1400">
                <a:solidFill>
                  <a:schemeClr val="dk1"/>
                </a:solidFill>
              </a:rPr>
              <a:t>5. Sprint:</a:t>
            </a:r>
            <a:r>
              <a:rPr lang="en-GB" sz="1400">
                <a:solidFill>
                  <a:schemeClr val="dk1"/>
                </a:solidFill>
              </a:rPr>
              <a:t> A set time frame (usually 1-4 weeks) where a specific amount of work from the backlog is completed and made ready for review.</a:t>
            </a:r>
            <a:endParaRPr sz="14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31"/>
          <p:cNvSpPr txBox="1"/>
          <p:nvPr>
            <p:ph idx="1" type="body"/>
          </p:nvPr>
        </p:nvSpPr>
        <p:spPr>
          <a:xfrm>
            <a:off x="311700" y="413750"/>
            <a:ext cx="8520600" cy="415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sz="1400">
                <a:solidFill>
                  <a:schemeClr val="dk1"/>
                </a:solidFill>
              </a:rPr>
              <a:t>2. Boards and Views :</a:t>
            </a:r>
            <a:endParaRPr sz="1400">
              <a:solidFill>
                <a:schemeClr val="dk1"/>
              </a:solidFill>
            </a:endParaRPr>
          </a:p>
          <a:p>
            <a:pPr indent="0" lvl="0" marL="0" rtl="0" algn="l">
              <a:spcBef>
                <a:spcPts val="1200"/>
              </a:spcBef>
              <a:spcAft>
                <a:spcPts val="0"/>
              </a:spcAft>
              <a:buClr>
                <a:schemeClr val="dk1"/>
              </a:buClr>
              <a:buSzPts val="1200"/>
              <a:buFont typeface="Arial"/>
              <a:buNone/>
            </a:pPr>
            <a:r>
              <a:rPr lang="en-GB" sz="1400">
                <a:solidFill>
                  <a:schemeClr val="dk1"/>
                </a:solidFill>
              </a:rPr>
              <a:t>Scrum Boards: Used for iterative sprint planning. Teams commit to a set of issues and work to clear them during the sprint cycle.</a:t>
            </a:r>
            <a:endParaRPr sz="1400">
              <a:solidFill>
                <a:schemeClr val="dk1"/>
              </a:solidFill>
            </a:endParaRPr>
          </a:p>
          <a:p>
            <a:pPr indent="0" lvl="0" marL="0" rtl="0" algn="l">
              <a:spcBef>
                <a:spcPts val="900"/>
              </a:spcBef>
              <a:spcAft>
                <a:spcPts val="0"/>
              </a:spcAft>
              <a:buClr>
                <a:schemeClr val="dk1"/>
              </a:buClr>
              <a:buSzPts val="1200"/>
              <a:buFont typeface="Arial"/>
              <a:buNone/>
            </a:pPr>
            <a:r>
              <a:rPr lang="en-GB" sz="1400">
                <a:solidFill>
                  <a:schemeClr val="dk1"/>
                </a:solidFill>
              </a:rPr>
              <a:t>Kanban Boards: Ideal for continuous workflows. It uses drag-and-drop columns (e.g., </a:t>
            </a:r>
            <a:r>
              <a:rPr i="1" lang="en-GB" sz="1400">
                <a:solidFill>
                  <a:schemeClr val="dk1"/>
                </a:solidFill>
              </a:rPr>
              <a:t>To Do</a:t>
            </a:r>
            <a:r>
              <a:rPr lang="en-GB" sz="1400">
                <a:solidFill>
                  <a:schemeClr val="dk1"/>
                </a:solidFill>
              </a:rPr>
              <a:t>, </a:t>
            </a:r>
            <a:r>
              <a:rPr i="1" lang="en-GB" sz="1400">
                <a:solidFill>
                  <a:schemeClr val="dk1"/>
                </a:solidFill>
              </a:rPr>
              <a:t>In Progress</a:t>
            </a:r>
            <a:r>
              <a:rPr lang="en-GB" sz="1400">
                <a:solidFill>
                  <a:schemeClr val="dk1"/>
                </a:solidFill>
              </a:rPr>
              <a:t>, </a:t>
            </a:r>
            <a:r>
              <a:rPr i="1" lang="en-GB" sz="1400">
                <a:solidFill>
                  <a:schemeClr val="dk1"/>
                </a:solidFill>
              </a:rPr>
              <a:t>Done</a:t>
            </a:r>
            <a:r>
              <a:rPr lang="en-GB" sz="1400">
                <a:solidFill>
                  <a:schemeClr val="dk1"/>
                </a:solidFill>
              </a:rPr>
              <a:t>) to limit work-in-progress and visualize bottlenecks.</a:t>
            </a:r>
            <a:endParaRPr sz="1400">
              <a:solidFill>
                <a:schemeClr val="dk1"/>
              </a:solidFill>
            </a:endParaRPr>
          </a:p>
          <a:p>
            <a:pPr indent="0" lvl="0" marL="0" rtl="0" algn="l">
              <a:spcBef>
                <a:spcPts val="900"/>
              </a:spcBef>
              <a:spcAft>
                <a:spcPts val="0"/>
              </a:spcAft>
              <a:buClr>
                <a:schemeClr val="dk1"/>
              </a:buClr>
              <a:buSzPts val="1200"/>
              <a:buFont typeface="Arial"/>
              <a:buNone/>
            </a:pPr>
            <a:r>
              <a:rPr lang="en-GB" sz="1400">
                <a:solidFill>
                  <a:schemeClr val="dk1"/>
                </a:solidFill>
              </a:rPr>
              <a:t>Timeline (Roadmaps): Used for higher-level planning to map out dependencies, track progress against release dates, and keep teams aligned</a:t>
            </a:r>
            <a:endParaRPr sz="1400">
              <a:solidFill>
                <a:schemeClr val="dk1"/>
              </a:solidFill>
            </a:endParaRPr>
          </a:p>
          <a:p>
            <a:pPr indent="0" lvl="0" marL="0" rtl="0" algn="l">
              <a:spcBef>
                <a:spcPts val="1800"/>
              </a:spcBef>
              <a:spcAft>
                <a:spcPts val="0"/>
              </a:spcAft>
              <a:buClr>
                <a:schemeClr val="dk1"/>
              </a:buClr>
              <a:buSzPts val="1100"/>
              <a:buFont typeface="Arial"/>
              <a:buNone/>
            </a:pPr>
            <a:r>
              <a:rPr lang="en-GB" sz="1400">
                <a:solidFill>
                  <a:schemeClr val="dk1"/>
                </a:solidFill>
              </a:rPr>
              <a:t>3. Core Tracking Mechanics</a:t>
            </a:r>
            <a:endParaRPr sz="1400">
              <a:solidFill>
                <a:schemeClr val="dk1"/>
              </a:solidFill>
            </a:endParaRPr>
          </a:p>
          <a:p>
            <a:pPr indent="-317500" lvl="0" marL="457200" rtl="0" algn="l">
              <a:spcBef>
                <a:spcPts val="900"/>
              </a:spcBef>
              <a:spcAft>
                <a:spcPts val="0"/>
              </a:spcAft>
              <a:buClr>
                <a:schemeClr val="dk1"/>
              </a:buClr>
              <a:buSzPts val="1400"/>
              <a:buChar char="●"/>
            </a:pPr>
            <a:r>
              <a:rPr lang="en-GB" sz="1400">
                <a:solidFill>
                  <a:schemeClr val="dk1"/>
                </a:solidFill>
              </a:rPr>
              <a:t>Issues: In Jira, any piece of work (a task, bug, or story) is called an issue.</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Workflows: The progression of an issue from creation to completion. Default statuses include To Do, In Progress, and Done, though these are customizable (e.g., adding Code Review or Testing).</a:t>
            </a:r>
            <a:endParaRPr sz="1400">
              <a:solidFill>
                <a:schemeClr val="dk1"/>
              </a:solidFill>
            </a:endParaRPr>
          </a:p>
          <a:p>
            <a:pPr indent="-317500" lvl="0" marL="457200" rtl="0" algn="l">
              <a:spcBef>
                <a:spcPts val="0"/>
              </a:spcBef>
              <a:spcAft>
                <a:spcPts val="0"/>
              </a:spcAft>
              <a:buClr>
                <a:schemeClr val="dk1"/>
              </a:buClr>
              <a:buSzPts val="1400"/>
              <a:buChar char="●"/>
            </a:pPr>
            <a:r>
              <a:rPr lang="en-GB" sz="1400">
                <a:solidFill>
                  <a:schemeClr val="dk1"/>
                </a:solidFill>
              </a:rPr>
              <a:t>Collaboration: Team members can leave comments, add attachments, and mention colleagues using '@' to notify them directly about an issue</a:t>
            </a:r>
            <a:endParaRPr sz="1400">
              <a:solidFill>
                <a:schemeClr val="dk1"/>
              </a:solidFill>
            </a:endParaRPr>
          </a:p>
          <a:p>
            <a:pPr indent="0" lvl="0" marL="0" rtl="0" algn="l">
              <a:spcBef>
                <a:spcPts val="2100"/>
              </a:spcBef>
              <a:spcAft>
                <a:spcPts val="1200"/>
              </a:spcAft>
              <a:buNone/>
            </a:pPr>
            <a:r>
              <a:t/>
            </a:r>
            <a:endParaRPr sz="14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32"/>
          <p:cNvSpPr txBox="1"/>
          <p:nvPr>
            <p:ph idx="1" type="body"/>
          </p:nvPr>
        </p:nvSpPr>
        <p:spPr>
          <a:xfrm>
            <a:off x="311700" y="617225"/>
            <a:ext cx="8520600" cy="39516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lang="en-GB" sz="1400">
                <a:solidFill>
                  <a:schemeClr val="dk1"/>
                </a:solidFill>
              </a:rPr>
              <a:t>Agile Reporting and Analytics</a:t>
            </a:r>
            <a:endParaRPr sz="1400">
              <a:solidFill>
                <a:schemeClr val="dk1"/>
              </a:solidFill>
            </a:endParaRPr>
          </a:p>
          <a:p>
            <a:pPr indent="0" lvl="0" marL="0" rtl="0" algn="l">
              <a:spcBef>
                <a:spcPts val="900"/>
              </a:spcBef>
              <a:spcAft>
                <a:spcPts val="0"/>
              </a:spcAft>
              <a:buClr>
                <a:schemeClr val="dk1"/>
              </a:buClr>
              <a:buSzPts val="1100"/>
              <a:buFont typeface="Arial"/>
              <a:buNone/>
            </a:pPr>
            <a:r>
              <a:rPr lang="en-GB" sz="1400">
                <a:solidFill>
                  <a:schemeClr val="dk1"/>
                </a:solidFill>
              </a:rPr>
              <a:t>Jira offers out-of-the-box reports to measure team performance, predict future delivery times, and analyze sprint outcomes:</a:t>
            </a:r>
            <a:endParaRPr sz="1400">
              <a:solidFill>
                <a:schemeClr val="dk1"/>
              </a:solidFill>
            </a:endParaRPr>
          </a:p>
          <a:p>
            <a:pPr indent="-317500" lvl="0" marL="457200" rtl="0" algn="l">
              <a:spcBef>
                <a:spcPts val="1200"/>
              </a:spcBef>
              <a:spcAft>
                <a:spcPts val="0"/>
              </a:spcAft>
              <a:buClr>
                <a:schemeClr val="dk1"/>
              </a:buClr>
              <a:buSzPts val="1400"/>
              <a:buChar char="●"/>
            </a:pPr>
            <a:r>
              <a:rPr b="1" lang="en-GB" sz="1400">
                <a:solidFill>
                  <a:schemeClr val="dk1"/>
                </a:solidFill>
              </a:rPr>
              <a:t>Burndown Chart:</a:t>
            </a:r>
            <a:r>
              <a:rPr lang="en-GB" sz="1400">
                <a:solidFill>
                  <a:schemeClr val="dk1"/>
                </a:solidFill>
              </a:rPr>
              <a:t> Tracks the total amount of work remaining in a sprint over time.</a:t>
            </a:r>
            <a:endParaRPr sz="1400">
              <a:solidFill>
                <a:schemeClr val="dk1"/>
              </a:solidFill>
            </a:endParaRPr>
          </a:p>
          <a:p>
            <a:pPr indent="-317500" lvl="0" marL="457200" rtl="0" algn="l">
              <a:spcBef>
                <a:spcPts val="0"/>
              </a:spcBef>
              <a:spcAft>
                <a:spcPts val="0"/>
              </a:spcAft>
              <a:buClr>
                <a:schemeClr val="dk1"/>
              </a:buClr>
              <a:buSzPts val="1400"/>
              <a:buChar char="●"/>
            </a:pPr>
            <a:r>
              <a:rPr b="1" lang="en-GB" sz="1400">
                <a:solidFill>
                  <a:schemeClr val="dk1"/>
                </a:solidFill>
              </a:rPr>
              <a:t>Velocity Chart:</a:t>
            </a:r>
            <a:r>
              <a:rPr lang="en-GB" sz="1400">
                <a:solidFill>
                  <a:schemeClr val="dk1"/>
                </a:solidFill>
              </a:rPr>
              <a:t> Measures the amount of work (usually in Story Points) a team successfully completes per sprint.</a:t>
            </a:r>
            <a:endParaRPr sz="1400">
              <a:solidFill>
                <a:schemeClr val="dk1"/>
              </a:solidFill>
            </a:endParaRPr>
          </a:p>
          <a:p>
            <a:pPr indent="-317500" lvl="0" marL="457200" rtl="0" algn="l">
              <a:spcBef>
                <a:spcPts val="0"/>
              </a:spcBef>
              <a:spcAft>
                <a:spcPts val="0"/>
              </a:spcAft>
              <a:buClr>
                <a:schemeClr val="dk1"/>
              </a:buClr>
              <a:buSzPts val="1400"/>
              <a:buChar char="●"/>
            </a:pPr>
            <a:r>
              <a:rPr b="1" lang="en-GB" sz="1400">
                <a:solidFill>
                  <a:schemeClr val="dk1"/>
                </a:solidFill>
              </a:rPr>
              <a:t>Cumulative Flow Diagram:</a:t>
            </a:r>
            <a:r>
              <a:rPr lang="en-GB" sz="1400">
                <a:solidFill>
                  <a:schemeClr val="dk1"/>
                </a:solidFill>
              </a:rPr>
              <a:t> Shows the number of issues in each status to help visualize work in progress and stability.</a:t>
            </a:r>
            <a:endParaRPr sz="14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3"/>
          <p:cNvSpPr txBox="1"/>
          <p:nvPr>
            <p:ph type="title"/>
          </p:nvPr>
        </p:nvSpPr>
        <p:spPr>
          <a:xfrm>
            <a:off x="-5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Definition of Done &amp; Definition of Ready</a:t>
            </a:r>
            <a:endParaRPr/>
          </a:p>
        </p:txBody>
      </p:sp>
      <p:sp>
        <p:nvSpPr>
          <p:cNvPr id="185" name="Google Shape;185;p33"/>
          <p:cNvSpPr txBox="1"/>
          <p:nvPr>
            <p:ph idx="1" type="body"/>
          </p:nvPr>
        </p:nvSpPr>
        <p:spPr>
          <a:xfrm>
            <a:off x="-50" y="453550"/>
            <a:ext cx="9144000" cy="4737600"/>
          </a:xfrm>
          <a:prstGeom prst="rect">
            <a:avLst/>
          </a:prstGeom>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GB" sz="1150">
                <a:solidFill>
                  <a:schemeClr val="dk1"/>
                </a:solidFill>
              </a:rPr>
              <a:t>Definition of Done:</a:t>
            </a:r>
            <a:r>
              <a:rPr lang="en-GB" sz="1150">
                <a:solidFill>
                  <a:schemeClr val="dk1"/>
                </a:solidFill>
              </a:rPr>
              <a:t> The definition of done in Agile scrum defines the criteria to be met for a product increment or a sprint to be considered as 'Done'. The definition of done is part of the sprint review process and sets the criteria for a completed backlog item in a sprint to be considered releasable. It helps to deliver the best quality and avoid any re-work and bugs after delivery. This applies to the end of the sprint for passing all quality standards and delivery guidelines.</a:t>
            </a:r>
            <a:endParaRPr sz="1150">
              <a:solidFill>
                <a:schemeClr val="dk1"/>
              </a:solidFill>
            </a:endParaRPr>
          </a:p>
          <a:p>
            <a:pPr indent="0" lvl="0" marL="0" rtl="0" algn="just">
              <a:lnSpc>
                <a:spcPct val="150000"/>
              </a:lnSpc>
              <a:spcBef>
                <a:spcPts val="0"/>
              </a:spcBef>
              <a:spcAft>
                <a:spcPts val="0"/>
              </a:spcAft>
              <a:buNone/>
            </a:pPr>
            <a:r>
              <a:rPr b="1" lang="en-GB" sz="1150">
                <a:solidFill>
                  <a:schemeClr val="dk1"/>
                </a:solidFill>
              </a:rPr>
              <a:t>Components:</a:t>
            </a:r>
            <a:endParaRPr b="1" sz="1150">
              <a:solidFill>
                <a:schemeClr val="dk1"/>
              </a:solidFill>
            </a:endParaRPr>
          </a:p>
          <a:p>
            <a:pPr indent="-301625" lvl="0" marL="457200" rtl="0" algn="just">
              <a:lnSpc>
                <a:spcPct val="150000"/>
              </a:lnSpc>
              <a:spcBef>
                <a:spcPts val="0"/>
              </a:spcBef>
              <a:spcAft>
                <a:spcPts val="0"/>
              </a:spcAft>
              <a:buClr>
                <a:schemeClr val="dk1"/>
              </a:buClr>
              <a:buSzPts val="1150"/>
              <a:buChar char="●"/>
            </a:pPr>
            <a:r>
              <a:rPr b="1" lang="en-GB" sz="1150">
                <a:solidFill>
                  <a:schemeClr val="dk1"/>
                </a:solidFill>
              </a:rPr>
              <a:t>Code Completion:</a:t>
            </a:r>
            <a:r>
              <a:rPr lang="en-GB" sz="1150">
                <a:solidFill>
                  <a:schemeClr val="dk1"/>
                </a:solidFill>
              </a:rPr>
              <a:t> </a:t>
            </a:r>
            <a:r>
              <a:rPr b="1" lang="en-GB" sz="1150">
                <a:solidFill>
                  <a:schemeClr val="dk1"/>
                </a:solidFill>
              </a:rPr>
              <a:t>Front-end and Back-end codes </a:t>
            </a:r>
            <a:r>
              <a:rPr lang="en-GB" sz="1150">
                <a:solidFill>
                  <a:schemeClr val="dk1"/>
                </a:solidFill>
              </a:rPr>
              <a:t>for all User Stories are fully completed and all coding standards are followed.</a:t>
            </a:r>
            <a:endParaRPr sz="1150">
              <a:solidFill>
                <a:schemeClr val="dk1"/>
              </a:solidFill>
            </a:endParaRPr>
          </a:p>
          <a:p>
            <a:pPr indent="-301625" lvl="0" marL="457200" rtl="0" algn="just">
              <a:lnSpc>
                <a:spcPct val="150000"/>
              </a:lnSpc>
              <a:spcBef>
                <a:spcPts val="0"/>
              </a:spcBef>
              <a:spcAft>
                <a:spcPts val="0"/>
              </a:spcAft>
              <a:buClr>
                <a:schemeClr val="dk1"/>
              </a:buClr>
              <a:buSzPts val="1150"/>
              <a:buChar char="●"/>
            </a:pPr>
            <a:r>
              <a:rPr b="1" lang="en-GB" sz="1150">
                <a:solidFill>
                  <a:schemeClr val="dk1"/>
                </a:solidFill>
              </a:rPr>
              <a:t>Working Functionalities:</a:t>
            </a:r>
            <a:r>
              <a:rPr lang="en-GB" sz="1150">
                <a:solidFill>
                  <a:schemeClr val="dk1"/>
                </a:solidFill>
              </a:rPr>
              <a:t> All f</a:t>
            </a:r>
            <a:r>
              <a:rPr b="1" lang="en-GB" sz="1150">
                <a:solidFill>
                  <a:schemeClr val="dk1"/>
                </a:solidFill>
              </a:rPr>
              <a:t>unctionalities needed for the user stories are completed and working as expected.</a:t>
            </a:r>
            <a:endParaRPr b="1" sz="1150">
              <a:solidFill>
                <a:schemeClr val="dk1"/>
              </a:solidFill>
            </a:endParaRPr>
          </a:p>
          <a:p>
            <a:pPr indent="-301625" lvl="0" marL="457200" rtl="0" algn="just">
              <a:lnSpc>
                <a:spcPct val="150000"/>
              </a:lnSpc>
              <a:spcBef>
                <a:spcPts val="0"/>
              </a:spcBef>
              <a:spcAft>
                <a:spcPts val="0"/>
              </a:spcAft>
              <a:buClr>
                <a:schemeClr val="dk1"/>
              </a:buClr>
              <a:buSzPts val="1150"/>
              <a:buChar char="●"/>
            </a:pPr>
            <a:r>
              <a:rPr b="1" lang="en-GB" sz="1150">
                <a:solidFill>
                  <a:schemeClr val="dk1"/>
                </a:solidFill>
              </a:rPr>
              <a:t>Performance Optimization:</a:t>
            </a:r>
            <a:r>
              <a:rPr lang="en-GB" sz="1150">
                <a:solidFill>
                  <a:schemeClr val="dk1"/>
                </a:solidFill>
              </a:rPr>
              <a:t> Verify if no bottlenecks in performance and all performance optimizations are completed.</a:t>
            </a:r>
            <a:endParaRPr sz="1150">
              <a:solidFill>
                <a:schemeClr val="dk1"/>
              </a:solidFill>
            </a:endParaRPr>
          </a:p>
          <a:p>
            <a:pPr indent="-301625" lvl="0" marL="457200" rtl="0" algn="just">
              <a:lnSpc>
                <a:spcPct val="150000"/>
              </a:lnSpc>
              <a:spcBef>
                <a:spcPts val="0"/>
              </a:spcBef>
              <a:spcAft>
                <a:spcPts val="0"/>
              </a:spcAft>
              <a:buClr>
                <a:schemeClr val="dk1"/>
              </a:buClr>
              <a:buSzPts val="1150"/>
              <a:buChar char="●"/>
            </a:pPr>
            <a:r>
              <a:rPr b="1" lang="en-GB" sz="1150">
                <a:solidFill>
                  <a:schemeClr val="dk1"/>
                </a:solidFill>
              </a:rPr>
              <a:t>Code Review:</a:t>
            </a:r>
            <a:r>
              <a:rPr lang="en-GB" sz="1150">
                <a:solidFill>
                  <a:schemeClr val="dk1"/>
                </a:solidFill>
              </a:rPr>
              <a:t> Code sent for peer review. The code is reviewed and approved by another team member.</a:t>
            </a:r>
            <a:endParaRPr sz="1150">
              <a:solidFill>
                <a:schemeClr val="dk1"/>
              </a:solidFill>
            </a:endParaRPr>
          </a:p>
          <a:p>
            <a:pPr indent="-301625" lvl="0" marL="457200" rtl="0" algn="just">
              <a:lnSpc>
                <a:spcPct val="150000"/>
              </a:lnSpc>
              <a:spcBef>
                <a:spcPts val="0"/>
              </a:spcBef>
              <a:spcAft>
                <a:spcPts val="0"/>
              </a:spcAft>
              <a:buClr>
                <a:schemeClr val="dk1"/>
              </a:buClr>
              <a:buSzPts val="1150"/>
              <a:buChar char="●"/>
            </a:pPr>
            <a:r>
              <a:rPr b="1" lang="en-GB" sz="1150">
                <a:solidFill>
                  <a:schemeClr val="dk1"/>
                </a:solidFill>
              </a:rPr>
              <a:t>Testing: </a:t>
            </a:r>
            <a:r>
              <a:rPr lang="en-GB" sz="1150">
                <a:solidFill>
                  <a:schemeClr val="dk1"/>
                </a:solidFill>
              </a:rPr>
              <a:t>Once all tasks are completed, the code is unit-tested and passes all tests from the QA side.</a:t>
            </a:r>
            <a:endParaRPr sz="1150">
              <a:solidFill>
                <a:schemeClr val="dk1"/>
              </a:solidFill>
            </a:endParaRPr>
          </a:p>
          <a:p>
            <a:pPr indent="-301625" lvl="0" marL="457200" rtl="0" algn="just">
              <a:lnSpc>
                <a:spcPct val="150000"/>
              </a:lnSpc>
              <a:spcBef>
                <a:spcPts val="0"/>
              </a:spcBef>
              <a:spcAft>
                <a:spcPts val="0"/>
              </a:spcAft>
              <a:buClr>
                <a:schemeClr val="dk1"/>
              </a:buClr>
              <a:buSzPts val="1150"/>
              <a:buChar char="●"/>
            </a:pPr>
            <a:r>
              <a:rPr b="1" lang="en-GB" sz="1150">
                <a:solidFill>
                  <a:schemeClr val="dk1"/>
                </a:solidFill>
              </a:rPr>
              <a:t>Documentation: </a:t>
            </a:r>
            <a:r>
              <a:rPr lang="en-GB" sz="1150">
                <a:solidFill>
                  <a:schemeClr val="dk1"/>
                </a:solidFill>
              </a:rPr>
              <a:t>All documentation completed including user guides and developer notes.</a:t>
            </a:r>
            <a:endParaRPr sz="1150">
              <a:solidFill>
                <a:schemeClr val="dk1"/>
              </a:solidFill>
            </a:endParaRPr>
          </a:p>
          <a:p>
            <a:pPr indent="-301625" lvl="0" marL="457200" rtl="0" algn="just">
              <a:lnSpc>
                <a:spcPct val="150000"/>
              </a:lnSpc>
              <a:spcBef>
                <a:spcPts val="0"/>
              </a:spcBef>
              <a:spcAft>
                <a:spcPts val="0"/>
              </a:spcAft>
              <a:buClr>
                <a:schemeClr val="dk1"/>
              </a:buClr>
              <a:buSzPts val="1150"/>
              <a:buChar char="●"/>
            </a:pPr>
            <a:r>
              <a:rPr b="1" lang="en-GB" sz="1150">
                <a:solidFill>
                  <a:schemeClr val="dk1"/>
                </a:solidFill>
              </a:rPr>
              <a:t>Build Completed:</a:t>
            </a:r>
            <a:r>
              <a:rPr lang="en-GB" sz="1150">
                <a:solidFill>
                  <a:schemeClr val="dk1"/>
                </a:solidFill>
              </a:rPr>
              <a:t> Build completed with no errors for all completed code with no missing components.</a:t>
            </a:r>
            <a:endParaRPr sz="1150">
              <a:solidFill>
                <a:schemeClr val="dk1"/>
              </a:solidFill>
            </a:endParaRPr>
          </a:p>
          <a:p>
            <a:pPr indent="-301625" lvl="0" marL="457200" rtl="0" algn="just">
              <a:lnSpc>
                <a:spcPct val="150000"/>
              </a:lnSpc>
              <a:spcBef>
                <a:spcPts val="0"/>
              </a:spcBef>
              <a:spcAft>
                <a:spcPts val="0"/>
              </a:spcAft>
              <a:buClr>
                <a:schemeClr val="dk1"/>
              </a:buClr>
              <a:buSzPts val="1150"/>
              <a:buChar char="●"/>
            </a:pPr>
            <a:r>
              <a:rPr b="1" lang="en-GB" sz="1150">
                <a:solidFill>
                  <a:schemeClr val="dk1"/>
                </a:solidFill>
              </a:rPr>
              <a:t>Code Merged:</a:t>
            </a:r>
            <a:r>
              <a:rPr lang="en-GB" sz="1150">
                <a:solidFill>
                  <a:schemeClr val="dk1"/>
                </a:solidFill>
              </a:rPr>
              <a:t> All the completed code with everything working as expected is merged to the main branch.</a:t>
            </a:r>
            <a:endParaRPr sz="1150">
              <a:solidFill>
                <a:schemeClr val="dk1"/>
              </a:solidFill>
            </a:endParaRPr>
          </a:p>
          <a:p>
            <a:pPr indent="-301625" lvl="0" marL="457200" rtl="0" algn="just">
              <a:lnSpc>
                <a:spcPct val="150000"/>
              </a:lnSpc>
              <a:spcBef>
                <a:spcPts val="0"/>
              </a:spcBef>
              <a:spcAft>
                <a:spcPts val="0"/>
              </a:spcAft>
              <a:buClr>
                <a:schemeClr val="dk1"/>
              </a:buClr>
              <a:buSzPts val="1150"/>
              <a:buChar char="●"/>
            </a:pPr>
            <a:r>
              <a:rPr b="1" lang="en-GB" sz="1150">
                <a:solidFill>
                  <a:schemeClr val="dk1"/>
                </a:solidFill>
              </a:rPr>
              <a:t>Stakeholders Communication:</a:t>
            </a:r>
            <a:r>
              <a:rPr lang="en-GB" sz="1150">
                <a:solidFill>
                  <a:schemeClr val="dk1"/>
                </a:solidFill>
              </a:rPr>
              <a:t> Once the tasks are completed and deployed, the status is updated to all stakeholders.</a:t>
            </a:r>
            <a:endParaRPr sz="1150">
              <a:solidFill>
                <a:schemeClr val="dk1"/>
              </a:solidFill>
            </a:endParaRPr>
          </a:p>
          <a:p>
            <a:pPr indent="-301625" lvl="0" marL="457200" rtl="0" algn="just">
              <a:lnSpc>
                <a:spcPct val="150000"/>
              </a:lnSpc>
              <a:spcBef>
                <a:spcPts val="0"/>
              </a:spcBef>
              <a:spcAft>
                <a:spcPts val="0"/>
              </a:spcAft>
              <a:buClr>
                <a:schemeClr val="dk1"/>
              </a:buClr>
              <a:buSzPts val="1150"/>
              <a:buChar char="●"/>
            </a:pPr>
            <a:r>
              <a:rPr b="1" lang="en-GB" sz="1150">
                <a:solidFill>
                  <a:schemeClr val="dk1"/>
                </a:solidFill>
              </a:rPr>
              <a:t>Deployment Completion:</a:t>
            </a:r>
            <a:r>
              <a:rPr lang="en-GB" sz="1150">
                <a:solidFill>
                  <a:schemeClr val="dk1"/>
                </a:solidFill>
              </a:rPr>
              <a:t> Work completed has been merged and deployed in the staging server and tested, if applicable.</a:t>
            </a:r>
            <a:endParaRPr sz="1150">
              <a:solidFill>
                <a:schemeClr val="dk1"/>
              </a:solidFill>
            </a:endParaRPr>
          </a:p>
          <a:p>
            <a:pPr indent="-301625" lvl="0" marL="457200" rtl="0" algn="just">
              <a:lnSpc>
                <a:spcPct val="150000"/>
              </a:lnSpc>
              <a:spcBef>
                <a:spcPts val="0"/>
              </a:spcBef>
              <a:spcAft>
                <a:spcPts val="0"/>
              </a:spcAft>
              <a:buClr>
                <a:schemeClr val="dk1"/>
              </a:buClr>
              <a:buSzPts val="1150"/>
              <a:buChar char="●"/>
            </a:pPr>
            <a:r>
              <a:rPr b="1" lang="en-GB" sz="1150">
                <a:solidFill>
                  <a:schemeClr val="dk1"/>
                </a:solidFill>
              </a:rPr>
              <a:t>Approval by Product Manager:</a:t>
            </a:r>
            <a:r>
              <a:rPr lang="en-GB" sz="1150">
                <a:solidFill>
                  <a:schemeClr val="dk1"/>
                </a:solidFill>
              </a:rPr>
              <a:t> All completed user stories, issues,, and tasks are reviewed, and approved by the Product Manager.</a:t>
            </a:r>
            <a:endParaRPr sz="115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4"/>
          <p:cNvSpPr txBox="1"/>
          <p:nvPr>
            <p:ph idx="1" type="body"/>
          </p:nvPr>
        </p:nvSpPr>
        <p:spPr>
          <a:xfrm>
            <a:off x="0" y="0"/>
            <a:ext cx="9144000" cy="5143500"/>
          </a:xfrm>
          <a:prstGeom prst="rect">
            <a:avLst/>
          </a:prstGeom>
        </p:spPr>
        <p:txBody>
          <a:bodyPr anchorCtr="0" anchor="t" bIns="91425" lIns="91425" spcFirstLastPara="1" rIns="91425" wrap="square" tIns="91425">
            <a:normAutofit fontScale="70000" lnSpcReduction="20000"/>
          </a:bodyPr>
          <a:lstStyle/>
          <a:p>
            <a:pPr indent="0" lvl="0" marL="0" rtl="0" algn="just">
              <a:lnSpc>
                <a:spcPct val="150000"/>
              </a:lnSpc>
              <a:spcBef>
                <a:spcPts val="0"/>
              </a:spcBef>
              <a:spcAft>
                <a:spcPts val="0"/>
              </a:spcAft>
              <a:buNone/>
            </a:pPr>
            <a:r>
              <a:rPr b="1" lang="en-GB">
                <a:solidFill>
                  <a:schemeClr val="dk1"/>
                </a:solidFill>
              </a:rPr>
              <a:t>Definition of Ready:</a:t>
            </a:r>
            <a:r>
              <a:rPr lang="en-GB">
                <a:solidFill>
                  <a:schemeClr val="dk1"/>
                </a:solidFill>
              </a:rPr>
              <a:t> The definition of ready establishes the conditions for a backlog item to enter a sprint. This is part of the product backlog refinement process. It helps in smooth sprint planning and execution. It aims to reduce ambiguity and uncertainty. This is set at the beginning of a sprint to include fully ready and qualified backlog items to be included in the upcoming Sprint.</a:t>
            </a:r>
            <a:endParaRPr>
              <a:solidFill>
                <a:schemeClr val="dk1"/>
              </a:solidFill>
            </a:endParaRPr>
          </a:p>
          <a:p>
            <a:pPr indent="0" lvl="0" marL="0" rtl="0" algn="just">
              <a:lnSpc>
                <a:spcPct val="150000"/>
              </a:lnSpc>
              <a:spcBef>
                <a:spcPts val="1200"/>
              </a:spcBef>
              <a:spcAft>
                <a:spcPts val="0"/>
              </a:spcAft>
              <a:buNone/>
            </a:pPr>
            <a:r>
              <a:rPr b="1" lang="en-GB">
                <a:solidFill>
                  <a:schemeClr val="dk1"/>
                </a:solidFill>
              </a:rPr>
              <a:t>Criteria for Definition of Ready</a:t>
            </a:r>
            <a:endParaRPr b="1">
              <a:solidFill>
                <a:schemeClr val="dk1"/>
              </a:solidFill>
            </a:endParaRPr>
          </a:p>
          <a:p>
            <a:pPr indent="-170010" lvl="0" marL="180000" rtl="0" algn="just">
              <a:lnSpc>
                <a:spcPct val="150000"/>
              </a:lnSpc>
              <a:spcBef>
                <a:spcPts val="1200"/>
              </a:spcBef>
              <a:spcAft>
                <a:spcPts val="0"/>
              </a:spcAft>
              <a:buClr>
                <a:schemeClr val="dk1"/>
              </a:buClr>
              <a:buSzPct val="100000"/>
              <a:buChar char="●"/>
            </a:pPr>
            <a:r>
              <a:rPr b="1" lang="en-GB">
                <a:solidFill>
                  <a:schemeClr val="dk1"/>
                </a:solidFill>
              </a:rPr>
              <a:t>Well-defined Scope:</a:t>
            </a:r>
            <a:r>
              <a:rPr lang="en-GB">
                <a:solidFill>
                  <a:schemeClr val="dk1"/>
                </a:solidFill>
              </a:rPr>
              <a:t> The user story or product backlog has a well-defined scope, and is clear, concise, and negotiable.</a:t>
            </a:r>
            <a:endParaRPr>
              <a:solidFill>
                <a:schemeClr val="dk1"/>
              </a:solidFill>
            </a:endParaRPr>
          </a:p>
          <a:p>
            <a:pPr indent="-170010" lvl="0" marL="180000" rtl="0" algn="just">
              <a:lnSpc>
                <a:spcPct val="150000"/>
              </a:lnSpc>
              <a:spcBef>
                <a:spcPts val="0"/>
              </a:spcBef>
              <a:spcAft>
                <a:spcPts val="0"/>
              </a:spcAft>
              <a:buClr>
                <a:schemeClr val="dk1"/>
              </a:buClr>
              <a:buSzPct val="100000"/>
              <a:buChar char="●"/>
            </a:pPr>
            <a:r>
              <a:rPr b="1" lang="en-GB">
                <a:solidFill>
                  <a:schemeClr val="dk1"/>
                </a:solidFill>
              </a:rPr>
              <a:t>Acceptance Criteria: </a:t>
            </a:r>
            <a:r>
              <a:rPr lang="en-GB">
                <a:solidFill>
                  <a:schemeClr val="dk1"/>
                </a:solidFill>
              </a:rPr>
              <a:t>All user stories or product backlog items should have acceptance criteria. The acceptance criteria for each product backlog item are clearly defined and testable.</a:t>
            </a:r>
            <a:endParaRPr>
              <a:solidFill>
                <a:schemeClr val="dk1"/>
              </a:solidFill>
            </a:endParaRPr>
          </a:p>
          <a:p>
            <a:pPr indent="-170010" lvl="0" marL="180000" rtl="0" algn="just">
              <a:lnSpc>
                <a:spcPct val="150000"/>
              </a:lnSpc>
              <a:spcBef>
                <a:spcPts val="0"/>
              </a:spcBef>
              <a:spcAft>
                <a:spcPts val="0"/>
              </a:spcAft>
              <a:buClr>
                <a:schemeClr val="dk1"/>
              </a:buClr>
              <a:buSzPct val="100000"/>
              <a:buChar char="●"/>
            </a:pPr>
            <a:r>
              <a:rPr b="1" lang="en-GB">
                <a:solidFill>
                  <a:schemeClr val="dk1"/>
                </a:solidFill>
              </a:rPr>
              <a:t>No Dependencies: </a:t>
            </a:r>
            <a:r>
              <a:rPr lang="en-GB">
                <a:solidFill>
                  <a:schemeClr val="dk1"/>
                </a:solidFill>
              </a:rPr>
              <a:t>User stories are Independent and all dependencies are identified and resolved.</a:t>
            </a:r>
            <a:endParaRPr>
              <a:solidFill>
                <a:schemeClr val="dk1"/>
              </a:solidFill>
            </a:endParaRPr>
          </a:p>
          <a:p>
            <a:pPr indent="-170010" lvl="0" marL="180000" rtl="0" algn="just">
              <a:lnSpc>
                <a:spcPct val="150000"/>
              </a:lnSpc>
              <a:spcBef>
                <a:spcPts val="0"/>
              </a:spcBef>
              <a:spcAft>
                <a:spcPts val="0"/>
              </a:spcAft>
              <a:buClr>
                <a:schemeClr val="dk1"/>
              </a:buClr>
              <a:buSzPct val="100000"/>
              <a:buChar char="●"/>
            </a:pPr>
            <a:r>
              <a:rPr b="1" lang="en-GB">
                <a:solidFill>
                  <a:schemeClr val="dk1"/>
                </a:solidFill>
              </a:rPr>
              <a:t>Tasks Estimation:</a:t>
            </a:r>
            <a:r>
              <a:rPr lang="en-GB">
                <a:solidFill>
                  <a:schemeClr val="dk1"/>
                </a:solidFill>
              </a:rPr>
              <a:t> All user stories should be estimated. The user story is estimated for the effort and complexity of the work.</a:t>
            </a:r>
            <a:endParaRPr>
              <a:solidFill>
                <a:schemeClr val="dk1"/>
              </a:solidFill>
            </a:endParaRPr>
          </a:p>
          <a:p>
            <a:pPr indent="-170010" lvl="0" marL="180000" rtl="0" algn="just">
              <a:lnSpc>
                <a:spcPct val="150000"/>
              </a:lnSpc>
              <a:spcBef>
                <a:spcPts val="0"/>
              </a:spcBef>
              <a:spcAft>
                <a:spcPts val="0"/>
              </a:spcAft>
              <a:buClr>
                <a:schemeClr val="dk1"/>
              </a:buClr>
              <a:buSzPct val="100000"/>
              <a:buChar char="●"/>
            </a:pPr>
            <a:r>
              <a:rPr b="1" lang="en-GB">
                <a:solidFill>
                  <a:schemeClr val="dk1"/>
                </a:solidFill>
              </a:rPr>
              <a:t>Prioritized: </a:t>
            </a:r>
            <a:r>
              <a:rPr lang="en-GB">
                <a:solidFill>
                  <a:schemeClr val="dk1"/>
                </a:solidFill>
              </a:rPr>
              <a:t>All user stories are prioritized. The team has agreed on the priority and the business value of the user stories.</a:t>
            </a:r>
            <a:endParaRPr>
              <a:solidFill>
                <a:schemeClr val="dk1"/>
              </a:solidFill>
            </a:endParaRPr>
          </a:p>
          <a:p>
            <a:pPr indent="-170010" lvl="0" marL="180000" rtl="0" algn="just">
              <a:lnSpc>
                <a:spcPct val="150000"/>
              </a:lnSpc>
              <a:spcBef>
                <a:spcPts val="0"/>
              </a:spcBef>
              <a:spcAft>
                <a:spcPts val="0"/>
              </a:spcAft>
              <a:buClr>
                <a:schemeClr val="dk1"/>
              </a:buClr>
              <a:buSzPct val="100000"/>
              <a:buChar char="●"/>
            </a:pPr>
            <a:r>
              <a:rPr b="1" lang="en-GB">
                <a:solidFill>
                  <a:schemeClr val="dk1"/>
                </a:solidFill>
              </a:rPr>
              <a:t>Small User Stories:</a:t>
            </a:r>
            <a:r>
              <a:rPr lang="en-GB">
                <a:solidFill>
                  <a:schemeClr val="dk1"/>
                </a:solidFill>
              </a:rPr>
              <a:t> The user stories must be broken down into small, estimable units. It is confirmed that the user story should be small and can be completed within a sprint.</a:t>
            </a:r>
            <a:endParaRPr>
              <a:solidFill>
                <a:schemeClr val="dk1"/>
              </a:solidFill>
            </a:endParaRPr>
          </a:p>
          <a:p>
            <a:pPr indent="-170010" lvl="0" marL="180000" rtl="0" algn="just">
              <a:lnSpc>
                <a:spcPct val="150000"/>
              </a:lnSpc>
              <a:spcBef>
                <a:spcPts val="0"/>
              </a:spcBef>
              <a:spcAft>
                <a:spcPts val="0"/>
              </a:spcAft>
              <a:buClr>
                <a:schemeClr val="dk1"/>
              </a:buClr>
              <a:buSzPct val="100000"/>
              <a:buChar char="●"/>
            </a:pPr>
            <a:r>
              <a:rPr b="1" lang="en-GB">
                <a:solidFill>
                  <a:schemeClr val="dk1"/>
                </a:solidFill>
              </a:rPr>
              <a:t>Resources Identification: </a:t>
            </a:r>
            <a:r>
              <a:rPr lang="en-GB">
                <a:solidFill>
                  <a:schemeClr val="dk1"/>
                </a:solidFill>
              </a:rPr>
              <a:t>For completing user stories adequate resources are needed. All the required resources are identified and available.</a:t>
            </a:r>
            <a:endParaRPr>
              <a:solidFill>
                <a:schemeClr val="dk1"/>
              </a:solidFill>
            </a:endParaRPr>
          </a:p>
          <a:p>
            <a:pPr indent="-170010" lvl="0" marL="180000" rtl="0" algn="just">
              <a:lnSpc>
                <a:spcPct val="150000"/>
              </a:lnSpc>
              <a:spcBef>
                <a:spcPts val="0"/>
              </a:spcBef>
              <a:spcAft>
                <a:spcPts val="0"/>
              </a:spcAft>
              <a:buClr>
                <a:schemeClr val="dk1"/>
              </a:buClr>
              <a:buSzPct val="100000"/>
              <a:buChar char="●"/>
            </a:pPr>
            <a:r>
              <a:rPr b="1" lang="en-GB">
                <a:solidFill>
                  <a:schemeClr val="dk1"/>
                </a:solidFill>
              </a:rPr>
              <a:t>Stakeholder Communication and Approval: </a:t>
            </a:r>
            <a:r>
              <a:rPr lang="en-GB">
                <a:solidFill>
                  <a:schemeClr val="dk1"/>
                </a:solidFill>
              </a:rPr>
              <a:t>The definition of ready should be shared and available for access by all stakeholders. All the stakeholders are informed and have agreed upon.</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94625" y="143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Estimation Technique in Agile</a:t>
            </a:r>
            <a:endParaRPr/>
          </a:p>
        </p:txBody>
      </p:sp>
      <p:sp>
        <p:nvSpPr>
          <p:cNvPr id="196" name="Google Shape;196;p35"/>
          <p:cNvSpPr txBox="1"/>
          <p:nvPr>
            <p:ph idx="1" type="body"/>
          </p:nvPr>
        </p:nvSpPr>
        <p:spPr>
          <a:xfrm>
            <a:off x="94625" y="715725"/>
            <a:ext cx="8737800" cy="3853200"/>
          </a:xfrm>
          <a:prstGeom prst="rect">
            <a:avLst/>
          </a:prstGeom>
        </p:spPr>
        <p:txBody>
          <a:bodyPr anchorCtr="0" anchor="t" bIns="91425" lIns="91425" spcFirstLastPara="1" rIns="91425" wrap="square" tIns="91425">
            <a:normAutofit fontScale="77500" lnSpcReduction="20000"/>
          </a:bodyPr>
          <a:lstStyle/>
          <a:p>
            <a:pPr indent="-317183" lvl="0" marL="457200" rtl="0" algn="just">
              <a:lnSpc>
                <a:spcPct val="150000"/>
              </a:lnSpc>
              <a:spcBef>
                <a:spcPts val="0"/>
              </a:spcBef>
              <a:spcAft>
                <a:spcPts val="0"/>
              </a:spcAft>
              <a:buClr>
                <a:schemeClr val="dk1"/>
              </a:buClr>
              <a:buSzPct val="100000"/>
              <a:buChar char="●"/>
            </a:pPr>
            <a:r>
              <a:rPr lang="en-GB">
                <a:solidFill>
                  <a:schemeClr val="dk1"/>
                </a:solidFill>
              </a:rPr>
              <a:t>Estimation is the process of finding an estimate, or approximation. It is an Art of guessing. Estimation includes four main factors - money, effort, resources, and time needed to build a specific system or product. The main objectives for doing estimations include Relative Estimation, discussions to get more information on items whose estimations need to be done and ensuring the commitment and enthusiasm of the whole team towards the tasks assigned to them.</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Dot Voting</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T-Shirt Size</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Planning Poker</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The Bucket System</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Large/Uncertain/Small</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Relative Estimation</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Story Points</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Estimation Based on Velocity</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type="title"/>
          </p:nvPr>
        </p:nvSpPr>
        <p:spPr>
          <a:xfrm>
            <a:off x="311700" y="4156"/>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SAFe</a:t>
            </a:r>
            <a:endParaRPr/>
          </a:p>
        </p:txBody>
      </p:sp>
      <p:sp>
        <p:nvSpPr>
          <p:cNvPr id="202" name="Google Shape;202;p36"/>
          <p:cNvSpPr txBox="1"/>
          <p:nvPr>
            <p:ph idx="1" type="body"/>
          </p:nvPr>
        </p:nvSpPr>
        <p:spPr>
          <a:xfrm>
            <a:off x="311700" y="515500"/>
            <a:ext cx="8520600" cy="4419900"/>
          </a:xfrm>
          <a:prstGeom prst="rect">
            <a:avLst/>
          </a:prstGeom>
        </p:spPr>
        <p:txBody>
          <a:bodyPr anchorCtr="0" anchor="t" bIns="91425" lIns="91425" spcFirstLastPara="1" rIns="91425" wrap="square" tIns="91425">
            <a:normAutofit lnSpcReduction="10000"/>
          </a:bodyPr>
          <a:lstStyle/>
          <a:p>
            <a:pPr indent="0" lvl="0" marL="0" rtl="0" algn="l">
              <a:spcBef>
                <a:spcPts val="1200"/>
              </a:spcBef>
              <a:spcAft>
                <a:spcPts val="0"/>
              </a:spcAft>
              <a:buNone/>
            </a:pPr>
            <a:r>
              <a:rPr lang="en-GB" sz="1600">
                <a:solidFill>
                  <a:schemeClr val="dk1"/>
                </a:solidFill>
              </a:rPr>
              <a:t>SAFe (Scaled Agile Framework) is a framework used to apply Agile principles across large organizations involving multiple teams working on the same product or project.</a:t>
            </a:r>
            <a:endParaRPr sz="1600">
              <a:solidFill>
                <a:schemeClr val="dk1"/>
              </a:solidFill>
            </a:endParaRPr>
          </a:p>
          <a:p>
            <a:pPr indent="0" lvl="0" marL="0" rtl="0" algn="l">
              <a:spcBef>
                <a:spcPts val="1200"/>
              </a:spcBef>
              <a:spcAft>
                <a:spcPts val="0"/>
              </a:spcAft>
              <a:buClr>
                <a:schemeClr val="dk1"/>
              </a:buClr>
              <a:buSzPts val="1100"/>
              <a:buFont typeface="Arial"/>
              <a:buNone/>
            </a:pPr>
            <a:r>
              <a:rPr i="1" lang="en-GB" sz="1400">
                <a:solidFill>
                  <a:schemeClr val="dk1"/>
                </a:solidFill>
              </a:rPr>
              <a:t>SAFe =&gt; Agile + Lean + DevOps at Enterprise Scale. It enables large organizations to manage and coordinate multiple Agile teams efficiently </a:t>
            </a:r>
            <a:endParaRPr i="1" sz="1400">
              <a:solidFill>
                <a:schemeClr val="dk1"/>
              </a:solidFill>
            </a:endParaRPr>
          </a:p>
          <a:p>
            <a:pPr indent="0" lvl="0" marL="0" rtl="0" algn="l">
              <a:spcBef>
                <a:spcPts val="1400"/>
              </a:spcBef>
              <a:spcAft>
                <a:spcPts val="0"/>
              </a:spcAft>
              <a:buClr>
                <a:schemeClr val="dk1"/>
              </a:buClr>
              <a:buSzPts val="1100"/>
              <a:buFont typeface="Arial"/>
              <a:buNone/>
            </a:pPr>
            <a:r>
              <a:rPr lang="en-GB" sz="1600">
                <a:solidFill>
                  <a:schemeClr val="dk1"/>
                </a:solidFill>
              </a:rPr>
              <a:t>Why SAFe?</a:t>
            </a:r>
            <a:endParaRPr sz="1600">
              <a:solidFill>
                <a:schemeClr val="dk1"/>
              </a:solidFill>
            </a:endParaRPr>
          </a:p>
          <a:p>
            <a:pPr indent="-330200" lvl="0" marL="457200" rtl="0" algn="l">
              <a:spcBef>
                <a:spcPts val="1200"/>
              </a:spcBef>
              <a:spcAft>
                <a:spcPts val="0"/>
              </a:spcAft>
              <a:buClr>
                <a:schemeClr val="dk1"/>
              </a:buClr>
              <a:buSzPts val="1600"/>
              <a:buChar char="●"/>
            </a:pPr>
            <a:r>
              <a:rPr lang="en-GB" sz="1600">
                <a:solidFill>
                  <a:schemeClr val="dk1"/>
                </a:solidFill>
              </a:rPr>
              <a:t>Agile works well for small teams.</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Large organizations have many teams that need coordination.</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SAFe helps align teams with business goals.</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Improves collaboration, quality, and faster delivery.</a:t>
            </a:r>
            <a:endParaRPr sz="1600">
              <a:solidFill>
                <a:schemeClr val="dk1"/>
              </a:solidFill>
            </a:endParaRPr>
          </a:p>
          <a:p>
            <a:pPr indent="0" lvl="0" marL="0" rtl="0" algn="l">
              <a:spcBef>
                <a:spcPts val="1400"/>
              </a:spcBef>
              <a:spcAft>
                <a:spcPts val="0"/>
              </a:spcAft>
              <a:buClr>
                <a:schemeClr val="dk1"/>
              </a:buClr>
              <a:buSzPts val="1100"/>
              <a:buFont typeface="Arial"/>
              <a:buNone/>
            </a:pPr>
            <a:r>
              <a:rPr lang="en-GB" sz="1600">
                <a:solidFill>
                  <a:schemeClr val="dk1"/>
                </a:solidFill>
              </a:rPr>
              <a:t>Key Features</a:t>
            </a:r>
            <a:endParaRPr sz="1600">
              <a:solidFill>
                <a:schemeClr val="dk1"/>
              </a:solidFill>
            </a:endParaRPr>
          </a:p>
          <a:p>
            <a:pPr indent="-330200" lvl="0" marL="457200" rtl="0" algn="l">
              <a:spcBef>
                <a:spcPts val="1200"/>
              </a:spcBef>
              <a:spcAft>
                <a:spcPts val="0"/>
              </a:spcAft>
              <a:buClr>
                <a:schemeClr val="dk1"/>
              </a:buClr>
              <a:buSzPts val="1600"/>
              <a:buChar char="●"/>
            </a:pPr>
            <a:r>
              <a:rPr lang="en-GB" sz="1600">
                <a:solidFill>
                  <a:schemeClr val="dk1"/>
                </a:solidFill>
              </a:rPr>
              <a:t>Scales Agile practices across the enterprise.</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Combines Agile, Lean, and DevOps principles.</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Supports continuous improvement and innovation.</a:t>
            </a:r>
            <a:endParaRPr sz="16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7"/>
          <p:cNvSpPr txBox="1"/>
          <p:nvPr>
            <p:ph idx="1" type="body"/>
          </p:nvPr>
        </p:nvSpPr>
        <p:spPr>
          <a:xfrm>
            <a:off x="311700" y="402450"/>
            <a:ext cx="8520600" cy="4499100"/>
          </a:xfrm>
          <a:prstGeom prst="rect">
            <a:avLst/>
          </a:prstGeom>
        </p:spPr>
        <p:txBody>
          <a:bodyPr anchorCtr="0" anchor="t" bIns="91425" lIns="91425" spcFirstLastPara="1" rIns="91425" wrap="square" tIns="91425">
            <a:normAutofit/>
          </a:bodyPr>
          <a:lstStyle/>
          <a:p>
            <a:pPr indent="0" lvl="0" marL="0" rtl="0" algn="l">
              <a:spcBef>
                <a:spcPts val="1800"/>
              </a:spcBef>
              <a:spcAft>
                <a:spcPts val="0"/>
              </a:spcAft>
              <a:buClr>
                <a:schemeClr val="dk1"/>
              </a:buClr>
              <a:buSzPts val="1100"/>
              <a:buFont typeface="Arial"/>
              <a:buNone/>
            </a:pPr>
            <a:r>
              <a:rPr b="1" lang="en-GB" sz="1600">
                <a:solidFill>
                  <a:schemeClr val="dk1"/>
                </a:solidFill>
              </a:rPr>
              <a:t>Four Core Values of SAFe</a:t>
            </a:r>
            <a:endParaRPr b="1" sz="1600">
              <a:solidFill>
                <a:schemeClr val="dk1"/>
              </a:solidFill>
            </a:endParaRPr>
          </a:p>
          <a:p>
            <a:pPr indent="-330200" lvl="0" marL="457200" rtl="0" algn="l">
              <a:spcBef>
                <a:spcPts val="400"/>
              </a:spcBef>
              <a:spcAft>
                <a:spcPts val="0"/>
              </a:spcAft>
              <a:buClr>
                <a:schemeClr val="dk1"/>
              </a:buClr>
              <a:buSzPts val="1600"/>
              <a:buAutoNum type="arabicPeriod"/>
            </a:pPr>
            <a:r>
              <a:rPr lang="en-GB" sz="1600">
                <a:solidFill>
                  <a:schemeClr val="dk1"/>
                </a:solidFill>
              </a:rPr>
              <a:t>Alignment: Ensures all teams work toward common business objectives.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Built-in Quality: Quality is maintained throughout development rather than tested at the end.</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Transparency: Promotes open communication and visibility across teams.</a:t>
            </a:r>
            <a:endParaRPr sz="1600">
              <a:solidFill>
                <a:schemeClr val="dk1"/>
              </a:solidFill>
            </a:endParaRPr>
          </a:p>
          <a:p>
            <a:pPr indent="-330200" lvl="0" marL="457200" rtl="0" algn="l">
              <a:spcBef>
                <a:spcPts val="0"/>
              </a:spcBef>
              <a:spcAft>
                <a:spcPts val="0"/>
              </a:spcAft>
              <a:buClr>
                <a:schemeClr val="dk1"/>
              </a:buClr>
              <a:buSzPts val="1600"/>
              <a:buAutoNum type="arabicPeriod"/>
            </a:pPr>
            <a:r>
              <a:rPr lang="en-GB" sz="1600">
                <a:solidFill>
                  <a:schemeClr val="dk1"/>
                </a:solidFill>
              </a:rPr>
              <a:t>Program Execution: Focuses on delivering valuable solutions consistently.</a:t>
            </a:r>
            <a:endParaRPr sz="1600">
              <a:solidFill>
                <a:schemeClr val="dk1"/>
              </a:solidFill>
            </a:endParaRPr>
          </a:p>
          <a:p>
            <a:pPr indent="0" lvl="0" marL="0" rtl="0" algn="l">
              <a:spcBef>
                <a:spcPts val="1800"/>
              </a:spcBef>
              <a:spcAft>
                <a:spcPts val="0"/>
              </a:spcAft>
              <a:buNone/>
            </a:pPr>
            <a:r>
              <a:rPr b="1" lang="en-GB" sz="1700">
                <a:solidFill>
                  <a:schemeClr val="dk1"/>
                </a:solidFill>
              </a:rPr>
              <a:t>SAFe Principles</a:t>
            </a:r>
            <a:endParaRPr b="1" sz="1700">
              <a:solidFill>
                <a:schemeClr val="dk1"/>
              </a:solidFill>
            </a:endParaRPr>
          </a:p>
          <a:p>
            <a:pPr indent="-330200" lvl="0" marL="457200" rtl="0" algn="l">
              <a:spcBef>
                <a:spcPts val="1200"/>
              </a:spcBef>
              <a:spcAft>
                <a:spcPts val="0"/>
              </a:spcAft>
              <a:buClr>
                <a:schemeClr val="dk1"/>
              </a:buClr>
              <a:buSzPts val="1600"/>
              <a:buChar char="●"/>
            </a:pPr>
            <a:r>
              <a:rPr lang="en-GB" sz="1600">
                <a:solidFill>
                  <a:schemeClr val="dk1"/>
                </a:solidFill>
              </a:rPr>
              <a:t>Take an economic view.</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Apply systems thinking.</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Build incrementally with fast feedback.</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Base milestones on objective evaluation.</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Organize around value.</a:t>
            </a:r>
            <a:endParaRPr sz="16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idx="1" type="body"/>
          </p:nvPr>
        </p:nvSpPr>
        <p:spPr>
          <a:xfrm>
            <a:off x="311700" y="266800"/>
            <a:ext cx="8520600" cy="4600800"/>
          </a:xfrm>
          <a:prstGeom prst="rect">
            <a:avLst/>
          </a:prstGeom>
        </p:spPr>
        <p:txBody>
          <a:bodyPr anchorCtr="0" anchor="t" bIns="91425" lIns="91425" spcFirstLastPara="1" rIns="91425" wrap="square" tIns="91425">
            <a:normAutofit/>
          </a:bodyPr>
          <a:lstStyle/>
          <a:p>
            <a:pPr indent="0" lvl="0" marL="0" rtl="0" algn="l">
              <a:spcBef>
                <a:spcPts val="400"/>
              </a:spcBef>
              <a:spcAft>
                <a:spcPts val="0"/>
              </a:spcAft>
              <a:buClr>
                <a:schemeClr val="dk1"/>
              </a:buClr>
              <a:buSzPts val="1100"/>
              <a:buFont typeface="Arial"/>
              <a:buNone/>
            </a:pPr>
            <a:r>
              <a:rPr b="1" lang="en-GB" sz="1400">
                <a:solidFill>
                  <a:schemeClr val="dk1"/>
                </a:solidFill>
              </a:rPr>
              <a:t>Four Levels of SAFe</a:t>
            </a:r>
            <a:endParaRPr b="1" sz="1400">
              <a:solidFill>
                <a:schemeClr val="dk1"/>
              </a:solidFill>
            </a:endParaRPr>
          </a:p>
          <a:p>
            <a:pPr indent="0" lvl="0" marL="0" rtl="0" algn="l">
              <a:spcBef>
                <a:spcPts val="400"/>
              </a:spcBef>
              <a:spcAft>
                <a:spcPts val="0"/>
              </a:spcAft>
              <a:buClr>
                <a:schemeClr val="dk1"/>
              </a:buClr>
              <a:buSzPts val="1100"/>
              <a:buFont typeface="Arial"/>
              <a:buNone/>
            </a:pPr>
            <a:r>
              <a:rPr lang="en-GB" sz="1400">
                <a:solidFill>
                  <a:schemeClr val="dk1"/>
                </a:solidFill>
              </a:rPr>
              <a:t>1. Team Level (Developers, core team members → team of 9-10 people)</a:t>
            </a:r>
            <a:endParaRPr sz="1400">
              <a:solidFill>
                <a:schemeClr val="dk1"/>
              </a:solidFill>
            </a:endParaRPr>
          </a:p>
          <a:p>
            <a:pPr indent="-317500" lvl="0" marL="457200" rtl="0" algn="l">
              <a:spcBef>
                <a:spcPts val="400"/>
              </a:spcBef>
              <a:spcAft>
                <a:spcPts val="0"/>
              </a:spcAft>
              <a:buClr>
                <a:schemeClr val="dk1"/>
              </a:buClr>
              <a:buSzPts val="1400"/>
              <a:buChar char="●"/>
            </a:pPr>
            <a:r>
              <a:rPr lang="en-GB" sz="1400">
                <a:solidFill>
                  <a:schemeClr val="dk1"/>
                </a:solidFill>
              </a:rPr>
              <a:t>Agile teams use Scrum, Kanban, or XP.</a:t>
            </a:r>
            <a:endParaRPr sz="1400">
              <a:solidFill>
                <a:schemeClr val="dk1"/>
              </a:solidFill>
            </a:endParaRPr>
          </a:p>
          <a:p>
            <a:pPr indent="-317500" lvl="0" marL="457200" rtl="0" algn="l">
              <a:spcBef>
                <a:spcPts val="400"/>
              </a:spcBef>
              <a:spcAft>
                <a:spcPts val="0"/>
              </a:spcAft>
              <a:buClr>
                <a:schemeClr val="dk1"/>
              </a:buClr>
              <a:buSzPts val="1400"/>
              <a:buChar char="●"/>
            </a:pPr>
            <a:r>
              <a:rPr lang="en-GB" sz="1400">
                <a:solidFill>
                  <a:schemeClr val="dk1"/>
                </a:solidFill>
              </a:rPr>
              <a:t>Deliver working software in short iterations.</a:t>
            </a:r>
            <a:endParaRPr sz="1400">
              <a:solidFill>
                <a:schemeClr val="dk1"/>
              </a:solidFill>
            </a:endParaRPr>
          </a:p>
          <a:p>
            <a:pPr indent="0" lvl="0" marL="0" rtl="0" algn="l">
              <a:spcBef>
                <a:spcPts val="400"/>
              </a:spcBef>
              <a:spcAft>
                <a:spcPts val="0"/>
              </a:spcAft>
              <a:buClr>
                <a:schemeClr val="dk1"/>
              </a:buClr>
              <a:buSzPts val="1100"/>
              <a:buFont typeface="Arial"/>
              <a:buNone/>
            </a:pPr>
            <a:r>
              <a:rPr lang="en-GB" sz="1400">
                <a:solidFill>
                  <a:schemeClr val="dk1"/>
                </a:solidFill>
              </a:rPr>
              <a:t>2. Program Level(PI Planning → Program Implement Planning) min. 2 days</a:t>
            </a:r>
            <a:endParaRPr sz="1400">
              <a:solidFill>
                <a:schemeClr val="dk1"/>
              </a:solidFill>
            </a:endParaRPr>
          </a:p>
          <a:p>
            <a:pPr indent="-317500" lvl="0" marL="457200" rtl="0" algn="l">
              <a:spcBef>
                <a:spcPts val="400"/>
              </a:spcBef>
              <a:spcAft>
                <a:spcPts val="0"/>
              </a:spcAft>
              <a:buClr>
                <a:schemeClr val="dk1"/>
              </a:buClr>
              <a:buSzPts val="1400"/>
              <a:buChar char="●"/>
            </a:pPr>
            <a:r>
              <a:rPr lang="en-GB" sz="1400">
                <a:solidFill>
                  <a:schemeClr val="dk1"/>
                </a:solidFill>
              </a:rPr>
              <a:t>Multiple teams collaborate through an Agile Release Train (ART).</a:t>
            </a:r>
            <a:endParaRPr sz="1400">
              <a:solidFill>
                <a:schemeClr val="dk1"/>
              </a:solidFill>
            </a:endParaRPr>
          </a:p>
          <a:p>
            <a:pPr indent="0" lvl="0" marL="0" rtl="0" algn="l">
              <a:spcBef>
                <a:spcPts val="400"/>
              </a:spcBef>
              <a:spcAft>
                <a:spcPts val="0"/>
              </a:spcAft>
              <a:buClr>
                <a:schemeClr val="dk1"/>
              </a:buClr>
              <a:buSzPts val="1100"/>
              <a:buFont typeface="Arial"/>
              <a:buNone/>
            </a:pPr>
            <a:r>
              <a:rPr lang="en-GB" sz="1400">
                <a:solidFill>
                  <a:schemeClr val="dk1"/>
                </a:solidFill>
              </a:rPr>
              <a:t>3. Large Solution Level</a:t>
            </a:r>
            <a:endParaRPr sz="1400">
              <a:solidFill>
                <a:schemeClr val="dk1"/>
              </a:solidFill>
            </a:endParaRPr>
          </a:p>
          <a:p>
            <a:pPr indent="-317500" lvl="0" marL="457200" rtl="0" algn="l">
              <a:spcBef>
                <a:spcPts val="400"/>
              </a:spcBef>
              <a:spcAft>
                <a:spcPts val="0"/>
              </a:spcAft>
              <a:buClr>
                <a:schemeClr val="dk1"/>
              </a:buClr>
              <a:buSzPts val="1400"/>
              <a:buChar char="●"/>
            </a:pPr>
            <a:r>
              <a:rPr lang="en-GB" sz="1400">
                <a:solidFill>
                  <a:schemeClr val="dk1"/>
                </a:solidFill>
              </a:rPr>
              <a:t>Coordinates multiple ARTs for complex systems.</a:t>
            </a:r>
            <a:endParaRPr sz="1400">
              <a:solidFill>
                <a:schemeClr val="dk1"/>
              </a:solidFill>
            </a:endParaRPr>
          </a:p>
          <a:p>
            <a:pPr indent="0" lvl="0" marL="0" rtl="0" algn="l">
              <a:spcBef>
                <a:spcPts val="400"/>
              </a:spcBef>
              <a:spcAft>
                <a:spcPts val="0"/>
              </a:spcAft>
              <a:buClr>
                <a:schemeClr val="dk1"/>
              </a:buClr>
              <a:buSzPts val="1100"/>
              <a:buFont typeface="Arial"/>
              <a:buNone/>
            </a:pPr>
            <a:r>
              <a:rPr lang="en-GB" sz="1400">
                <a:solidFill>
                  <a:schemeClr val="dk1"/>
                </a:solidFill>
              </a:rPr>
              <a:t>4. Portfolio Level → Product managers, executives)</a:t>
            </a:r>
            <a:endParaRPr sz="1400">
              <a:solidFill>
                <a:schemeClr val="dk1"/>
              </a:solidFill>
            </a:endParaRPr>
          </a:p>
          <a:p>
            <a:pPr indent="-317500" lvl="0" marL="457200" rtl="0" algn="l">
              <a:spcBef>
                <a:spcPts val="400"/>
              </a:spcBef>
              <a:spcAft>
                <a:spcPts val="0"/>
              </a:spcAft>
              <a:buClr>
                <a:schemeClr val="dk1"/>
              </a:buClr>
              <a:buSzPts val="1400"/>
              <a:buChar char="●"/>
            </a:pPr>
            <a:r>
              <a:rPr lang="en-GB" sz="1400">
                <a:solidFill>
                  <a:schemeClr val="dk1"/>
                </a:solidFill>
              </a:rPr>
              <a:t>Aligns projects and investments with business strategy.</a:t>
            </a:r>
            <a:endParaRPr sz="1400">
              <a:solidFill>
                <a:schemeClr val="dk1"/>
              </a:solidFill>
            </a:endParaRPr>
          </a:p>
          <a:p>
            <a:pPr indent="0" lvl="0" marL="0" rtl="0" algn="l">
              <a:spcBef>
                <a:spcPts val="400"/>
              </a:spcBef>
              <a:spcAft>
                <a:spcPts val="0"/>
              </a:spcAft>
              <a:buClr>
                <a:schemeClr val="dk1"/>
              </a:buClr>
              <a:buSzPts val="1100"/>
              <a:buFont typeface="Arial"/>
              <a:buNone/>
            </a:pPr>
            <a:r>
              <a:rPr lang="en-GB" sz="1400">
                <a:solidFill>
                  <a:schemeClr val="dk1"/>
                </a:solidFill>
              </a:rPr>
              <a:t>Agile Release Train (ART)</a:t>
            </a:r>
            <a:endParaRPr sz="1400">
              <a:solidFill>
                <a:schemeClr val="dk1"/>
              </a:solidFill>
            </a:endParaRPr>
          </a:p>
          <a:p>
            <a:pPr indent="-317500" lvl="0" marL="457200" rtl="0" algn="l">
              <a:spcBef>
                <a:spcPts val="400"/>
              </a:spcBef>
              <a:spcAft>
                <a:spcPts val="0"/>
              </a:spcAft>
              <a:buClr>
                <a:schemeClr val="dk1"/>
              </a:buClr>
              <a:buSzPts val="1400"/>
              <a:buChar char="●"/>
            </a:pPr>
            <a:r>
              <a:rPr lang="en-GB" sz="1400">
                <a:solidFill>
                  <a:schemeClr val="dk1"/>
                </a:solidFill>
              </a:rPr>
              <a:t>A long-lived team of Agile teams.</a:t>
            </a:r>
            <a:endParaRPr sz="1400">
              <a:solidFill>
                <a:schemeClr val="dk1"/>
              </a:solidFill>
            </a:endParaRPr>
          </a:p>
          <a:p>
            <a:pPr indent="-317500" lvl="0" marL="457200" rtl="0" algn="l">
              <a:spcBef>
                <a:spcPts val="400"/>
              </a:spcBef>
              <a:spcAft>
                <a:spcPts val="0"/>
              </a:spcAft>
              <a:buClr>
                <a:schemeClr val="dk1"/>
              </a:buClr>
              <a:buSzPts val="1400"/>
              <a:buChar char="●"/>
            </a:pPr>
            <a:r>
              <a:rPr lang="en-GB" sz="1400">
                <a:solidFill>
                  <a:schemeClr val="dk1"/>
                </a:solidFill>
              </a:rPr>
              <a:t>Typically consists of 50–125 people.</a:t>
            </a:r>
            <a:endParaRPr sz="1400">
              <a:solidFill>
                <a:schemeClr val="dk1"/>
              </a:solidFill>
            </a:endParaRPr>
          </a:p>
          <a:p>
            <a:pPr indent="-317500" lvl="0" marL="457200" rtl="0" algn="l">
              <a:spcBef>
                <a:spcPts val="400"/>
              </a:spcBef>
              <a:spcAft>
                <a:spcPts val="0"/>
              </a:spcAft>
              <a:buClr>
                <a:schemeClr val="dk1"/>
              </a:buClr>
              <a:buSzPts val="1400"/>
              <a:buChar char="●"/>
            </a:pPr>
            <a:r>
              <a:rPr lang="en-GB" sz="1400">
                <a:solidFill>
                  <a:schemeClr val="dk1"/>
                </a:solidFill>
              </a:rPr>
              <a:t>Delivers value in synchronized iterations.</a:t>
            </a:r>
            <a:endParaRPr sz="1400">
              <a:solidFill>
                <a:schemeClr val="dk1"/>
              </a:solidFill>
            </a:endParaRPr>
          </a:p>
          <a:p>
            <a:pPr indent="-317500" lvl="0" marL="457200" rtl="0" algn="l">
              <a:spcBef>
                <a:spcPts val="400"/>
              </a:spcBef>
              <a:spcAft>
                <a:spcPts val="400"/>
              </a:spcAft>
              <a:buClr>
                <a:schemeClr val="dk1"/>
              </a:buClr>
              <a:buSzPts val="1400"/>
              <a:buChar char="●"/>
            </a:pPr>
            <a:r>
              <a:rPr lang="en-GB" sz="1400">
                <a:solidFill>
                  <a:schemeClr val="dk1"/>
                </a:solidFill>
              </a:rPr>
              <a:t>Acts as the primary vehicle for value delivery.</a:t>
            </a:r>
            <a:endParaRPr sz="1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Example: </a:t>
            </a:r>
            <a:endParaRPr/>
          </a:p>
        </p:txBody>
      </p:sp>
      <p:sp>
        <p:nvSpPr>
          <p:cNvPr id="218" name="Google Shape;218;p39"/>
          <p:cNvSpPr txBox="1"/>
          <p:nvPr>
            <p:ph idx="1" type="body"/>
          </p:nvPr>
        </p:nvSpPr>
        <p:spPr>
          <a:xfrm>
            <a:off x="311700" y="1152475"/>
            <a:ext cx="8520600" cy="3822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Sprint 1: Implementing UPI in banking Application </a:t>
            </a:r>
            <a:endParaRPr>
              <a:solidFill>
                <a:schemeClr val="dk1"/>
              </a:solidFill>
            </a:endParaRPr>
          </a:p>
          <a:p>
            <a:pPr indent="0" lvl="0" marL="0" rtl="0" algn="l">
              <a:spcBef>
                <a:spcPts val="1200"/>
              </a:spcBef>
              <a:spcAft>
                <a:spcPts val="0"/>
              </a:spcAft>
              <a:buNone/>
            </a:pPr>
            <a:r>
              <a:rPr lang="en-GB">
                <a:solidFill>
                  <a:schemeClr val="dk1"/>
                </a:solidFill>
              </a:rPr>
              <a:t>Sprint 2: Implement Rewards</a:t>
            </a:r>
            <a:endParaRPr>
              <a:solidFill>
                <a:schemeClr val="dk1"/>
              </a:solidFill>
            </a:endParaRPr>
          </a:p>
          <a:p>
            <a:pPr indent="0" lvl="0" marL="0" rtl="0" algn="l">
              <a:spcBef>
                <a:spcPts val="1200"/>
              </a:spcBef>
              <a:spcAft>
                <a:spcPts val="0"/>
              </a:spcAft>
              <a:buNone/>
            </a:pPr>
            <a:r>
              <a:rPr lang="en-GB">
                <a:solidFill>
                  <a:schemeClr val="dk1"/>
                </a:solidFill>
              </a:rPr>
              <a:t>Possible with SAFe??---&gt; implementation of UPI with rewards </a:t>
            </a:r>
            <a:endParaRPr>
              <a:solidFill>
                <a:schemeClr val="dk1"/>
              </a:solidFill>
            </a:endParaRPr>
          </a:p>
          <a:p>
            <a:pPr indent="0" lvl="0" marL="0" rtl="0" algn="l">
              <a:spcBef>
                <a:spcPts val="1200"/>
              </a:spcBef>
              <a:spcAft>
                <a:spcPts val="0"/>
              </a:spcAft>
              <a:buNone/>
            </a:pPr>
            <a:r>
              <a:rPr lang="en-GB">
                <a:solidFill>
                  <a:schemeClr val="dk1"/>
                </a:solidFill>
              </a:rPr>
              <a:t>Team Level:</a:t>
            </a:r>
            <a:endParaRPr>
              <a:solidFill>
                <a:schemeClr val="dk1"/>
              </a:solidFill>
            </a:endParaRPr>
          </a:p>
          <a:p>
            <a:pPr indent="0" lvl="0" marL="0" rtl="0" algn="l">
              <a:spcBef>
                <a:spcPts val="1200"/>
              </a:spcBef>
              <a:spcAft>
                <a:spcPts val="0"/>
              </a:spcAft>
              <a:buNone/>
            </a:pPr>
            <a:r>
              <a:rPr lang="en-GB">
                <a:solidFill>
                  <a:schemeClr val="dk1"/>
                </a:solidFill>
              </a:rPr>
              <a:t>Hence require a big size of team players</a:t>
            </a:r>
            <a:endParaRPr>
              <a:solidFill>
                <a:schemeClr val="dk1"/>
              </a:solidFill>
            </a:endParaRPr>
          </a:p>
          <a:p>
            <a:pPr indent="0" lvl="0" marL="0" rtl="0" algn="l">
              <a:spcBef>
                <a:spcPts val="1200"/>
              </a:spcBef>
              <a:spcAft>
                <a:spcPts val="0"/>
              </a:spcAft>
              <a:buNone/>
            </a:pPr>
            <a:r>
              <a:rPr lang="en-GB">
                <a:solidFill>
                  <a:schemeClr val="dk1"/>
                </a:solidFill>
              </a:rPr>
              <a:t>Team 1 : UPI Transfer</a:t>
            </a:r>
            <a:endParaRPr>
              <a:solidFill>
                <a:schemeClr val="dk1"/>
              </a:solidFill>
            </a:endParaRPr>
          </a:p>
          <a:p>
            <a:pPr indent="0" lvl="0" marL="0" rtl="0" algn="l">
              <a:spcBef>
                <a:spcPts val="1200"/>
              </a:spcBef>
              <a:spcAft>
                <a:spcPts val="0"/>
              </a:spcAft>
              <a:buNone/>
            </a:pPr>
            <a:r>
              <a:rPr lang="en-GB">
                <a:solidFill>
                  <a:schemeClr val="dk1"/>
                </a:solidFill>
              </a:rPr>
              <a:t>Team 2: Point Calculation</a:t>
            </a:r>
            <a:endParaRPr>
              <a:solidFill>
                <a:schemeClr val="dk1"/>
              </a:solidFill>
            </a:endParaRPr>
          </a:p>
          <a:p>
            <a:pPr indent="0" lvl="0" marL="0" rtl="0" algn="l">
              <a:spcBef>
                <a:spcPts val="1200"/>
              </a:spcBef>
              <a:spcAft>
                <a:spcPts val="1200"/>
              </a:spcAft>
              <a:buNone/>
            </a:pPr>
            <a:r>
              <a:rPr i="1" lang="en-GB" u="sng">
                <a:solidFill>
                  <a:schemeClr val="dk1"/>
                </a:solidFill>
              </a:rPr>
              <a:t>In sprints</a:t>
            </a:r>
            <a:endParaRPr i="1" u="sng">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4" name="Google Shape;224;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Program level:</a:t>
            </a:r>
            <a:endParaRPr>
              <a:solidFill>
                <a:schemeClr val="dk1"/>
              </a:solidFill>
            </a:endParaRPr>
          </a:p>
          <a:p>
            <a:pPr indent="0" lvl="0" marL="0" rtl="0" algn="l">
              <a:spcBef>
                <a:spcPts val="1200"/>
              </a:spcBef>
              <a:spcAft>
                <a:spcPts val="0"/>
              </a:spcAft>
              <a:buNone/>
            </a:pPr>
            <a:r>
              <a:rPr lang="en-GB">
                <a:solidFill>
                  <a:schemeClr val="dk1"/>
                </a:solidFill>
              </a:rPr>
              <a:t>Teams meet every 10 days / two weeks so that work can be aligned. They plan together in PI Planning  for two days minimum</a:t>
            </a:r>
            <a:endParaRPr>
              <a:solidFill>
                <a:schemeClr val="dk1"/>
              </a:solidFill>
            </a:endParaRPr>
          </a:p>
          <a:p>
            <a:pPr indent="0" lvl="0" marL="0" rtl="0" algn="l">
              <a:spcBef>
                <a:spcPts val="1200"/>
              </a:spcBef>
              <a:spcAft>
                <a:spcPts val="0"/>
              </a:spcAft>
              <a:buNone/>
            </a:pPr>
            <a:r>
              <a:rPr lang="en-GB">
                <a:solidFill>
                  <a:schemeClr val="dk1"/>
                </a:solidFill>
              </a:rPr>
              <a:t>Large solution : Number of tasks remaining counted , number of days remaining counted so that next level can be achieved. </a:t>
            </a:r>
            <a:endParaRPr>
              <a:solidFill>
                <a:schemeClr val="dk1"/>
              </a:solidFill>
            </a:endParaRPr>
          </a:p>
          <a:p>
            <a:pPr indent="0" lvl="0" marL="0" rtl="0" algn="l">
              <a:spcBef>
                <a:spcPts val="1200"/>
              </a:spcBef>
              <a:spcAft>
                <a:spcPts val="1200"/>
              </a:spcAft>
              <a:buNone/>
            </a:pPr>
            <a:r>
              <a:rPr lang="en-GB">
                <a:solidFill>
                  <a:schemeClr val="dk1"/>
                </a:solidFill>
              </a:rPr>
              <a:t>Portfolio level: Decides UPI and rewards are the top priority for this quarter rather than any other functionality </a:t>
            </a:r>
            <a:endParaRPr>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41"/>
          <p:cNvSpPr txBox="1"/>
          <p:nvPr>
            <p:ph type="title"/>
          </p:nvPr>
        </p:nvSpPr>
        <p:spPr>
          <a:xfrm>
            <a:off x="311700" y="94589"/>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Scrum@Scale</a:t>
            </a:r>
            <a:endParaRPr/>
          </a:p>
        </p:txBody>
      </p:sp>
      <p:sp>
        <p:nvSpPr>
          <p:cNvPr id="230" name="Google Shape;230;p41"/>
          <p:cNvSpPr txBox="1"/>
          <p:nvPr>
            <p:ph idx="1" type="body"/>
          </p:nvPr>
        </p:nvSpPr>
        <p:spPr>
          <a:xfrm>
            <a:off x="311700" y="730275"/>
            <a:ext cx="8520600" cy="4205400"/>
          </a:xfrm>
          <a:prstGeom prst="rect">
            <a:avLst/>
          </a:prstGeom>
        </p:spPr>
        <p:txBody>
          <a:bodyPr anchorCtr="0" anchor="t" bIns="91425" lIns="91425" spcFirstLastPara="1" rIns="91425" wrap="square" tIns="91425">
            <a:normAutofit/>
          </a:bodyPr>
          <a:lstStyle/>
          <a:p>
            <a:pPr indent="0" lvl="0" marL="0" rtl="0" algn="l">
              <a:lnSpc>
                <a:spcPct val="115000"/>
              </a:lnSpc>
              <a:spcBef>
                <a:spcPts val="400"/>
              </a:spcBef>
              <a:spcAft>
                <a:spcPts val="0"/>
              </a:spcAft>
              <a:buNone/>
            </a:pPr>
            <a:r>
              <a:rPr lang="en-GB" sz="1400">
                <a:solidFill>
                  <a:schemeClr val="dk1"/>
                </a:solidFill>
              </a:rPr>
              <a:t>a framework developed by Jeff Sutherland to scale Scrum across multiple teams working on large and complex projects.</a:t>
            </a:r>
            <a:endParaRPr sz="1400">
              <a:solidFill>
                <a:schemeClr val="dk1"/>
              </a:solidFill>
            </a:endParaRPr>
          </a:p>
          <a:p>
            <a:pPr indent="0" lvl="0" marL="0" rtl="0" algn="l">
              <a:lnSpc>
                <a:spcPct val="115000"/>
              </a:lnSpc>
              <a:spcBef>
                <a:spcPts val="400"/>
              </a:spcBef>
              <a:spcAft>
                <a:spcPts val="0"/>
              </a:spcAft>
              <a:buNone/>
            </a:pPr>
            <a:r>
              <a:rPr lang="en-GB" sz="1400">
                <a:solidFill>
                  <a:schemeClr val="dk1"/>
                </a:solidFill>
              </a:rPr>
              <a:t>It helps organizations coordinate many Scrum teams while maintaining the simplicity and flexibility of Scrum.</a:t>
            </a:r>
            <a:endParaRPr sz="1400">
              <a:solidFill>
                <a:schemeClr val="dk1"/>
              </a:solidFill>
            </a:endParaRPr>
          </a:p>
          <a:p>
            <a:pPr indent="0" lvl="0" marL="0" rtl="0" algn="l">
              <a:lnSpc>
                <a:spcPct val="115000"/>
              </a:lnSpc>
              <a:spcBef>
                <a:spcPts val="400"/>
              </a:spcBef>
              <a:spcAft>
                <a:spcPts val="0"/>
              </a:spcAft>
              <a:buNone/>
            </a:pPr>
            <a:r>
              <a:rPr lang="en-GB" sz="1400">
                <a:solidFill>
                  <a:schemeClr val="dk1"/>
                </a:solidFill>
              </a:rPr>
              <a:t>IN Scrum@Scale → typical flow/ cycle goes as: </a:t>
            </a:r>
            <a:endParaRPr sz="1400">
              <a:solidFill>
                <a:schemeClr val="dk1"/>
              </a:solidFill>
            </a:endParaRPr>
          </a:p>
          <a:p>
            <a:pPr indent="0" lvl="0" marL="0" rtl="0" algn="l">
              <a:lnSpc>
                <a:spcPct val="115000"/>
              </a:lnSpc>
              <a:spcBef>
                <a:spcPts val="400"/>
              </a:spcBef>
              <a:spcAft>
                <a:spcPts val="0"/>
              </a:spcAft>
              <a:buNone/>
            </a:pPr>
            <a:r>
              <a:rPr lang="en-GB" sz="1400">
                <a:solidFill>
                  <a:schemeClr val="dk1"/>
                </a:solidFill>
              </a:rPr>
              <a:t>Two iterations flow at the same time: 1. For the Agile (Scrum teams) 2. Product Owner’s team. </a:t>
            </a:r>
            <a:endParaRPr sz="1400">
              <a:solidFill>
                <a:schemeClr val="dk1"/>
              </a:solidFill>
            </a:endParaRPr>
          </a:p>
          <a:p>
            <a:pPr indent="0" lvl="0" marL="0" rtl="0" algn="l">
              <a:lnSpc>
                <a:spcPct val="115000"/>
              </a:lnSpc>
              <a:spcBef>
                <a:spcPts val="400"/>
              </a:spcBef>
              <a:spcAft>
                <a:spcPts val="0"/>
              </a:spcAft>
              <a:buNone/>
            </a:pPr>
            <a:r>
              <a:rPr lang="en-GB" sz="1400">
                <a:solidFill>
                  <a:schemeClr val="dk1"/>
                </a:solidFill>
              </a:rPr>
              <a:t>In between the Epics are the mediators which works with both product owner and Scrum master. </a:t>
            </a:r>
            <a:endParaRPr sz="1400">
              <a:solidFill>
                <a:schemeClr val="dk1"/>
              </a:solidFill>
            </a:endParaRPr>
          </a:p>
          <a:p>
            <a:pPr indent="0" lvl="0" marL="0" rtl="0" algn="l">
              <a:lnSpc>
                <a:spcPct val="115000"/>
              </a:lnSpc>
              <a:spcBef>
                <a:spcPts val="400"/>
              </a:spcBef>
              <a:spcAft>
                <a:spcPts val="0"/>
              </a:spcAft>
              <a:buNone/>
            </a:pPr>
            <a:r>
              <a:rPr lang="en-GB" sz="1400">
                <a:solidFill>
                  <a:schemeClr val="dk1"/>
                </a:solidFill>
              </a:rPr>
              <a:t>Need for Scrum@Scale: </a:t>
            </a:r>
            <a:endParaRPr sz="1400">
              <a:solidFill>
                <a:schemeClr val="dk1"/>
              </a:solidFill>
            </a:endParaRPr>
          </a:p>
          <a:p>
            <a:pPr indent="-317500" lvl="0" marL="457200" rtl="0" algn="l">
              <a:lnSpc>
                <a:spcPct val="115000"/>
              </a:lnSpc>
              <a:spcBef>
                <a:spcPts val="400"/>
              </a:spcBef>
              <a:spcAft>
                <a:spcPts val="0"/>
              </a:spcAft>
              <a:buClr>
                <a:schemeClr val="dk1"/>
              </a:buClr>
              <a:buSzPts val="1400"/>
              <a:buAutoNum type="arabicPeriod"/>
            </a:pPr>
            <a:r>
              <a:rPr lang="en-GB" sz="1400">
                <a:solidFill>
                  <a:schemeClr val="dk1"/>
                </a:solidFill>
              </a:rPr>
              <a:t>Large projects require multiple Scrum teams.</a:t>
            </a:r>
            <a:endParaRPr sz="1400">
              <a:solidFill>
                <a:schemeClr val="dk1"/>
              </a:solidFill>
            </a:endParaRPr>
          </a:p>
          <a:p>
            <a:pPr indent="-317500" lvl="0" marL="457200" rtl="0" algn="l">
              <a:lnSpc>
                <a:spcPct val="115000"/>
              </a:lnSpc>
              <a:spcBef>
                <a:spcPts val="400"/>
              </a:spcBef>
              <a:spcAft>
                <a:spcPts val="0"/>
              </a:spcAft>
              <a:buClr>
                <a:schemeClr val="dk1"/>
              </a:buClr>
              <a:buSzPts val="1400"/>
              <a:buAutoNum type="arabicPeriod"/>
            </a:pPr>
            <a:r>
              <a:rPr lang="en-GB" sz="1400">
                <a:solidFill>
                  <a:schemeClr val="dk1"/>
                </a:solidFill>
              </a:rPr>
              <a:t>Teams need coordination and communication.</a:t>
            </a:r>
            <a:endParaRPr sz="1400">
              <a:solidFill>
                <a:schemeClr val="dk1"/>
              </a:solidFill>
            </a:endParaRPr>
          </a:p>
          <a:p>
            <a:pPr indent="-317500" lvl="0" marL="457200" rtl="0" algn="l">
              <a:lnSpc>
                <a:spcPct val="115000"/>
              </a:lnSpc>
              <a:spcBef>
                <a:spcPts val="400"/>
              </a:spcBef>
              <a:spcAft>
                <a:spcPts val="0"/>
              </a:spcAft>
              <a:buClr>
                <a:schemeClr val="dk1"/>
              </a:buClr>
              <a:buSzPts val="1400"/>
              <a:buAutoNum type="arabicPeriod"/>
            </a:pPr>
            <a:r>
              <a:rPr lang="en-GB" sz="1400">
                <a:solidFill>
                  <a:schemeClr val="dk1"/>
                </a:solidFill>
              </a:rPr>
              <a:t>Ensures alignment with organizational goals.</a:t>
            </a:r>
            <a:endParaRPr sz="1400">
              <a:solidFill>
                <a:schemeClr val="dk1"/>
              </a:solidFill>
            </a:endParaRPr>
          </a:p>
          <a:p>
            <a:pPr indent="-317500" lvl="0" marL="457200" rtl="0" algn="l">
              <a:lnSpc>
                <a:spcPct val="115000"/>
              </a:lnSpc>
              <a:spcBef>
                <a:spcPts val="400"/>
              </a:spcBef>
              <a:spcAft>
                <a:spcPts val="0"/>
              </a:spcAft>
              <a:buClr>
                <a:schemeClr val="dk1"/>
              </a:buClr>
              <a:buSzPts val="1400"/>
              <a:buAutoNum type="arabicPeriod"/>
            </a:pPr>
            <a:r>
              <a:rPr lang="en-GB" sz="1400">
                <a:solidFill>
                  <a:schemeClr val="dk1"/>
                </a:solidFill>
              </a:rPr>
              <a:t>Maintains Agile values at enterprise scale.</a:t>
            </a:r>
            <a:endParaRPr sz="1400">
              <a:solidFill>
                <a:schemeClr val="dk1"/>
              </a:solidFill>
            </a:endParaRPr>
          </a:p>
          <a:p>
            <a:pPr indent="0" lvl="0" marL="0" rtl="0" algn="l">
              <a:lnSpc>
                <a:spcPct val="115000"/>
              </a:lnSpc>
              <a:spcBef>
                <a:spcPts val="400"/>
              </a:spcBef>
              <a:spcAft>
                <a:spcPts val="400"/>
              </a:spcAft>
              <a:buNone/>
            </a:pPr>
            <a:r>
              <a:t/>
            </a:r>
            <a:endParaRPr sz="14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graphicFrame>
        <p:nvGraphicFramePr>
          <p:cNvPr id="235" name="Google Shape;235;p42"/>
          <p:cNvGraphicFramePr/>
          <p:nvPr/>
        </p:nvGraphicFramePr>
        <p:xfrm>
          <a:off x="502825" y="367175"/>
          <a:ext cx="3000000" cy="3000000"/>
        </p:xfrm>
        <a:graphic>
          <a:graphicData uri="http://schemas.openxmlformats.org/drawingml/2006/table">
            <a:tbl>
              <a:tblPr>
                <a:noFill/>
                <a:tableStyleId>{FDEA2727-71D2-4BB0-8E86-C92FB58CEFF3}</a:tableStyleId>
              </a:tblPr>
              <a:tblGrid>
                <a:gridCol w="1146450"/>
                <a:gridCol w="3336500"/>
                <a:gridCol w="3321800"/>
              </a:tblGrid>
              <a:tr h="532925">
                <a:tc>
                  <a:txBody>
                    <a:bodyPr/>
                    <a:lstStyle/>
                    <a:p>
                      <a:pPr indent="0" lvl="0" marL="0" rtl="0" algn="ctr">
                        <a:lnSpc>
                          <a:spcPct val="115000"/>
                        </a:lnSpc>
                        <a:spcBef>
                          <a:spcPts val="0"/>
                        </a:spcBef>
                        <a:spcAft>
                          <a:spcPts val="0"/>
                        </a:spcAft>
                        <a:buNone/>
                      </a:pPr>
                      <a:r>
                        <a:rPr lang="en-GB" sz="1800"/>
                        <a:t>Feature</a:t>
                      </a:r>
                      <a:endParaRPr sz="1800"/>
                    </a:p>
                  </a:txBody>
                  <a:tcPr marT="91425" marB="91425" marR="91425" marL="91425"/>
                </a:tc>
                <a:tc>
                  <a:txBody>
                    <a:bodyPr/>
                    <a:lstStyle/>
                    <a:p>
                      <a:pPr indent="0" lvl="0" marL="0" rtl="0" algn="ctr">
                        <a:lnSpc>
                          <a:spcPct val="115000"/>
                        </a:lnSpc>
                        <a:spcBef>
                          <a:spcPts val="0"/>
                        </a:spcBef>
                        <a:spcAft>
                          <a:spcPts val="0"/>
                        </a:spcAft>
                        <a:buNone/>
                      </a:pPr>
                      <a:r>
                        <a:rPr lang="en-GB" sz="1800"/>
                        <a:t>Scrum@Scale</a:t>
                      </a:r>
                      <a:endParaRPr sz="1800"/>
                    </a:p>
                  </a:txBody>
                  <a:tcPr marT="91425" marB="91425" marR="91425" marL="91425"/>
                </a:tc>
                <a:tc>
                  <a:txBody>
                    <a:bodyPr/>
                    <a:lstStyle/>
                    <a:p>
                      <a:pPr indent="0" lvl="0" marL="0" rtl="0" algn="ctr">
                        <a:lnSpc>
                          <a:spcPct val="115000"/>
                        </a:lnSpc>
                        <a:spcBef>
                          <a:spcPts val="0"/>
                        </a:spcBef>
                        <a:spcAft>
                          <a:spcPts val="0"/>
                        </a:spcAft>
                        <a:buNone/>
                      </a:pPr>
                      <a:r>
                        <a:rPr lang="en-GB" sz="1800"/>
                        <a:t>SAFe</a:t>
                      </a:r>
                      <a:endParaRPr sz="1800"/>
                    </a:p>
                  </a:txBody>
                  <a:tcPr marT="91425" marB="91425" marR="91425" marL="91425"/>
                </a:tc>
              </a:tr>
              <a:tr h="859250">
                <a:tc>
                  <a:txBody>
                    <a:bodyPr/>
                    <a:lstStyle/>
                    <a:p>
                      <a:pPr indent="0" lvl="0" marL="0" rtl="0" algn="l">
                        <a:spcBef>
                          <a:spcPts val="0"/>
                        </a:spcBef>
                        <a:spcAft>
                          <a:spcPts val="0"/>
                        </a:spcAft>
                        <a:buNone/>
                      </a:pPr>
                      <a:r>
                        <a:rPr lang="en-GB"/>
                        <a:t>Approach</a:t>
                      </a:r>
                      <a:endParaRPr/>
                    </a:p>
                  </a:txBody>
                  <a:tcPr marT="91425" marB="91425" marR="91425" marL="91425"/>
                </a:tc>
                <a:tc>
                  <a:txBody>
                    <a:bodyPr/>
                    <a:lstStyle/>
                    <a:p>
                      <a:pPr indent="0" lvl="0" marL="0" rtl="0" algn="l">
                        <a:spcBef>
                          <a:spcPts val="0"/>
                        </a:spcBef>
                        <a:spcAft>
                          <a:spcPts val="0"/>
                        </a:spcAft>
                        <a:buNone/>
                      </a:pPr>
                      <a:r>
                        <a:rPr lang="en-GB"/>
                        <a:t>Lightweight</a:t>
                      </a:r>
                      <a:endParaRPr/>
                    </a:p>
                  </a:txBody>
                  <a:tcPr marT="91425" marB="91425" marR="91425" marL="91425"/>
                </a:tc>
                <a:tc>
                  <a:txBody>
                    <a:bodyPr/>
                    <a:lstStyle/>
                    <a:p>
                      <a:pPr indent="0" lvl="0" marL="0" rtl="0" algn="l">
                        <a:spcBef>
                          <a:spcPts val="0"/>
                        </a:spcBef>
                        <a:spcAft>
                          <a:spcPts val="0"/>
                        </a:spcAft>
                        <a:buNone/>
                      </a:pPr>
                      <a:r>
                        <a:rPr lang="en-GB"/>
                        <a:t>Structured &amp; Comprehensive</a:t>
                      </a:r>
                      <a:endParaRPr/>
                    </a:p>
                  </a:txBody>
                  <a:tcPr marT="91425" marB="91425" marR="91425" marL="91425"/>
                </a:tc>
              </a:tr>
              <a:tr h="560125">
                <a:tc>
                  <a:txBody>
                    <a:bodyPr/>
                    <a:lstStyle/>
                    <a:p>
                      <a:pPr indent="0" lvl="0" marL="0" rtl="0" algn="l">
                        <a:spcBef>
                          <a:spcPts val="0"/>
                        </a:spcBef>
                        <a:spcAft>
                          <a:spcPts val="0"/>
                        </a:spcAft>
                        <a:buNone/>
                      </a:pPr>
                      <a:r>
                        <a:rPr lang="en-GB"/>
                        <a:t>Focus</a:t>
                      </a:r>
                      <a:endParaRPr/>
                    </a:p>
                  </a:txBody>
                  <a:tcPr marT="91425" marB="91425" marR="91425" marL="91425"/>
                </a:tc>
                <a:tc>
                  <a:txBody>
                    <a:bodyPr/>
                    <a:lstStyle/>
                    <a:p>
                      <a:pPr indent="0" lvl="0" marL="0" rtl="0" algn="l">
                        <a:spcBef>
                          <a:spcPts val="0"/>
                        </a:spcBef>
                        <a:spcAft>
                          <a:spcPts val="0"/>
                        </a:spcAft>
                        <a:buNone/>
                      </a:pPr>
                      <a:r>
                        <a:rPr lang="en-GB"/>
                        <a:t>Scrum-based scaling</a:t>
                      </a:r>
                      <a:endParaRPr/>
                    </a:p>
                  </a:txBody>
                  <a:tcPr marT="91425" marB="91425" marR="91425" marL="91425"/>
                </a:tc>
                <a:tc>
                  <a:txBody>
                    <a:bodyPr/>
                    <a:lstStyle/>
                    <a:p>
                      <a:pPr indent="0" lvl="0" marL="0" rtl="0" algn="l">
                        <a:spcBef>
                          <a:spcPts val="0"/>
                        </a:spcBef>
                        <a:spcAft>
                          <a:spcPts val="0"/>
                        </a:spcAft>
                        <a:buNone/>
                      </a:pPr>
                      <a:r>
                        <a:rPr lang="en-GB"/>
                        <a:t>Agile + Lean + DevOps</a:t>
                      </a:r>
                      <a:endParaRPr/>
                    </a:p>
                  </a:txBody>
                  <a:tcPr marT="91425" marB="91425" marR="91425" marL="91425"/>
                </a:tc>
              </a:tr>
              <a:tr h="859250">
                <a:tc>
                  <a:txBody>
                    <a:bodyPr/>
                    <a:lstStyle/>
                    <a:p>
                      <a:pPr indent="0" lvl="0" marL="0" rtl="0" algn="l">
                        <a:spcBef>
                          <a:spcPts val="0"/>
                        </a:spcBef>
                        <a:spcAft>
                          <a:spcPts val="0"/>
                        </a:spcAft>
                        <a:buNone/>
                      </a:pPr>
                      <a:r>
                        <a:rPr lang="en-GB"/>
                        <a:t>Complexity</a:t>
                      </a:r>
                      <a:endParaRPr/>
                    </a:p>
                  </a:txBody>
                  <a:tcPr marT="91425" marB="91425" marR="91425" marL="91425"/>
                </a:tc>
                <a:tc>
                  <a:txBody>
                    <a:bodyPr/>
                    <a:lstStyle/>
                    <a:p>
                      <a:pPr indent="0" lvl="0" marL="0" rtl="0" algn="l">
                        <a:spcBef>
                          <a:spcPts val="0"/>
                        </a:spcBef>
                        <a:spcAft>
                          <a:spcPts val="0"/>
                        </a:spcAft>
                        <a:buNone/>
                      </a:pPr>
                      <a:r>
                        <a:rPr lang="en-GB"/>
                        <a:t>Simple</a:t>
                      </a:r>
                      <a:endParaRPr/>
                    </a:p>
                  </a:txBody>
                  <a:tcPr marT="91425" marB="91425" marR="91425" marL="91425"/>
                </a:tc>
                <a:tc>
                  <a:txBody>
                    <a:bodyPr/>
                    <a:lstStyle/>
                    <a:p>
                      <a:pPr indent="0" lvl="0" marL="0" rtl="0" algn="l">
                        <a:spcBef>
                          <a:spcPts val="0"/>
                        </a:spcBef>
                        <a:spcAft>
                          <a:spcPts val="0"/>
                        </a:spcAft>
                        <a:buNone/>
                      </a:pPr>
                      <a:r>
                        <a:rPr lang="en-GB"/>
                        <a:t>More complex</a:t>
                      </a:r>
                      <a:endParaRPr/>
                    </a:p>
                  </a:txBody>
                  <a:tcPr marT="91425" marB="91425" marR="91425" marL="91425"/>
                </a:tc>
              </a:tr>
              <a:tr h="859250">
                <a:tc>
                  <a:txBody>
                    <a:bodyPr/>
                    <a:lstStyle/>
                    <a:p>
                      <a:pPr indent="0" lvl="0" marL="0" rtl="0" algn="l">
                        <a:spcBef>
                          <a:spcPts val="0"/>
                        </a:spcBef>
                        <a:spcAft>
                          <a:spcPts val="0"/>
                        </a:spcAft>
                        <a:buNone/>
                      </a:pPr>
                      <a:r>
                        <a:rPr lang="en-GB"/>
                        <a:t>Roles</a:t>
                      </a:r>
                      <a:endParaRPr/>
                    </a:p>
                  </a:txBody>
                  <a:tcPr marT="91425" marB="91425" marR="91425" marL="91425"/>
                </a:tc>
                <a:tc>
                  <a:txBody>
                    <a:bodyPr/>
                    <a:lstStyle/>
                    <a:p>
                      <a:pPr indent="0" lvl="0" marL="0" rtl="0" algn="l">
                        <a:spcBef>
                          <a:spcPts val="0"/>
                        </a:spcBef>
                        <a:spcAft>
                          <a:spcPts val="0"/>
                        </a:spcAft>
                        <a:buNone/>
                      </a:pPr>
                      <a:r>
                        <a:rPr lang="en-GB"/>
                        <a:t>Fewer additional roles</a:t>
                      </a:r>
                      <a:endParaRPr/>
                    </a:p>
                  </a:txBody>
                  <a:tcPr marT="91425" marB="91425" marR="91425" marL="91425"/>
                </a:tc>
                <a:tc>
                  <a:txBody>
                    <a:bodyPr/>
                    <a:lstStyle/>
                    <a:p>
                      <a:pPr indent="0" lvl="0" marL="0" rtl="0" algn="l">
                        <a:spcBef>
                          <a:spcPts val="0"/>
                        </a:spcBef>
                        <a:spcAft>
                          <a:spcPts val="0"/>
                        </a:spcAft>
                        <a:buNone/>
                      </a:pPr>
                      <a:r>
                        <a:rPr lang="en-GB"/>
                        <a:t>Multiple specialized roles</a:t>
                      </a:r>
                      <a:endParaRPr/>
                    </a:p>
                  </a:txBody>
                  <a:tcPr marT="91425" marB="91425" marR="91425" marL="91425"/>
                </a:tc>
              </a:tr>
              <a:tr h="859250">
                <a:tc>
                  <a:txBody>
                    <a:bodyPr/>
                    <a:lstStyle/>
                    <a:p>
                      <a:pPr indent="0" lvl="0" marL="0" rtl="0" algn="l">
                        <a:spcBef>
                          <a:spcPts val="0"/>
                        </a:spcBef>
                        <a:spcAft>
                          <a:spcPts val="0"/>
                        </a:spcAft>
                        <a:buNone/>
                      </a:pPr>
                      <a:r>
                        <a:rPr lang="en-GB"/>
                        <a:t>Best For</a:t>
                      </a:r>
                      <a:endParaRPr/>
                    </a:p>
                  </a:txBody>
                  <a:tcPr marT="91425" marB="91425" marR="91425" marL="91425"/>
                </a:tc>
                <a:tc>
                  <a:txBody>
                    <a:bodyPr/>
                    <a:lstStyle/>
                    <a:p>
                      <a:pPr indent="0" lvl="0" marL="0" rtl="0" algn="l">
                        <a:spcBef>
                          <a:spcPts val="0"/>
                        </a:spcBef>
                        <a:spcAft>
                          <a:spcPts val="0"/>
                        </a:spcAft>
                        <a:buNone/>
                      </a:pPr>
                      <a:r>
                        <a:rPr lang="en-GB"/>
                        <a:t>Organizations already using Scrum</a:t>
                      </a:r>
                      <a:endParaRPr/>
                    </a:p>
                  </a:txBody>
                  <a:tcPr marT="91425" marB="91425" marR="91425" marL="91425"/>
                </a:tc>
                <a:tc>
                  <a:txBody>
                    <a:bodyPr/>
                    <a:lstStyle/>
                    <a:p>
                      <a:pPr indent="0" lvl="0" marL="0" rtl="0" algn="l">
                        <a:spcBef>
                          <a:spcPts val="0"/>
                        </a:spcBef>
                        <a:spcAft>
                          <a:spcPts val="0"/>
                        </a:spcAft>
                        <a:buNone/>
                      </a:pPr>
                      <a:r>
                        <a:rPr lang="en-GB"/>
                        <a:t>Large enterprises with many teams</a:t>
                      </a:r>
                      <a:endParaRPr/>
                    </a:p>
                  </a:txBody>
                  <a:tcPr marT="91425" marB="91425" marR="91425" marL="91425"/>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3"/>
          <p:cNvSpPr txBox="1"/>
          <p:nvPr>
            <p:ph type="title"/>
          </p:nvPr>
        </p:nvSpPr>
        <p:spPr>
          <a:xfrm>
            <a:off x="104075" y="237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Agile Forecasting and Project Management</a:t>
            </a:r>
            <a:endParaRPr/>
          </a:p>
        </p:txBody>
      </p:sp>
      <p:sp>
        <p:nvSpPr>
          <p:cNvPr id="241" name="Google Shape;241;p43"/>
          <p:cNvSpPr txBox="1"/>
          <p:nvPr>
            <p:ph idx="1" type="body"/>
          </p:nvPr>
        </p:nvSpPr>
        <p:spPr>
          <a:xfrm>
            <a:off x="54300" y="810100"/>
            <a:ext cx="9144000" cy="4333200"/>
          </a:xfrm>
          <a:prstGeom prst="rect">
            <a:avLst/>
          </a:prstGeom>
        </p:spPr>
        <p:txBody>
          <a:bodyPr anchorCtr="0" anchor="t" bIns="91425" lIns="91425" spcFirstLastPara="1" rIns="91425" wrap="square" tIns="91425">
            <a:normAutofit fontScale="62500" lnSpcReduction="20000"/>
          </a:bodyPr>
          <a:lstStyle/>
          <a:p>
            <a:pPr indent="0" lvl="0" marL="0" rtl="0" algn="just">
              <a:lnSpc>
                <a:spcPct val="150000"/>
              </a:lnSpc>
              <a:spcBef>
                <a:spcPts val="0"/>
              </a:spcBef>
              <a:spcAft>
                <a:spcPts val="0"/>
              </a:spcAft>
              <a:buNone/>
            </a:pPr>
            <a:r>
              <a:rPr lang="en-GB">
                <a:solidFill>
                  <a:schemeClr val="dk1"/>
                </a:solidFill>
              </a:rPr>
              <a:t>Agile Project Management is a modern project management approach that focuses on delivering value incrementally through short development cycles known as iterations or sprints. Unlike traditional project management methods where all requirements are gathered upfront, Agile embraces changing requirements and continuous customer feedback.</a:t>
            </a:r>
            <a:endParaRPr>
              <a:solidFill>
                <a:schemeClr val="dk1"/>
              </a:solidFill>
            </a:endParaRPr>
          </a:p>
          <a:p>
            <a:pPr indent="0" lvl="0" marL="0" rtl="0" algn="just">
              <a:lnSpc>
                <a:spcPct val="150000"/>
              </a:lnSpc>
              <a:spcBef>
                <a:spcPts val="1200"/>
              </a:spcBef>
              <a:spcAft>
                <a:spcPts val="0"/>
              </a:spcAft>
              <a:buNone/>
            </a:pPr>
            <a:r>
              <a:rPr lang="en-GB">
                <a:solidFill>
                  <a:schemeClr val="dk1"/>
                </a:solidFill>
              </a:rPr>
              <a:t>Characteristics of Agile Project Management</a:t>
            </a:r>
            <a:endParaRPr>
              <a:solidFill>
                <a:schemeClr val="dk1"/>
              </a:solidFill>
            </a:endParaRPr>
          </a:p>
          <a:p>
            <a:pPr indent="-300038" lvl="0" marL="457200" rtl="0" algn="just">
              <a:lnSpc>
                <a:spcPct val="150000"/>
              </a:lnSpc>
              <a:spcBef>
                <a:spcPts val="1200"/>
              </a:spcBef>
              <a:spcAft>
                <a:spcPts val="0"/>
              </a:spcAft>
              <a:buClr>
                <a:schemeClr val="dk1"/>
              </a:buClr>
              <a:buSzPct val="100000"/>
              <a:buChar char="●"/>
            </a:pPr>
            <a:r>
              <a:rPr lang="en-GB">
                <a:solidFill>
                  <a:schemeClr val="dk1"/>
                </a:solidFill>
              </a:rPr>
              <a:t>Iterative and Incremental Development</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Customer Collaboration</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Continuous Feedback</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Adaptive Planning</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Self-organizing Teams</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Frequent Delivery of Working Software</a:t>
            </a:r>
            <a:endParaRPr>
              <a:solidFill>
                <a:schemeClr val="dk1"/>
              </a:solidFill>
            </a:endParaRPr>
          </a:p>
          <a:p>
            <a:pPr indent="0" lvl="0" marL="0" rtl="0" algn="just">
              <a:lnSpc>
                <a:spcPct val="150000"/>
              </a:lnSpc>
              <a:spcBef>
                <a:spcPts val="1200"/>
              </a:spcBef>
              <a:spcAft>
                <a:spcPts val="0"/>
              </a:spcAft>
              <a:buNone/>
            </a:pPr>
            <a:r>
              <a:rPr lang="en-GB">
                <a:solidFill>
                  <a:schemeClr val="dk1"/>
                </a:solidFill>
              </a:rPr>
              <a:t>Forecasting in Agile helps organizations predict:</a:t>
            </a:r>
            <a:endParaRPr>
              <a:solidFill>
                <a:schemeClr val="dk1"/>
              </a:solidFill>
            </a:endParaRPr>
          </a:p>
          <a:p>
            <a:pPr indent="-300038" lvl="0" marL="457200" rtl="0" algn="just">
              <a:lnSpc>
                <a:spcPct val="150000"/>
              </a:lnSpc>
              <a:spcBef>
                <a:spcPts val="1200"/>
              </a:spcBef>
              <a:spcAft>
                <a:spcPts val="0"/>
              </a:spcAft>
              <a:buClr>
                <a:schemeClr val="dk1"/>
              </a:buClr>
              <a:buSzPct val="100000"/>
              <a:buChar char="●"/>
            </a:pPr>
            <a:r>
              <a:rPr lang="en-GB">
                <a:solidFill>
                  <a:schemeClr val="dk1"/>
                </a:solidFill>
              </a:rPr>
              <a:t>Project completion dates</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Required resources</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Release schedules</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Budget utilization</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Product delivery timelines</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44"/>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Big Visible Information Radiators</a:t>
            </a:r>
            <a:endParaRPr/>
          </a:p>
        </p:txBody>
      </p:sp>
      <p:sp>
        <p:nvSpPr>
          <p:cNvPr id="247" name="Google Shape;247;p44"/>
          <p:cNvSpPr txBox="1"/>
          <p:nvPr>
            <p:ph idx="1" type="body"/>
          </p:nvPr>
        </p:nvSpPr>
        <p:spPr>
          <a:xfrm>
            <a:off x="44875" y="529050"/>
            <a:ext cx="9099000" cy="4426200"/>
          </a:xfrm>
          <a:prstGeom prst="rect">
            <a:avLst/>
          </a:prstGeom>
        </p:spPr>
        <p:txBody>
          <a:bodyPr anchorCtr="0" anchor="t" bIns="91425" lIns="91425" spcFirstLastPara="1" rIns="91425" wrap="square" tIns="91425">
            <a:normAutofit fontScale="77500" lnSpcReduction="20000"/>
          </a:bodyPr>
          <a:lstStyle/>
          <a:p>
            <a:pPr indent="-317183" lvl="0" marL="457200" rtl="0" algn="just">
              <a:lnSpc>
                <a:spcPct val="150000"/>
              </a:lnSpc>
              <a:spcBef>
                <a:spcPts val="0"/>
              </a:spcBef>
              <a:spcAft>
                <a:spcPts val="0"/>
              </a:spcAft>
              <a:buClr>
                <a:schemeClr val="dk1"/>
              </a:buClr>
              <a:buSzPct val="100000"/>
              <a:buChar char="●"/>
            </a:pPr>
            <a:r>
              <a:rPr lang="en-GB">
                <a:solidFill>
                  <a:schemeClr val="dk1"/>
                </a:solidFill>
              </a:rPr>
              <a:t>Big Visible Information Radiator (BVIR) is a term that was first coined by Alistair Cockburn in his book, Agile Software Development. The term was used to describe a physical display of project information that is visible to everyone in the team.</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The idea behind the BVIR was to provide a way for teams to quickly and easily access project information, such as progress, tasks, and goals, without having to search through multiple documents or systems. The BVIR was designed to be a central hub of information that could be easily accessed and updated by the team. The BVIR was also intended to be a visual representation of the project, allowing teams to quickly identify areas of progress and areas that need improvement.</a:t>
            </a:r>
            <a:endParaRPr>
              <a:solidFill>
                <a:schemeClr val="dk1"/>
              </a:solidFill>
            </a:endParaRPr>
          </a:p>
          <a:p>
            <a:pPr indent="0" lvl="0" marL="0" rtl="0" algn="just">
              <a:lnSpc>
                <a:spcPct val="150000"/>
              </a:lnSpc>
              <a:spcBef>
                <a:spcPts val="1200"/>
              </a:spcBef>
              <a:spcAft>
                <a:spcPts val="0"/>
              </a:spcAft>
              <a:buNone/>
            </a:pPr>
            <a:r>
              <a:rPr lang="en-GB">
                <a:solidFill>
                  <a:schemeClr val="dk1"/>
                </a:solidFill>
              </a:rPr>
              <a:t>Characteristics</a:t>
            </a:r>
            <a:endParaRPr>
              <a:solidFill>
                <a:schemeClr val="dk1"/>
              </a:solidFill>
            </a:endParaRPr>
          </a:p>
          <a:p>
            <a:pPr indent="-317183" lvl="0" marL="457200" rtl="0" algn="just">
              <a:lnSpc>
                <a:spcPct val="150000"/>
              </a:lnSpc>
              <a:spcBef>
                <a:spcPts val="1200"/>
              </a:spcBef>
              <a:spcAft>
                <a:spcPts val="0"/>
              </a:spcAft>
              <a:buClr>
                <a:schemeClr val="dk1"/>
              </a:buClr>
              <a:buSzPct val="100000"/>
              <a:buChar char="●"/>
            </a:pPr>
            <a:r>
              <a:rPr lang="en-GB">
                <a:solidFill>
                  <a:schemeClr val="dk1"/>
                </a:solidFill>
              </a:rPr>
              <a:t>Easily visible to everyone</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Updated frequently</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Displays current project status</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Encourages collaboration</a:t>
            </a:r>
            <a:endParaRPr>
              <a:solidFill>
                <a:schemeClr val="dk1"/>
              </a:solidFill>
            </a:endParaRPr>
          </a:p>
          <a:p>
            <a:pPr indent="-317183" lvl="0" marL="457200" rtl="0" algn="just">
              <a:lnSpc>
                <a:spcPct val="150000"/>
              </a:lnSpc>
              <a:spcBef>
                <a:spcPts val="0"/>
              </a:spcBef>
              <a:spcAft>
                <a:spcPts val="0"/>
              </a:spcAft>
              <a:buClr>
                <a:schemeClr val="dk1"/>
              </a:buClr>
              <a:buSzPct val="100000"/>
              <a:buChar char="●"/>
            </a:pPr>
            <a:r>
              <a:rPr lang="en-GB">
                <a:solidFill>
                  <a:schemeClr val="dk1"/>
                </a:solidFill>
              </a:rPr>
              <a:t>Reduces unnecessary meetings</a:t>
            </a:r>
            <a:endParaRPr>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5"/>
          <p:cNvSpPr txBox="1"/>
          <p:nvPr>
            <p:ph idx="1" type="body"/>
          </p:nvPr>
        </p:nvSpPr>
        <p:spPr>
          <a:xfrm>
            <a:off x="311700" y="123250"/>
            <a:ext cx="8520600" cy="44457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0"/>
              </a:spcAft>
              <a:buNone/>
            </a:pPr>
            <a:r>
              <a:rPr lang="en-GB">
                <a:solidFill>
                  <a:schemeClr val="dk1"/>
                </a:solidFill>
              </a:rPr>
              <a:t>Types of Information Radiators</a:t>
            </a:r>
            <a:endParaRPr>
              <a:solidFill>
                <a:schemeClr val="dk1"/>
              </a:solidFill>
            </a:endParaRPr>
          </a:p>
          <a:p>
            <a:pPr indent="-342900" lvl="0" marL="457200" rtl="0" algn="just">
              <a:lnSpc>
                <a:spcPct val="150000"/>
              </a:lnSpc>
              <a:spcBef>
                <a:spcPts val="1200"/>
              </a:spcBef>
              <a:spcAft>
                <a:spcPts val="0"/>
              </a:spcAft>
              <a:buClr>
                <a:schemeClr val="dk1"/>
              </a:buClr>
              <a:buSzPts val="1800"/>
              <a:buChar char="●"/>
            </a:pPr>
            <a:r>
              <a:rPr b="1" lang="en-GB">
                <a:solidFill>
                  <a:schemeClr val="dk1"/>
                </a:solidFill>
              </a:rPr>
              <a:t>Task Board (Kanban Board): </a:t>
            </a:r>
            <a:r>
              <a:rPr lang="en-GB">
                <a:solidFill>
                  <a:schemeClr val="dk1"/>
                </a:solidFill>
              </a:rPr>
              <a:t>Displays tasks in different stages of completion.</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rPr b="1" lang="en-GB">
                <a:solidFill>
                  <a:schemeClr val="dk1"/>
                </a:solidFill>
              </a:rPr>
              <a:t>Sprint Burndown Chart:</a:t>
            </a:r>
            <a:r>
              <a:rPr lang="en-GB">
                <a:solidFill>
                  <a:schemeClr val="dk1"/>
                </a:solidFill>
              </a:rPr>
              <a:t> Shows remaining work versus time to Monitor sprint progress and Identify delays early.</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rPr b="1" lang="en-GB">
                <a:solidFill>
                  <a:schemeClr val="dk1"/>
                </a:solidFill>
              </a:rPr>
              <a:t>Velocity Chart:</a:t>
            </a:r>
            <a:r>
              <a:rPr lang="en-GB">
                <a:solidFill>
                  <a:schemeClr val="dk1"/>
                </a:solidFill>
              </a:rPr>
              <a:t> Displays story points completed during previous sprints to Forecast future work and Analyze team performance.</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rPr b="1" lang="en-GB">
                <a:solidFill>
                  <a:schemeClr val="dk1"/>
                </a:solidFill>
              </a:rPr>
              <a:t>Release Burnup Chart:</a:t>
            </a:r>
            <a:r>
              <a:rPr lang="en-GB">
                <a:solidFill>
                  <a:schemeClr val="dk1"/>
                </a:solidFill>
              </a:rPr>
              <a:t> Shows cumulative completed work against total project scope. It will Promotes transparency, Improves communication, Supports quick decision-making, and Enhances team accountability</a:t>
            </a:r>
            <a:endParaRPr>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6"/>
          <p:cNvSpPr txBox="1"/>
          <p:nvPr>
            <p:ph type="title"/>
          </p:nvPr>
        </p:nvSpPr>
        <p:spPr>
          <a:xfrm>
            <a:off x="-4695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Velocity</a:t>
            </a:r>
            <a:endParaRPr/>
          </a:p>
        </p:txBody>
      </p:sp>
      <p:sp>
        <p:nvSpPr>
          <p:cNvPr id="258" name="Google Shape;258;p46"/>
          <p:cNvSpPr txBox="1"/>
          <p:nvPr>
            <p:ph idx="1" type="body"/>
          </p:nvPr>
        </p:nvSpPr>
        <p:spPr>
          <a:xfrm>
            <a:off x="44875" y="481875"/>
            <a:ext cx="9144000" cy="4661700"/>
          </a:xfrm>
          <a:prstGeom prst="rect">
            <a:avLst/>
          </a:prstGeom>
        </p:spPr>
        <p:txBody>
          <a:bodyPr anchorCtr="0" anchor="t" bIns="91425" lIns="91425" spcFirstLastPara="1" rIns="91425" wrap="square" tIns="91425">
            <a:normAutofit fontScale="85000" lnSpcReduction="20000"/>
          </a:bodyPr>
          <a:lstStyle/>
          <a:p>
            <a:pPr indent="-325755" lvl="0" marL="457200" rtl="0" algn="just">
              <a:lnSpc>
                <a:spcPct val="150000"/>
              </a:lnSpc>
              <a:spcBef>
                <a:spcPts val="0"/>
              </a:spcBef>
              <a:spcAft>
                <a:spcPts val="0"/>
              </a:spcAft>
              <a:buClr>
                <a:schemeClr val="dk1"/>
              </a:buClr>
              <a:buSzPct val="100000"/>
              <a:buChar char="●"/>
            </a:pPr>
            <a:r>
              <a:rPr lang="en-GB">
                <a:solidFill>
                  <a:schemeClr val="dk1"/>
                </a:solidFill>
              </a:rPr>
              <a:t>Sprint velocity is a speedometer for your Agile project, providing unparalleled insight into the work capacity of your Agile and software development teams.</a:t>
            </a:r>
            <a:endParaRPr>
              <a:solidFill>
                <a:schemeClr val="dk1"/>
              </a:solidFill>
            </a:endParaRPr>
          </a:p>
          <a:p>
            <a:pPr indent="-325755" lvl="0" marL="457200" rtl="0" algn="just">
              <a:lnSpc>
                <a:spcPct val="150000"/>
              </a:lnSpc>
              <a:spcBef>
                <a:spcPts val="0"/>
              </a:spcBef>
              <a:spcAft>
                <a:spcPts val="0"/>
              </a:spcAft>
              <a:buClr>
                <a:schemeClr val="dk1"/>
              </a:buClr>
              <a:buSzPct val="100000"/>
              <a:buChar char="●"/>
            </a:pPr>
            <a:r>
              <a:rPr lang="en-GB">
                <a:solidFill>
                  <a:schemeClr val="dk1"/>
                </a:solidFill>
              </a:rPr>
              <a:t>By tracking the amount of work a team completes in each sprint, velocity helps teams set realistic goals and forecast future progress. Understanding sprint velocity empowers teams to plan more effectively, identify bottlenecks early, and continuously improve their delivery process.</a:t>
            </a:r>
            <a:endParaRPr>
              <a:solidFill>
                <a:schemeClr val="dk1"/>
              </a:solidFill>
            </a:endParaRPr>
          </a:p>
          <a:p>
            <a:pPr indent="0" lvl="0" marL="0" rtl="0" algn="just">
              <a:lnSpc>
                <a:spcPct val="150000"/>
              </a:lnSpc>
              <a:spcBef>
                <a:spcPts val="1200"/>
              </a:spcBef>
              <a:spcAft>
                <a:spcPts val="0"/>
              </a:spcAft>
              <a:buNone/>
            </a:pPr>
            <a:r>
              <a:rPr lang="en-GB">
                <a:solidFill>
                  <a:schemeClr val="dk1"/>
                </a:solidFill>
              </a:rPr>
              <a:t>How to Calculate Velocity in Agile?</a:t>
            </a:r>
            <a:endParaRPr>
              <a:solidFill>
                <a:schemeClr val="dk1"/>
              </a:solidFill>
            </a:endParaRPr>
          </a:p>
          <a:p>
            <a:pPr indent="-325755" lvl="0" marL="457200" rtl="0" algn="just">
              <a:lnSpc>
                <a:spcPct val="150000"/>
              </a:lnSpc>
              <a:spcBef>
                <a:spcPts val="1200"/>
              </a:spcBef>
              <a:spcAft>
                <a:spcPts val="0"/>
              </a:spcAft>
              <a:buClr>
                <a:schemeClr val="dk1"/>
              </a:buClr>
              <a:buSzPct val="100000"/>
              <a:buChar char="●"/>
            </a:pPr>
            <a:r>
              <a:rPr b="1" lang="en-GB">
                <a:solidFill>
                  <a:schemeClr val="dk1"/>
                </a:solidFill>
              </a:rPr>
              <a:t>Choose a Time Frame:</a:t>
            </a:r>
            <a:r>
              <a:rPr lang="en-GB">
                <a:solidFill>
                  <a:schemeClr val="dk1"/>
                </a:solidFill>
              </a:rPr>
              <a:t> You must choose a particular sprint duration for your calculation because velocity is usually determined for each sprint.</a:t>
            </a:r>
            <a:endParaRPr>
              <a:solidFill>
                <a:schemeClr val="dk1"/>
              </a:solidFill>
            </a:endParaRPr>
          </a:p>
          <a:p>
            <a:pPr indent="-325755" lvl="0" marL="457200" rtl="0" algn="just">
              <a:lnSpc>
                <a:spcPct val="150000"/>
              </a:lnSpc>
              <a:spcBef>
                <a:spcPts val="0"/>
              </a:spcBef>
              <a:spcAft>
                <a:spcPts val="0"/>
              </a:spcAft>
              <a:buClr>
                <a:schemeClr val="dk1"/>
              </a:buClr>
              <a:buSzPct val="100000"/>
              <a:buChar char="●"/>
            </a:pPr>
            <a:r>
              <a:rPr b="1" lang="en-GB">
                <a:solidFill>
                  <a:schemeClr val="dk1"/>
                </a:solidFill>
              </a:rPr>
              <a:t>Identify Completed Work:</a:t>
            </a:r>
            <a:r>
              <a:rPr lang="en-GB">
                <a:solidFill>
                  <a:schemeClr val="dk1"/>
                </a:solidFill>
              </a:rPr>
              <a:t> Examine the completed tasks or user stories from the sprint. These should to be tasks that were initiated and completed throughout the sprint period.</a:t>
            </a:r>
            <a:endParaRPr>
              <a:solidFill>
                <a:schemeClr val="dk1"/>
              </a:solidFill>
            </a:endParaRPr>
          </a:p>
          <a:p>
            <a:pPr indent="-325755" lvl="0" marL="457200" rtl="0" algn="just">
              <a:lnSpc>
                <a:spcPct val="150000"/>
              </a:lnSpc>
              <a:spcBef>
                <a:spcPts val="0"/>
              </a:spcBef>
              <a:spcAft>
                <a:spcPts val="0"/>
              </a:spcAft>
              <a:buClr>
                <a:schemeClr val="dk1"/>
              </a:buClr>
              <a:buSzPct val="100000"/>
              <a:buChar char="●"/>
            </a:pPr>
            <a:r>
              <a:rPr b="1" lang="en-GB">
                <a:solidFill>
                  <a:schemeClr val="dk1"/>
                </a:solidFill>
              </a:rPr>
              <a:t>Assign Story Points:</a:t>
            </a:r>
            <a:r>
              <a:rPr lang="en-GB">
                <a:solidFill>
                  <a:schemeClr val="dk1"/>
                </a:solidFill>
              </a:rPr>
              <a:t> Give each completed user story or task, or some other measurement. The relative difficulty or effort needed for each item is indicated by the story points.</a:t>
            </a:r>
            <a:endParaRPr>
              <a:solidFill>
                <a:schemeClr val="dk1"/>
              </a:solidFill>
            </a:endParaRPr>
          </a:p>
          <a:p>
            <a:pPr indent="0" lvl="0" marL="0" rtl="0" algn="just">
              <a:lnSpc>
                <a:spcPct val="150000"/>
              </a:lnSpc>
              <a:spcBef>
                <a:spcPts val="1200"/>
              </a:spcBef>
              <a:spcAft>
                <a:spcPts val="1200"/>
              </a:spcAft>
              <a:buNone/>
            </a:pPr>
            <a:r>
              <a:t/>
            </a:r>
            <a:endParaRPr>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64" name="Google Shape;264;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lnSpc>
                <a:spcPct val="150000"/>
              </a:lnSpc>
              <a:spcBef>
                <a:spcPts val="0"/>
              </a:spcBef>
              <a:spcAft>
                <a:spcPts val="0"/>
              </a:spcAft>
              <a:buClr>
                <a:schemeClr val="dk1"/>
              </a:buClr>
              <a:buSzPts val="1800"/>
              <a:buChar char="●"/>
            </a:pPr>
            <a:r>
              <a:rPr b="1" lang="en-GB">
                <a:solidFill>
                  <a:schemeClr val="dk1"/>
                </a:solidFill>
              </a:rPr>
              <a:t>Sum the Points:</a:t>
            </a:r>
            <a:r>
              <a:rPr lang="en-GB">
                <a:solidFill>
                  <a:schemeClr val="dk1"/>
                </a:solidFill>
              </a:rPr>
              <a:t> Add up the total number of story points completed by the team during the sprint.</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rPr b="1" lang="en-GB">
                <a:solidFill>
                  <a:schemeClr val="dk1"/>
                </a:solidFill>
              </a:rPr>
              <a:t>Velocity = Total story points completed in a sprint /  Number of sprints</a:t>
            </a:r>
            <a:endParaRPr>
              <a:solidFill>
                <a:schemeClr val="dk1"/>
              </a:solidFill>
            </a:endParaRPr>
          </a:p>
          <a:p>
            <a:pPr indent="0" lvl="0" marL="0" rtl="0" algn="just">
              <a:lnSpc>
                <a:spcPct val="150000"/>
              </a:lnSpc>
              <a:spcBef>
                <a:spcPts val="1200"/>
              </a:spcBef>
              <a:spcAft>
                <a:spcPts val="0"/>
              </a:spcAft>
              <a:buClr>
                <a:schemeClr val="dk1"/>
              </a:buClr>
              <a:buSzPts val="1100"/>
              <a:buFont typeface="Arial"/>
              <a:buNone/>
            </a:pPr>
            <a:r>
              <a:rPr b="1" lang="en-GB">
                <a:solidFill>
                  <a:schemeClr val="dk1"/>
                </a:solidFill>
              </a:rPr>
              <a:t>Factors Affecting Velocity:</a:t>
            </a:r>
            <a:r>
              <a:rPr lang="en-GB">
                <a:solidFill>
                  <a:schemeClr val="dk1"/>
                </a:solidFill>
              </a:rPr>
              <a:t> Team experience, Technical complexity, Requirement changes, Team size, Technical debt, Availability of resources</a:t>
            </a:r>
            <a:endParaRPr>
              <a:solidFill>
                <a:schemeClr val="dk1"/>
              </a:solidFill>
            </a:endParaRPr>
          </a:p>
          <a:p>
            <a:pPr indent="0" lvl="0" marL="0" rtl="0" algn="just">
              <a:lnSpc>
                <a:spcPct val="150000"/>
              </a:lnSpc>
              <a:spcBef>
                <a:spcPts val="1200"/>
              </a:spcBef>
              <a:spcAft>
                <a:spcPts val="1200"/>
              </a:spcAft>
              <a:buClr>
                <a:schemeClr val="dk1"/>
              </a:buClr>
              <a:buSzPts val="1100"/>
              <a:buFont typeface="Arial"/>
              <a:buNone/>
            </a:pPr>
            <a:r>
              <a:rPr b="1" lang="en-GB">
                <a:solidFill>
                  <a:schemeClr val="dk1"/>
                </a:solidFill>
              </a:rPr>
              <a:t>Benefits of Velocity in Agile:</a:t>
            </a:r>
            <a:r>
              <a:rPr lang="en-GB">
                <a:solidFill>
                  <a:schemeClr val="dk1"/>
                </a:solidFill>
              </a:rPr>
              <a:t> Predictability, Resource Allocation, Performance Measurement</a:t>
            </a:r>
            <a:endParaRPr b="1"/>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Release and Iteration Planning in Agile methodology</a:t>
            </a:r>
            <a:endParaRPr/>
          </a:p>
        </p:txBody>
      </p:sp>
      <p:sp>
        <p:nvSpPr>
          <p:cNvPr id="270" name="Google Shape;270;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Clr>
                <a:schemeClr val="dk1"/>
              </a:buClr>
              <a:buSzPts val="1800"/>
              <a:buChar char="●"/>
            </a:pPr>
            <a:r>
              <a:rPr lang="en-GB">
                <a:solidFill>
                  <a:schemeClr val="dk1"/>
                </a:solidFill>
              </a:rPr>
              <a:t>There are 3 levels of planning in Agile. They are </a:t>
            </a:r>
            <a:endParaRPr>
              <a:solidFill>
                <a:schemeClr val="dk1"/>
              </a:solidFill>
            </a:endParaRPr>
          </a:p>
          <a:p>
            <a:pPr indent="-342900" lvl="0" marL="990001" rtl="0" algn="just">
              <a:spcBef>
                <a:spcPts val="0"/>
              </a:spcBef>
              <a:spcAft>
                <a:spcPts val="0"/>
              </a:spcAft>
              <a:buClr>
                <a:schemeClr val="dk1"/>
              </a:buClr>
              <a:buSzPts val="1800"/>
              <a:buChar char="●"/>
            </a:pPr>
            <a:r>
              <a:rPr lang="en-GB">
                <a:solidFill>
                  <a:schemeClr val="dk1"/>
                </a:solidFill>
              </a:rPr>
              <a:t>Release Planning, </a:t>
            </a:r>
            <a:endParaRPr>
              <a:solidFill>
                <a:schemeClr val="dk1"/>
              </a:solidFill>
            </a:endParaRPr>
          </a:p>
          <a:p>
            <a:pPr indent="-342900" lvl="0" marL="990001" rtl="0" algn="just">
              <a:spcBef>
                <a:spcPts val="0"/>
              </a:spcBef>
              <a:spcAft>
                <a:spcPts val="0"/>
              </a:spcAft>
              <a:buClr>
                <a:schemeClr val="dk1"/>
              </a:buClr>
              <a:buSzPts val="1800"/>
              <a:buChar char="●"/>
            </a:pPr>
            <a:r>
              <a:rPr lang="en-GB">
                <a:solidFill>
                  <a:schemeClr val="dk1"/>
                </a:solidFill>
              </a:rPr>
              <a:t>Iteration Planning and </a:t>
            </a:r>
            <a:endParaRPr>
              <a:solidFill>
                <a:schemeClr val="dk1"/>
              </a:solidFill>
            </a:endParaRPr>
          </a:p>
          <a:p>
            <a:pPr indent="-342900" lvl="0" marL="990001" rtl="0" algn="just">
              <a:spcBef>
                <a:spcPts val="0"/>
              </a:spcBef>
              <a:spcAft>
                <a:spcPts val="0"/>
              </a:spcAft>
              <a:buClr>
                <a:schemeClr val="dk1"/>
              </a:buClr>
              <a:buSzPts val="1800"/>
              <a:buChar char="●"/>
            </a:pPr>
            <a:r>
              <a:rPr lang="en-GB">
                <a:solidFill>
                  <a:schemeClr val="dk1"/>
                </a:solidFill>
              </a:rPr>
              <a:t>Daily Planning. </a:t>
            </a:r>
            <a:endParaRPr>
              <a:solidFill>
                <a:schemeClr val="dk1"/>
              </a:solidFill>
            </a:endParaRPr>
          </a:p>
          <a:p>
            <a:pPr indent="-342900" lvl="0" marL="457200" rtl="0" algn="just">
              <a:spcBef>
                <a:spcPts val="0"/>
              </a:spcBef>
              <a:spcAft>
                <a:spcPts val="0"/>
              </a:spcAft>
              <a:buClr>
                <a:schemeClr val="dk1"/>
              </a:buClr>
              <a:buSzPts val="1800"/>
              <a:buChar char="●"/>
            </a:pPr>
            <a:r>
              <a:rPr lang="en-GB">
                <a:solidFill>
                  <a:schemeClr val="dk1"/>
                </a:solidFill>
              </a:rPr>
              <a:t>These planning meetings help the Scrum Master, Product Owner and the rest of the team in understanding how the product will be delivered, the complexity involved and their day to day responsibility in the delivery of the product, among other things.</a:t>
            </a:r>
            <a:endParaRPr>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9"/>
          <p:cNvSpPr txBox="1"/>
          <p:nvPr>
            <p:ph type="title"/>
          </p:nvPr>
        </p:nvSpPr>
        <p:spPr>
          <a:xfrm>
            <a:off x="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Release Planning in Agile Development</a:t>
            </a:r>
            <a:endParaRPr/>
          </a:p>
        </p:txBody>
      </p:sp>
      <p:sp>
        <p:nvSpPr>
          <p:cNvPr id="276" name="Google Shape;276;p49"/>
          <p:cNvSpPr txBox="1"/>
          <p:nvPr>
            <p:ph idx="1" type="body"/>
          </p:nvPr>
        </p:nvSpPr>
        <p:spPr>
          <a:xfrm>
            <a:off x="0" y="520150"/>
            <a:ext cx="9144000" cy="4623300"/>
          </a:xfrm>
          <a:prstGeom prst="rect">
            <a:avLst/>
          </a:prstGeom>
        </p:spPr>
        <p:txBody>
          <a:bodyPr anchorCtr="0" anchor="t" bIns="91425" lIns="91425" spcFirstLastPara="1" rIns="91425" wrap="square" tIns="91425">
            <a:normAutofit fontScale="70000"/>
          </a:bodyPr>
          <a:lstStyle/>
          <a:p>
            <a:pPr indent="-308610" lvl="0" marL="457200" rtl="0" algn="just">
              <a:spcBef>
                <a:spcPts val="0"/>
              </a:spcBef>
              <a:spcAft>
                <a:spcPts val="0"/>
              </a:spcAft>
              <a:buClr>
                <a:schemeClr val="dk1"/>
              </a:buClr>
              <a:buSzPct val="100000"/>
              <a:buChar char="●"/>
            </a:pPr>
            <a:r>
              <a:rPr lang="en-GB">
                <a:solidFill>
                  <a:schemeClr val="dk1"/>
                </a:solidFill>
              </a:rPr>
              <a:t>Release Planning is usually performed during the Sprint zero, where there is no product increment delivered.</a:t>
            </a:r>
            <a:endParaRPr>
              <a:solidFill>
                <a:schemeClr val="dk1"/>
              </a:solidFill>
            </a:endParaRPr>
          </a:p>
          <a:p>
            <a:pPr indent="-308610" lvl="0" marL="457200" rtl="0" algn="just">
              <a:spcBef>
                <a:spcPts val="0"/>
              </a:spcBef>
              <a:spcAft>
                <a:spcPts val="0"/>
              </a:spcAft>
              <a:buClr>
                <a:schemeClr val="dk1"/>
              </a:buClr>
              <a:buSzPct val="100000"/>
              <a:buChar char="●"/>
            </a:pPr>
            <a:r>
              <a:rPr lang="en-GB">
                <a:solidFill>
                  <a:schemeClr val="dk1"/>
                </a:solidFill>
              </a:rPr>
              <a:t>The whole Sprint is dedicated for planning the next release.</a:t>
            </a:r>
            <a:endParaRPr>
              <a:solidFill>
                <a:schemeClr val="dk1"/>
              </a:solidFill>
            </a:endParaRPr>
          </a:p>
          <a:p>
            <a:pPr indent="-308610" lvl="0" marL="457200" rtl="0" algn="just">
              <a:spcBef>
                <a:spcPts val="0"/>
              </a:spcBef>
              <a:spcAft>
                <a:spcPts val="0"/>
              </a:spcAft>
              <a:buClr>
                <a:schemeClr val="dk1"/>
              </a:buClr>
              <a:buSzPct val="100000"/>
              <a:buChar char="●"/>
            </a:pPr>
            <a:r>
              <a:rPr lang="en-GB">
                <a:solidFill>
                  <a:schemeClr val="dk1"/>
                </a:solidFill>
              </a:rPr>
              <a:t>It is a way of looking ahead on defining what the release goal is, what features that need to delivered during the release, defining the release backlog, breaking features and epics into user stories, writing acceptance criteria for all stories, and estimating the user stories.</a:t>
            </a:r>
            <a:endParaRPr>
              <a:solidFill>
                <a:schemeClr val="dk1"/>
              </a:solidFill>
            </a:endParaRPr>
          </a:p>
          <a:p>
            <a:pPr indent="-308610" lvl="0" marL="457200" rtl="0" algn="just">
              <a:spcBef>
                <a:spcPts val="0"/>
              </a:spcBef>
              <a:spcAft>
                <a:spcPts val="0"/>
              </a:spcAft>
              <a:buClr>
                <a:schemeClr val="dk1"/>
              </a:buClr>
              <a:buSzPct val="100000"/>
              <a:buChar char="●"/>
            </a:pPr>
            <a:r>
              <a:rPr lang="en-GB">
                <a:solidFill>
                  <a:schemeClr val="dk1"/>
                </a:solidFill>
              </a:rPr>
              <a:t>Release planning also helps team members in defining the test strategy and test approach planning for all iterations.</a:t>
            </a:r>
            <a:endParaRPr>
              <a:solidFill>
                <a:schemeClr val="dk1"/>
              </a:solidFill>
            </a:endParaRPr>
          </a:p>
          <a:p>
            <a:pPr indent="-308610" lvl="0" marL="457200" rtl="0" algn="just">
              <a:spcBef>
                <a:spcPts val="0"/>
              </a:spcBef>
              <a:spcAft>
                <a:spcPts val="0"/>
              </a:spcAft>
              <a:buClr>
                <a:schemeClr val="dk1"/>
              </a:buClr>
              <a:buSzPct val="100000"/>
              <a:buChar char="●"/>
            </a:pPr>
            <a:r>
              <a:rPr lang="en-GB">
                <a:solidFill>
                  <a:schemeClr val="dk1"/>
                </a:solidFill>
              </a:rPr>
              <a:t>Release plans may change based on new stories added or deleted.</a:t>
            </a:r>
            <a:endParaRPr>
              <a:solidFill>
                <a:schemeClr val="dk1"/>
              </a:solidFill>
            </a:endParaRPr>
          </a:p>
          <a:p>
            <a:pPr indent="-308610" lvl="0" marL="457200" rtl="0" algn="just">
              <a:spcBef>
                <a:spcPts val="0"/>
              </a:spcBef>
              <a:spcAft>
                <a:spcPts val="0"/>
              </a:spcAft>
              <a:buClr>
                <a:schemeClr val="dk1"/>
              </a:buClr>
              <a:buSzPct val="100000"/>
              <a:buChar char="●"/>
            </a:pPr>
            <a:r>
              <a:rPr lang="en-GB">
                <a:solidFill>
                  <a:schemeClr val="dk1"/>
                </a:solidFill>
              </a:rPr>
              <a:t>The status of the release is tracked prospectively every sprint to understand what it takes to meet the release</a:t>
            </a:r>
            <a:endParaRPr>
              <a:solidFill>
                <a:schemeClr val="dk1"/>
              </a:solidFill>
            </a:endParaRPr>
          </a:p>
          <a:p>
            <a:pPr indent="0" lvl="0" marL="0" rtl="0" algn="just">
              <a:spcBef>
                <a:spcPts val="1200"/>
              </a:spcBef>
              <a:spcAft>
                <a:spcPts val="0"/>
              </a:spcAft>
              <a:buNone/>
            </a:pPr>
            <a:r>
              <a:rPr lang="en-GB">
                <a:solidFill>
                  <a:schemeClr val="dk1"/>
                </a:solidFill>
              </a:rPr>
              <a:t>At the start of the release planning, the Product Owner sets the release goal and release time frame. The Product Owner also collaborates with the team (see Collaborative User Story Creation), based on the user stories the team performs high architecture evaluation and high level effort estimation in agile.</a:t>
            </a:r>
            <a:endParaRPr>
              <a:solidFill>
                <a:schemeClr val="dk1"/>
              </a:solidFill>
            </a:endParaRPr>
          </a:p>
          <a:p>
            <a:pPr indent="-308610" lvl="0" marL="457200" rtl="0" algn="just">
              <a:spcBef>
                <a:spcPts val="1200"/>
              </a:spcBef>
              <a:spcAft>
                <a:spcPts val="0"/>
              </a:spcAft>
              <a:buClr>
                <a:schemeClr val="dk1"/>
              </a:buClr>
              <a:buSzPct val="100000"/>
              <a:buChar char="●"/>
            </a:pPr>
            <a:r>
              <a:rPr lang="en-GB">
                <a:solidFill>
                  <a:schemeClr val="dk1"/>
                </a:solidFill>
              </a:rPr>
              <a:t>Testers are involved in release planning and perform the following activities:</a:t>
            </a:r>
            <a:endParaRPr>
              <a:solidFill>
                <a:schemeClr val="dk1"/>
              </a:solidFill>
            </a:endParaRPr>
          </a:p>
          <a:p>
            <a:pPr indent="-308610" lvl="0" marL="457200" rtl="0" algn="just">
              <a:spcBef>
                <a:spcPts val="0"/>
              </a:spcBef>
              <a:spcAft>
                <a:spcPts val="0"/>
              </a:spcAft>
              <a:buClr>
                <a:schemeClr val="dk1"/>
              </a:buClr>
              <a:buSzPct val="100000"/>
              <a:buChar char="●"/>
            </a:pPr>
            <a:r>
              <a:rPr lang="en-GB">
                <a:solidFill>
                  <a:schemeClr val="dk1"/>
                </a:solidFill>
              </a:rPr>
              <a:t>Write User stories and acceptance criteria</a:t>
            </a:r>
            <a:endParaRPr>
              <a:solidFill>
                <a:schemeClr val="dk1"/>
              </a:solidFill>
            </a:endParaRPr>
          </a:p>
          <a:p>
            <a:pPr indent="-308610" lvl="0" marL="457200" rtl="0" algn="just">
              <a:spcBef>
                <a:spcPts val="0"/>
              </a:spcBef>
              <a:spcAft>
                <a:spcPts val="0"/>
              </a:spcAft>
              <a:buClr>
                <a:schemeClr val="dk1"/>
              </a:buClr>
              <a:buSzPct val="100000"/>
              <a:buChar char="●"/>
            </a:pPr>
            <a:r>
              <a:rPr lang="en-GB">
                <a:solidFill>
                  <a:schemeClr val="dk1"/>
                </a:solidFill>
              </a:rPr>
              <a:t>Seek clarification on those user stories where there is insufficient information.</a:t>
            </a:r>
            <a:endParaRPr>
              <a:solidFill>
                <a:schemeClr val="dk1"/>
              </a:solidFill>
            </a:endParaRPr>
          </a:p>
          <a:p>
            <a:pPr indent="-308610" lvl="0" marL="457200" rtl="0" algn="just">
              <a:spcBef>
                <a:spcPts val="0"/>
              </a:spcBef>
              <a:spcAft>
                <a:spcPts val="0"/>
              </a:spcAft>
              <a:buClr>
                <a:schemeClr val="dk1"/>
              </a:buClr>
              <a:buSzPct val="100000"/>
              <a:buChar char="●"/>
            </a:pPr>
            <a:r>
              <a:rPr lang="en-GB">
                <a:solidFill>
                  <a:schemeClr val="dk1"/>
                </a:solidFill>
              </a:rPr>
              <a:t>Determine the high level test strategy for the whole release</a:t>
            </a:r>
            <a:endParaRPr>
              <a:solidFill>
                <a:schemeClr val="dk1"/>
              </a:solidFill>
            </a:endParaRPr>
          </a:p>
          <a:p>
            <a:pPr indent="-308610" lvl="0" marL="457200" rtl="0" algn="just">
              <a:spcBef>
                <a:spcPts val="0"/>
              </a:spcBef>
              <a:spcAft>
                <a:spcPts val="0"/>
              </a:spcAft>
              <a:buClr>
                <a:schemeClr val="dk1"/>
              </a:buClr>
              <a:buSzPct val="100000"/>
              <a:buChar char="●"/>
            </a:pPr>
            <a:r>
              <a:rPr lang="en-GB">
                <a:solidFill>
                  <a:schemeClr val="dk1"/>
                </a:solidFill>
              </a:rPr>
              <a:t>Point out any testing risks they might occur</a:t>
            </a:r>
            <a:endParaRPr>
              <a:solidFill>
                <a:schemeClr val="dk1"/>
              </a:solidFill>
            </a:endParaRPr>
          </a:p>
          <a:p>
            <a:pPr indent="-308610" lvl="0" marL="457200" rtl="0" algn="just">
              <a:spcBef>
                <a:spcPts val="0"/>
              </a:spcBef>
              <a:spcAft>
                <a:spcPts val="0"/>
              </a:spcAft>
              <a:buClr>
                <a:schemeClr val="dk1"/>
              </a:buClr>
              <a:buSzPct val="100000"/>
              <a:buChar char="●"/>
            </a:pPr>
            <a:r>
              <a:rPr lang="en-GB">
                <a:solidFill>
                  <a:schemeClr val="dk1"/>
                </a:solidFill>
              </a:rPr>
              <a:t>Do a high level test planning</a:t>
            </a:r>
            <a:endParaRPr>
              <a:solidFill>
                <a:schemeClr val="dk1"/>
              </a:solidFill>
            </a:endParaRPr>
          </a:p>
          <a:p>
            <a:pPr indent="-308610" lvl="0" marL="457200" rtl="0" algn="just">
              <a:spcBef>
                <a:spcPts val="0"/>
              </a:spcBef>
              <a:spcAft>
                <a:spcPts val="0"/>
              </a:spcAft>
              <a:buClr>
                <a:schemeClr val="dk1"/>
              </a:buClr>
              <a:buSzPct val="100000"/>
              <a:buChar char="●"/>
            </a:pPr>
            <a:r>
              <a:rPr lang="en-GB">
                <a:solidFill>
                  <a:schemeClr val="dk1"/>
                </a:solidFill>
              </a:rPr>
              <a:t>Define the number of test levels to be performed.</a:t>
            </a:r>
            <a:endParaRPr>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0"/>
          <p:cNvSpPr txBox="1"/>
          <p:nvPr>
            <p:ph type="title"/>
          </p:nvPr>
        </p:nvSpPr>
        <p:spPr>
          <a:xfrm>
            <a:off x="0" y="392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Iteration Planning in Agile Development</a:t>
            </a:r>
            <a:endParaRPr/>
          </a:p>
        </p:txBody>
      </p:sp>
      <p:sp>
        <p:nvSpPr>
          <p:cNvPr id="282" name="Google Shape;282;p50"/>
          <p:cNvSpPr txBox="1"/>
          <p:nvPr>
            <p:ph idx="1" type="body"/>
          </p:nvPr>
        </p:nvSpPr>
        <p:spPr>
          <a:xfrm>
            <a:off x="85175" y="652275"/>
            <a:ext cx="9058800" cy="4491300"/>
          </a:xfrm>
          <a:prstGeom prst="rect">
            <a:avLst/>
          </a:prstGeom>
        </p:spPr>
        <p:txBody>
          <a:bodyPr anchorCtr="0" anchor="t" bIns="91425" lIns="91425" spcFirstLastPara="1" rIns="91425" wrap="square" tIns="91425">
            <a:normAutofit fontScale="77500" lnSpcReduction="10000"/>
          </a:bodyPr>
          <a:lstStyle/>
          <a:p>
            <a:pPr indent="0" lvl="0" marL="0" rtl="0" algn="just">
              <a:spcBef>
                <a:spcPts val="0"/>
              </a:spcBef>
              <a:spcAft>
                <a:spcPts val="0"/>
              </a:spcAft>
              <a:buNone/>
            </a:pPr>
            <a:r>
              <a:rPr lang="en-GB">
                <a:solidFill>
                  <a:schemeClr val="dk1"/>
                </a:solidFill>
              </a:rPr>
              <a:t>Iteration 1 planning is done after release planning.</a:t>
            </a:r>
            <a:endParaRPr>
              <a:solidFill>
                <a:schemeClr val="dk1"/>
              </a:solidFill>
            </a:endParaRPr>
          </a:p>
          <a:p>
            <a:pPr indent="-317183" lvl="0" marL="457200" rtl="0" algn="just">
              <a:spcBef>
                <a:spcPts val="1200"/>
              </a:spcBef>
              <a:spcAft>
                <a:spcPts val="0"/>
              </a:spcAft>
              <a:buClr>
                <a:schemeClr val="dk1"/>
              </a:buClr>
              <a:buSzPct val="100000"/>
              <a:buChar char="●"/>
            </a:pPr>
            <a:r>
              <a:rPr lang="en-GB">
                <a:solidFill>
                  <a:schemeClr val="dk1"/>
                </a:solidFill>
              </a:rPr>
              <a:t>The team pulls the stories into the sprint backlog from the product backlog and groups them into independent tasks of fewer 8 hours each.</a:t>
            </a:r>
            <a:endParaRPr>
              <a:solidFill>
                <a:schemeClr val="dk1"/>
              </a:solidFill>
            </a:endParaRPr>
          </a:p>
          <a:p>
            <a:pPr indent="-317183" lvl="0" marL="457200" rtl="0" algn="just">
              <a:spcBef>
                <a:spcPts val="0"/>
              </a:spcBef>
              <a:spcAft>
                <a:spcPts val="0"/>
              </a:spcAft>
              <a:buClr>
                <a:schemeClr val="dk1"/>
              </a:buClr>
              <a:buSzPct val="100000"/>
              <a:buChar char="●"/>
            </a:pPr>
            <a:r>
              <a:rPr lang="en-GB">
                <a:solidFill>
                  <a:schemeClr val="dk1"/>
                </a:solidFill>
              </a:rPr>
              <a:t>They also performs risk assessment of stories and decides on a light weight plan on how to address the risks as the sprint moves forward.</a:t>
            </a:r>
            <a:endParaRPr>
              <a:solidFill>
                <a:schemeClr val="dk1"/>
              </a:solidFill>
            </a:endParaRPr>
          </a:p>
          <a:p>
            <a:pPr indent="-317183" lvl="0" marL="457200" rtl="0" algn="just">
              <a:spcBef>
                <a:spcPts val="0"/>
              </a:spcBef>
              <a:spcAft>
                <a:spcPts val="0"/>
              </a:spcAft>
              <a:buClr>
                <a:schemeClr val="dk1"/>
              </a:buClr>
              <a:buSzPct val="100000"/>
              <a:buChar char="●"/>
            </a:pPr>
            <a:r>
              <a:rPr lang="en-GB">
                <a:solidFill>
                  <a:schemeClr val="dk1"/>
                </a:solidFill>
              </a:rPr>
              <a:t>The team asks questions to the Product Owner on clarifications that might make them to understand the stories in more realistic way.</a:t>
            </a:r>
            <a:endParaRPr>
              <a:solidFill>
                <a:schemeClr val="dk1"/>
              </a:solidFill>
            </a:endParaRPr>
          </a:p>
          <a:p>
            <a:pPr indent="-317183" lvl="0" marL="457200" rtl="0" algn="just">
              <a:spcBef>
                <a:spcPts val="0"/>
              </a:spcBef>
              <a:spcAft>
                <a:spcPts val="0"/>
              </a:spcAft>
              <a:buClr>
                <a:schemeClr val="dk1"/>
              </a:buClr>
              <a:buSzPct val="100000"/>
              <a:buChar char="●"/>
            </a:pPr>
            <a:r>
              <a:rPr lang="en-GB">
                <a:solidFill>
                  <a:schemeClr val="dk1"/>
                </a:solidFill>
              </a:rPr>
              <a:t>The number of stories that the team pulls in the sprint may depend on team’s capacity or velocity (if known).</a:t>
            </a:r>
            <a:endParaRPr>
              <a:solidFill>
                <a:schemeClr val="dk1"/>
              </a:solidFill>
            </a:endParaRPr>
          </a:p>
          <a:p>
            <a:pPr indent="-317183" lvl="0" marL="457200" rtl="0" algn="just">
              <a:spcBef>
                <a:spcPts val="0"/>
              </a:spcBef>
              <a:spcAft>
                <a:spcPts val="0"/>
              </a:spcAft>
              <a:buClr>
                <a:schemeClr val="dk1"/>
              </a:buClr>
              <a:buSzPct val="100000"/>
              <a:buChar char="●"/>
            </a:pPr>
            <a:r>
              <a:rPr lang="en-GB">
                <a:solidFill>
                  <a:schemeClr val="dk1"/>
                </a:solidFill>
              </a:rPr>
              <a:t>The capacity planning is done in hours and the velocity planning is done in story points.</a:t>
            </a:r>
            <a:endParaRPr>
              <a:solidFill>
                <a:schemeClr val="dk1"/>
              </a:solidFill>
            </a:endParaRPr>
          </a:p>
          <a:p>
            <a:pPr indent="-317183" lvl="0" marL="457200" rtl="0" algn="just">
              <a:spcBef>
                <a:spcPts val="0"/>
              </a:spcBef>
              <a:spcAft>
                <a:spcPts val="0"/>
              </a:spcAft>
              <a:buClr>
                <a:schemeClr val="dk1"/>
              </a:buClr>
              <a:buSzPct val="100000"/>
              <a:buChar char="●"/>
            </a:pPr>
            <a:r>
              <a:rPr lang="en-GB">
                <a:solidFill>
                  <a:schemeClr val="dk1"/>
                </a:solidFill>
              </a:rPr>
              <a:t>The team makes a commitment to the sprint backlog and changes the sprint backlog as it emerges.</a:t>
            </a:r>
            <a:endParaRPr>
              <a:solidFill>
                <a:schemeClr val="dk1"/>
              </a:solidFill>
            </a:endParaRPr>
          </a:p>
          <a:p>
            <a:pPr indent="0" lvl="0" marL="0" rtl="0" algn="just">
              <a:spcBef>
                <a:spcPts val="1200"/>
              </a:spcBef>
              <a:spcAft>
                <a:spcPts val="0"/>
              </a:spcAft>
              <a:buNone/>
            </a:pPr>
            <a:r>
              <a:rPr lang="en-GB">
                <a:solidFill>
                  <a:schemeClr val="dk1"/>
                </a:solidFill>
              </a:rPr>
              <a:t>The testers are also involved in the iteration and can contribute to the same in the following ways:</a:t>
            </a:r>
            <a:endParaRPr>
              <a:solidFill>
                <a:schemeClr val="dk1"/>
              </a:solidFill>
            </a:endParaRPr>
          </a:p>
          <a:p>
            <a:pPr indent="-317183" lvl="0" marL="457200" rtl="0" algn="just">
              <a:spcBef>
                <a:spcPts val="1200"/>
              </a:spcBef>
              <a:spcAft>
                <a:spcPts val="0"/>
              </a:spcAft>
              <a:buClr>
                <a:schemeClr val="dk1"/>
              </a:buClr>
              <a:buSzPct val="100000"/>
              <a:buChar char="●"/>
            </a:pPr>
            <a:r>
              <a:rPr lang="en-GB">
                <a:solidFill>
                  <a:schemeClr val="dk1"/>
                </a:solidFill>
              </a:rPr>
              <a:t>Breaking user stories into testing tasks</a:t>
            </a:r>
            <a:endParaRPr>
              <a:solidFill>
                <a:schemeClr val="dk1"/>
              </a:solidFill>
            </a:endParaRPr>
          </a:p>
          <a:p>
            <a:pPr indent="-317183" lvl="0" marL="457200" rtl="0" algn="just">
              <a:spcBef>
                <a:spcPts val="0"/>
              </a:spcBef>
              <a:spcAft>
                <a:spcPts val="0"/>
              </a:spcAft>
              <a:buClr>
                <a:schemeClr val="dk1"/>
              </a:buClr>
              <a:buSzPct val="100000"/>
              <a:buChar char="●"/>
            </a:pPr>
            <a:r>
              <a:rPr lang="en-GB">
                <a:solidFill>
                  <a:schemeClr val="dk1"/>
                </a:solidFill>
              </a:rPr>
              <a:t>Determining test coverage of every story</a:t>
            </a:r>
            <a:endParaRPr>
              <a:solidFill>
                <a:schemeClr val="dk1"/>
              </a:solidFill>
            </a:endParaRPr>
          </a:p>
          <a:p>
            <a:pPr indent="-317183" lvl="0" marL="457200" rtl="0" algn="just">
              <a:spcBef>
                <a:spcPts val="0"/>
              </a:spcBef>
              <a:spcAft>
                <a:spcPts val="0"/>
              </a:spcAft>
              <a:buClr>
                <a:schemeClr val="dk1"/>
              </a:buClr>
              <a:buSzPct val="100000"/>
              <a:buChar char="●"/>
            </a:pPr>
            <a:r>
              <a:rPr lang="en-GB">
                <a:solidFill>
                  <a:schemeClr val="dk1"/>
                </a:solidFill>
              </a:rPr>
              <a:t>Creating acceptance tests for user stories</a:t>
            </a:r>
            <a:endParaRPr>
              <a:solidFill>
                <a:schemeClr val="dk1"/>
              </a:solidFill>
            </a:endParaRPr>
          </a:p>
          <a:p>
            <a:pPr indent="-317183" lvl="0" marL="457200" rtl="0" algn="just">
              <a:spcBef>
                <a:spcPts val="0"/>
              </a:spcBef>
              <a:spcAft>
                <a:spcPts val="0"/>
              </a:spcAft>
              <a:buClr>
                <a:schemeClr val="dk1"/>
              </a:buClr>
              <a:buSzPct val="100000"/>
              <a:buChar char="●"/>
            </a:pPr>
            <a:r>
              <a:rPr lang="en-GB">
                <a:solidFill>
                  <a:schemeClr val="dk1"/>
                </a:solidFill>
              </a:rPr>
              <a:t>Estimate the testing tasks like creating test strategy, test plans and test cases specific to user stories</a:t>
            </a:r>
            <a:endParaRPr>
              <a:solidFill>
                <a:schemeClr val="dk1"/>
              </a:solidFill>
            </a:endParaRPr>
          </a:p>
          <a:p>
            <a:pPr indent="-317183" lvl="0" marL="457200" rtl="0" algn="just">
              <a:spcBef>
                <a:spcPts val="0"/>
              </a:spcBef>
              <a:spcAft>
                <a:spcPts val="0"/>
              </a:spcAft>
              <a:buClr>
                <a:schemeClr val="dk1"/>
              </a:buClr>
              <a:buSzPct val="100000"/>
              <a:buChar char="●"/>
            </a:pPr>
            <a:r>
              <a:rPr lang="en-GB">
                <a:solidFill>
                  <a:schemeClr val="dk1"/>
                </a:solidFill>
              </a:rPr>
              <a:t>Understand and plan for automating user stories and support various levels of testing</a:t>
            </a:r>
            <a:endParaRPr>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51"/>
          <p:cNvSpPr txBox="1"/>
          <p:nvPr>
            <p:ph idx="1" type="body"/>
          </p:nvPr>
        </p:nvSpPr>
        <p:spPr>
          <a:xfrm>
            <a:off x="94625" y="95475"/>
            <a:ext cx="9049500" cy="5048100"/>
          </a:xfrm>
          <a:prstGeom prst="rect">
            <a:avLst/>
          </a:prstGeom>
        </p:spPr>
        <p:txBody>
          <a:bodyPr anchorCtr="0" anchor="t" bIns="91425" lIns="91425" spcFirstLastPara="1" rIns="91425" wrap="square" tIns="91425">
            <a:normAutofit fontScale="92500" lnSpcReduction="20000"/>
          </a:bodyPr>
          <a:lstStyle/>
          <a:p>
            <a:pPr indent="0" lvl="0" marL="0" rtl="0" algn="just">
              <a:spcBef>
                <a:spcPts val="0"/>
              </a:spcBef>
              <a:spcAft>
                <a:spcPts val="0"/>
              </a:spcAft>
              <a:buNone/>
            </a:pPr>
            <a:r>
              <a:rPr lang="en-GB">
                <a:solidFill>
                  <a:schemeClr val="dk1"/>
                </a:solidFill>
              </a:rPr>
              <a:t>Release plans are not static documents and they are liable to change as the external and internal factors change as the iteration executions take place.</a:t>
            </a:r>
            <a:endParaRPr>
              <a:solidFill>
                <a:schemeClr val="dk1"/>
              </a:solidFill>
            </a:endParaRPr>
          </a:p>
          <a:p>
            <a:pPr indent="-334328" lvl="0" marL="457200" rtl="0" algn="just">
              <a:spcBef>
                <a:spcPts val="1200"/>
              </a:spcBef>
              <a:spcAft>
                <a:spcPts val="0"/>
              </a:spcAft>
              <a:buClr>
                <a:schemeClr val="dk1"/>
              </a:buClr>
              <a:buSzPct val="100000"/>
              <a:buChar char="●"/>
            </a:pPr>
            <a:r>
              <a:rPr lang="en-GB">
                <a:solidFill>
                  <a:schemeClr val="dk1"/>
                </a:solidFill>
              </a:rPr>
              <a:t>The release plans may also change due to various internal factors like delivery team capabilities, velocity of the team and technical competencies.</a:t>
            </a:r>
            <a:endParaRPr>
              <a:solidFill>
                <a:schemeClr val="dk1"/>
              </a:solidFill>
            </a:endParaRPr>
          </a:p>
          <a:p>
            <a:pPr indent="-334328" lvl="0" marL="457200" rtl="0" algn="just">
              <a:spcBef>
                <a:spcPts val="0"/>
              </a:spcBef>
              <a:spcAft>
                <a:spcPts val="0"/>
              </a:spcAft>
              <a:buClr>
                <a:schemeClr val="dk1"/>
              </a:buClr>
              <a:buSzPct val="100000"/>
              <a:buChar char="●"/>
            </a:pPr>
            <a:r>
              <a:rPr lang="en-GB">
                <a:solidFill>
                  <a:schemeClr val="dk1"/>
                </a:solidFill>
              </a:rPr>
              <a:t>The examples of external factors are change in target segments, threat from substitutes, change triggered by superior competitor product.</a:t>
            </a:r>
            <a:endParaRPr>
              <a:solidFill>
                <a:schemeClr val="dk1"/>
              </a:solidFill>
            </a:endParaRPr>
          </a:p>
          <a:p>
            <a:pPr indent="-334328" lvl="0" marL="457200" rtl="0" algn="just">
              <a:spcBef>
                <a:spcPts val="0"/>
              </a:spcBef>
              <a:spcAft>
                <a:spcPts val="0"/>
              </a:spcAft>
              <a:buClr>
                <a:schemeClr val="dk1"/>
              </a:buClr>
              <a:buSzPct val="100000"/>
              <a:buChar char="●"/>
            </a:pPr>
            <a:r>
              <a:rPr lang="en-GB">
                <a:solidFill>
                  <a:schemeClr val="dk1"/>
                </a:solidFill>
              </a:rPr>
              <a:t>The release dates may be adjusted or scope may be cut down to adjust for the changes.</a:t>
            </a:r>
            <a:endParaRPr>
              <a:solidFill>
                <a:schemeClr val="dk1"/>
              </a:solidFill>
            </a:endParaRPr>
          </a:p>
          <a:p>
            <a:pPr indent="-334328" lvl="0" marL="457200" rtl="0" algn="just">
              <a:spcBef>
                <a:spcPts val="0"/>
              </a:spcBef>
              <a:spcAft>
                <a:spcPts val="0"/>
              </a:spcAft>
              <a:buClr>
                <a:schemeClr val="dk1"/>
              </a:buClr>
              <a:buSzPct val="100000"/>
              <a:buChar char="●"/>
            </a:pPr>
            <a:r>
              <a:rPr lang="en-GB">
                <a:solidFill>
                  <a:schemeClr val="dk1"/>
                </a:solidFill>
              </a:rPr>
              <a:t>As per Scrum, no changes are allowed during the sprint by the Product Owner.</a:t>
            </a:r>
            <a:endParaRPr>
              <a:solidFill>
                <a:schemeClr val="dk1"/>
              </a:solidFill>
            </a:endParaRPr>
          </a:p>
          <a:p>
            <a:pPr indent="-334328" lvl="0" marL="457200" rtl="0" algn="just">
              <a:spcBef>
                <a:spcPts val="0"/>
              </a:spcBef>
              <a:spcAft>
                <a:spcPts val="0"/>
              </a:spcAft>
              <a:buClr>
                <a:schemeClr val="dk1"/>
              </a:buClr>
              <a:buSzPct val="100000"/>
              <a:buChar char="●"/>
            </a:pPr>
            <a:r>
              <a:rPr lang="en-GB">
                <a:solidFill>
                  <a:schemeClr val="dk1"/>
                </a:solidFill>
              </a:rPr>
              <a:t>The Product Owner cannot add new stories to the sprint backlog during the sprint and distract the team from the executing the sprint goal.</a:t>
            </a:r>
            <a:endParaRPr>
              <a:solidFill>
                <a:schemeClr val="dk1"/>
              </a:solidFill>
            </a:endParaRPr>
          </a:p>
          <a:p>
            <a:pPr indent="0" lvl="0" marL="0" rtl="0" algn="just">
              <a:spcBef>
                <a:spcPts val="1200"/>
              </a:spcBef>
              <a:spcAft>
                <a:spcPts val="0"/>
              </a:spcAft>
              <a:buNone/>
            </a:pPr>
            <a:r>
              <a:rPr lang="en-GB">
                <a:solidFill>
                  <a:schemeClr val="dk1"/>
                </a:solidFill>
              </a:rPr>
              <a:t>Release and iteration planning broadly helps the team to prepare test planning checklist related to the following items:</a:t>
            </a:r>
            <a:endParaRPr>
              <a:solidFill>
                <a:schemeClr val="dk1"/>
              </a:solidFill>
            </a:endParaRPr>
          </a:p>
          <a:p>
            <a:pPr indent="-334328" lvl="0" marL="457200" rtl="0" algn="just">
              <a:spcBef>
                <a:spcPts val="1200"/>
              </a:spcBef>
              <a:spcAft>
                <a:spcPts val="0"/>
              </a:spcAft>
              <a:buClr>
                <a:schemeClr val="dk1"/>
              </a:buClr>
              <a:buSzPct val="100000"/>
              <a:buChar char="●"/>
            </a:pPr>
            <a:r>
              <a:rPr lang="en-GB">
                <a:solidFill>
                  <a:schemeClr val="dk1"/>
                </a:solidFill>
              </a:rPr>
              <a:t>The team members responsible for testing</a:t>
            </a:r>
            <a:endParaRPr>
              <a:solidFill>
                <a:schemeClr val="dk1"/>
              </a:solidFill>
            </a:endParaRPr>
          </a:p>
          <a:p>
            <a:pPr indent="-334328" lvl="0" marL="457200" rtl="0" algn="just">
              <a:spcBef>
                <a:spcPts val="0"/>
              </a:spcBef>
              <a:spcAft>
                <a:spcPts val="0"/>
              </a:spcAft>
              <a:buClr>
                <a:schemeClr val="dk1"/>
              </a:buClr>
              <a:buSzPct val="100000"/>
              <a:buChar char="●"/>
            </a:pPr>
            <a:r>
              <a:rPr lang="en-GB">
                <a:solidFill>
                  <a:schemeClr val="dk1"/>
                </a:solidFill>
              </a:rPr>
              <a:t>The scope of testing and testing goals to be carried out</a:t>
            </a:r>
            <a:endParaRPr>
              <a:solidFill>
                <a:schemeClr val="dk1"/>
              </a:solidFill>
            </a:endParaRPr>
          </a:p>
          <a:p>
            <a:pPr indent="-334328" lvl="0" marL="457200" rtl="0" algn="just">
              <a:spcBef>
                <a:spcPts val="0"/>
              </a:spcBef>
              <a:spcAft>
                <a:spcPts val="0"/>
              </a:spcAft>
              <a:buClr>
                <a:schemeClr val="dk1"/>
              </a:buClr>
              <a:buSzPct val="100000"/>
              <a:buChar char="●"/>
            </a:pPr>
            <a:r>
              <a:rPr lang="en-GB">
                <a:solidFill>
                  <a:schemeClr val="dk1"/>
                </a:solidFill>
              </a:rPr>
              <a:t>The test environment that needs to be setup</a:t>
            </a:r>
            <a:endParaRPr>
              <a:solidFill>
                <a:schemeClr val="dk1"/>
              </a:solidFill>
            </a:endParaRPr>
          </a:p>
          <a:p>
            <a:pPr indent="-334328" lvl="0" marL="457200" rtl="0" algn="just">
              <a:spcBef>
                <a:spcPts val="0"/>
              </a:spcBef>
              <a:spcAft>
                <a:spcPts val="0"/>
              </a:spcAft>
              <a:buClr>
                <a:schemeClr val="dk1"/>
              </a:buClr>
              <a:buSzPct val="100000"/>
              <a:buChar char="●"/>
            </a:pPr>
            <a:r>
              <a:rPr lang="en-GB">
                <a:solidFill>
                  <a:schemeClr val="dk1"/>
                </a:solidFill>
              </a:rPr>
              <a:t>The test data to be collected that helps the testing team</a:t>
            </a:r>
            <a:endParaRPr>
              <a:solidFill>
                <a:schemeClr val="dk1"/>
              </a:solidFill>
            </a:endParaRPr>
          </a:p>
          <a:p>
            <a:pPr indent="-334328" lvl="0" marL="457200" rtl="0" algn="just">
              <a:spcBef>
                <a:spcPts val="0"/>
              </a:spcBef>
              <a:spcAft>
                <a:spcPts val="0"/>
              </a:spcAft>
              <a:buClr>
                <a:schemeClr val="dk1"/>
              </a:buClr>
              <a:buSzPct val="100000"/>
              <a:buChar char="●"/>
            </a:pPr>
            <a:r>
              <a:rPr lang="en-GB">
                <a:solidFill>
                  <a:schemeClr val="dk1"/>
                </a:solidFill>
              </a:rPr>
              <a:t>The sequence of test activities, dependencies and interfaces related to testing</a:t>
            </a:r>
            <a:endParaRPr>
              <a:solidFill>
                <a:schemeClr val="dk1"/>
              </a:solidFill>
            </a:endParaRPr>
          </a:p>
          <a:p>
            <a:pPr indent="-334328" lvl="0" marL="457200" rtl="0" algn="just">
              <a:spcBef>
                <a:spcPts val="0"/>
              </a:spcBef>
              <a:spcAft>
                <a:spcPts val="0"/>
              </a:spcAft>
              <a:buClr>
                <a:schemeClr val="dk1"/>
              </a:buClr>
              <a:buSzPct val="100000"/>
              <a:buChar char="●"/>
            </a:pPr>
            <a:r>
              <a:rPr lang="en-GB">
                <a:solidFill>
                  <a:schemeClr val="dk1"/>
                </a:solidFill>
              </a:rPr>
              <a:t>Any project related quality tests that surface during testing</a:t>
            </a:r>
            <a:endParaRPr>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52"/>
          <p:cNvSpPr txBox="1"/>
          <p:nvPr>
            <p:ph type="title"/>
          </p:nvPr>
        </p:nvSpPr>
        <p:spPr>
          <a:xfrm>
            <a:off x="160425" y="443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Daily Planning / Standup Meeting in Agile Development</a:t>
            </a:r>
            <a:endParaRPr/>
          </a:p>
        </p:txBody>
      </p:sp>
      <p:sp>
        <p:nvSpPr>
          <p:cNvPr id="293" name="Google Shape;293;p52"/>
          <p:cNvSpPr txBox="1"/>
          <p:nvPr>
            <p:ph idx="1" type="body"/>
          </p:nvPr>
        </p:nvSpPr>
        <p:spPr>
          <a:xfrm>
            <a:off x="160425" y="10162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just">
              <a:spcBef>
                <a:spcPts val="0"/>
              </a:spcBef>
              <a:spcAft>
                <a:spcPts val="0"/>
              </a:spcAft>
              <a:buNone/>
            </a:pPr>
            <a:r>
              <a:rPr lang="en-GB">
                <a:solidFill>
                  <a:schemeClr val="dk1"/>
                </a:solidFill>
              </a:rPr>
              <a:t>Daily Planning meeting in agile are also called as ‘Stand up meetings‘. This is where the development team and testing team meets daily to discuss:</a:t>
            </a:r>
            <a:endParaRPr>
              <a:solidFill>
                <a:schemeClr val="dk1"/>
              </a:solidFill>
            </a:endParaRPr>
          </a:p>
          <a:p>
            <a:pPr indent="-325755" lvl="0" marL="457200" rtl="0" algn="just">
              <a:spcBef>
                <a:spcPts val="1200"/>
              </a:spcBef>
              <a:spcAft>
                <a:spcPts val="0"/>
              </a:spcAft>
              <a:buClr>
                <a:schemeClr val="dk1"/>
              </a:buClr>
              <a:buSzPct val="100000"/>
              <a:buChar char="●"/>
            </a:pPr>
            <a:r>
              <a:rPr lang="en-GB">
                <a:solidFill>
                  <a:schemeClr val="dk1"/>
                </a:solidFill>
              </a:rPr>
              <a:t>What progress in the assigned task they made yesterday</a:t>
            </a:r>
            <a:endParaRPr>
              <a:solidFill>
                <a:schemeClr val="dk1"/>
              </a:solidFill>
            </a:endParaRPr>
          </a:p>
          <a:p>
            <a:pPr indent="-325755" lvl="0" marL="457200" rtl="0" algn="just">
              <a:spcBef>
                <a:spcPts val="0"/>
              </a:spcBef>
              <a:spcAft>
                <a:spcPts val="0"/>
              </a:spcAft>
              <a:buClr>
                <a:schemeClr val="dk1"/>
              </a:buClr>
              <a:buSzPct val="100000"/>
              <a:buChar char="●"/>
            </a:pPr>
            <a:r>
              <a:rPr lang="en-GB">
                <a:solidFill>
                  <a:schemeClr val="dk1"/>
                </a:solidFill>
              </a:rPr>
              <a:t>What tasks they have planned to do today</a:t>
            </a:r>
            <a:endParaRPr>
              <a:solidFill>
                <a:schemeClr val="dk1"/>
              </a:solidFill>
            </a:endParaRPr>
          </a:p>
          <a:p>
            <a:pPr indent="-325755" lvl="0" marL="457200" rtl="0" algn="just">
              <a:spcBef>
                <a:spcPts val="0"/>
              </a:spcBef>
              <a:spcAft>
                <a:spcPts val="0"/>
              </a:spcAft>
              <a:buClr>
                <a:schemeClr val="dk1"/>
              </a:buClr>
              <a:buSzPct val="100000"/>
              <a:buChar char="●"/>
            </a:pPr>
            <a:r>
              <a:rPr lang="en-GB">
                <a:solidFill>
                  <a:schemeClr val="dk1"/>
                </a:solidFill>
              </a:rPr>
              <a:t>Is there any impediment or obstacle that prevents them from completing the task</a:t>
            </a:r>
            <a:endParaRPr>
              <a:solidFill>
                <a:schemeClr val="dk1"/>
              </a:solidFill>
            </a:endParaRPr>
          </a:p>
          <a:p>
            <a:pPr indent="0" lvl="0" marL="0" rtl="0" algn="just">
              <a:spcBef>
                <a:spcPts val="1200"/>
              </a:spcBef>
              <a:spcAft>
                <a:spcPts val="0"/>
              </a:spcAft>
              <a:buNone/>
            </a:pPr>
            <a:r>
              <a:rPr lang="en-GB">
                <a:solidFill>
                  <a:schemeClr val="dk1"/>
                </a:solidFill>
              </a:rPr>
              <a:t>In addition to these details each member has to tell that how long they are going to take to complete the assigned task within the sprint.</a:t>
            </a:r>
            <a:endParaRPr>
              <a:solidFill>
                <a:schemeClr val="dk1"/>
              </a:solidFill>
            </a:endParaRPr>
          </a:p>
          <a:p>
            <a:pPr indent="-325755" lvl="0" marL="457200" rtl="0" algn="just">
              <a:spcBef>
                <a:spcPts val="1200"/>
              </a:spcBef>
              <a:spcAft>
                <a:spcPts val="0"/>
              </a:spcAft>
              <a:buClr>
                <a:schemeClr val="dk1"/>
              </a:buClr>
              <a:buSzPct val="100000"/>
              <a:buChar char="●"/>
            </a:pPr>
            <a:r>
              <a:rPr lang="en-GB">
                <a:solidFill>
                  <a:schemeClr val="dk1"/>
                </a:solidFill>
              </a:rPr>
              <a:t>If any remaining or pending task of any member of the team is not completed in that particular sprint then they share such details in the daily meetings.</a:t>
            </a:r>
            <a:endParaRPr>
              <a:solidFill>
                <a:schemeClr val="dk1"/>
              </a:solidFill>
            </a:endParaRPr>
          </a:p>
          <a:p>
            <a:pPr indent="-325755" lvl="0" marL="457200" rtl="0" algn="just">
              <a:spcBef>
                <a:spcPts val="0"/>
              </a:spcBef>
              <a:spcAft>
                <a:spcPts val="0"/>
              </a:spcAft>
              <a:buClr>
                <a:schemeClr val="dk1"/>
              </a:buClr>
              <a:buSzPct val="100000"/>
              <a:buChar char="●"/>
            </a:pPr>
            <a:r>
              <a:rPr lang="en-GB">
                <a:solidFill>
                  <a:schemeClr val="dk1"/>
                </a:solidFill>
              </a:rPr>
              <a:t>Accordingly the pending task(s) from the previous sprint are taken care in the next sprints.</a:t>
            </a:r>
            <a:endParaRPr>
              <a:solidFill>
                <a:schemeClr val="dk1"/>
              </a:solidFill>
            </a:endParaRPr>
          </a:p>
          <a:p>
            <a:pPr indent="-325755" lvl="0" marL="457200" rtl="0" algn="just">
              <a:spcBef>
                <a:spcPts val="0"/>
              </a:spcBef>
              <a:spcAft>
                <a:spcPts val="0"/>
              </a:spcAft>
              <a:buClr>
                <a:schemeClr val="dk1"/>
              </a:buClr>
              <a:buSzPct val="100000"/>
              <a:buChar char="●"/>
            </a:pPr>
            <a:r>
              <a:rPr lang="en-GB">
                <a:solidFill>
                  <a:schemeClr val="dk1"/>
                </a:solidFill>
              </a:rPr>
              <a:t>Likewise if there are any changes in the requirement from the customers or any build issues or any blocking issues then such details are also discussed in the meetings.</a:t>
            </a:r>
            <a:endParaRPr>
              <a:solidFill>
                <a:schemeClr val="dk1"/>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3"/>
          <p:cNvSpPr txBox="1"/>
          <p:nvPr>
            <p:ph type="title"/>
          </p:nvPr>
        </p:nvSpPr>
        <p:spPr>
          <a:xfrm>
            <a:off x="0" y="-645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Epics and Stories and Initiatives</a:t>
            </a:r>
            <a:endParaRPr/>
          </a:p>
        </p:txBody>
      </p:sp>
      <p:sp>
        <p:nvSpPr>
          <p:cNvPr id="299" name="Google Shape;299;p53"/>
          <p:cNvSpPr txBox="1"/>
          <p:nvPr>
            <p:ph idx="1" type="body"/>
          </p:nvPr>
        </p:nvSpPr>
        <p:spPr>
          <a:xfrm>
            <a:off x="-88400" y="396975"/>
            <a:ext cx="8520600" cy="4746600"/>
          </a:xfrm>
          <a:prstGeom prst="rect">
            <a:avLst/>
          </a:prstGeom>
        </p:spPr>
        <p:txBody>
          <a:bodyPr anchorCtr="0" anchor="t" bIns="91425" lIns="91425" spcFirstLastPara="1" rIns="91425" wrap="square" tIns="91425">
            <a:normAutofit lnSpcReduction="10000"/>
          </a:bodyPr>
          <a:lstStyle/>
          <a:p>
            <a:pPr indent="-342900" lvl="0" marL="457200" rtl="0" algn="just">
              <a:lnSpc>
                <a:spcPct val="150000"/>
              </a:lnSpc>
              <a:spcBef>
                <a:spcPts val="0"/>
              </a:spcBef>
              <a:spcAft>
                <a:spcPts val="0"/>
              </a:spcAft>
              <a:buClr>
                <a:schemeClr val="dk1"/>
              </a:buClr>
              <a:buSzPts val="1800"/>
              <a:buChar char="●"/>
            </a:pPr>
            <a:r>
              <a:rPr b="1" lang="en-GB">
                <a:solidFill>
                  <a:schemeClr val="dk1"/>
                </a:solidFill>
              </a:rPr>
              <a:t>Epic and user stories are hierarchical structures in Agile that organize work from high-level objectives to actionable tasks.</a:t>
            </a:r>
            <a:endParaRPr b="1">
              <a:solidFill>
                <a:schemeClr val="dk1"/>
              </a:solidFill>
            </a:endParaRPr>
          </a:p>
          <a:p>
            <a:pPr indent="-342900" lvl="0" marL="457200" rtl="0" algn="just">
              <a:lnSpc>
                <a:spcPct val="150000"/>
              </a:lnSpc>
              <a:spcBef>
                <a:spcPts val="0"/>
              </a:spcBef>
              <a:spcAft>
                <a:spcPts val="0"/>
              </a:spcAft>
              <a:buClr>
                <a:schemeClr val="dk1"/>
              </a:buClr>
              <a:buSzPts val="1800"/>
              <a:buChar char="●"/>
            </a:pPr>
            <a:r>
              <a:rPr lang="en-GB">
                <a:solidFill>
                  <a:schemeClr val="dk1"/>
                </a:solidFill>
              </a:rPr>
              <a:t>Stories are small, sprint-sized tasks, </a:t>
            </a:r>
            <a:r>
              <a:rPr b="1" lang="en-GB">
                <a:solidFill>
                  <a:schemeClr val="dk1"/>
                </a:solidFill>
              </a:rPr>
              <a:t>while epics group related stories under a larger goal, and initiatives encompass multiple epics.</a:t>
            </a:r>
            <a:endParaRPr b="1">
              <a:solidFill>
                <a:schemeClr val="dk1"/>
              </a:solidFill>
            </a:endParaRPr>
          </a:p>
          <a:p>
            <a:pPr indent="-342900" lvl="0" marL="457200" rtl="0" algn="just">
              <a:lnSpc>
                <a:spcPct val="150000"/>
              </a:lnSpc>
              <a:spcBef>
                <a:spcPts val="0"/>
              </a:spcBef>
              <a:spcAft>
                <a:spcPts val="0"/>
              </a:spcAft>
              <a:buClr>
                <a:schemeClr val="dk1"/>
              </a:buClr>
              <a:buSzPts val="1800"/>
              <a:buChar char="●"/>
            </a:pPr>
            <a:r>
              <a:rPr lang="en-GB">
                <a:solidFill>
                  <a:schemeClr val="dk1"/>
                </a:solidFill>
              </a:rPr>
              <a:t>This structure enables teams to balance flexibility with strategic alignment and clear reporting.</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rPr b="1" lang="en-GB">
                <a:solidFill>
                  <a:schemeClr val="dk1"/>
                </a:solidFill>
              </a:rPr>
              <a:t>Learn to break down large goals into epics and stories to improve tracking, communication, and delivery.</a:t>
            </a:r>
            <a:endParaRPr b="1">
              <a:solidFill>
                <a:schemeClr val="dk1"/>
              </a:solidFill>
            </a:endParaRPr>
          </a:p>
          <a:p>
            <a:pPr indent="-342900" lvl="0" marL="457200" rtl="0" algn="just">
              <a:lnSpc>
                <a:spcPct val="150000"/>
              </a:lnSpc>
              <a:spcBef>
                <a:spcPts val="0"/>
              </a:spcBef>
              <a:spcAft>
                <a:spcPts val="0"/>
              </a:spcAft>
              <a:buClr>
                <a:schemeClr val="dk1"/>
              </a:buClr>
              <a:buSzPts val="1800"/>
              <a:buChar char="●"/>
            </a:pPr>
            <a:r>
              <a:rPr lang="en-GB">
                <a:solidFill>
                  <a:schemeClr val="dk1"/>
                </a:solidFill>
              </a:rPr>
              <a:t>On an agile team, stories are something the team can commit to finish within a one- or two-week sprint. Oftentimes, developers would work on dozens of stories a month.</a:t>
            </a:r>
            <a:endParaRPr>
              <a:solidFill>
                <a:schemeClr val="dk1"/>
              </a:solidFill>
            </a:endParaRPr>
          </a:p>
          <a:p>
            <a:pPr indent="-342900" lvl="0" marL="457200" rtl="0" algn="just">
              <a:lnSpc>
                <a:spcPct val="150000"/>
              </a:lnSpc>
              <a:spcBef>
                <a:spcPts val="0"/>
              </a:spcBef>
              <a:spcAft>
                <a:spcPts val="0"/>
              </a:spcAft>
              <a:buClr>
                <a:schemeClr val="dk1"/>
              </a:buClr>
              <a:buSzPts val="1800"/>
              <a:buChar char="●"/>
            </a:pPr>
            <a:r>
              <a:t/>
            </a:r>
            <a:endParaRPr>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05" name="Google Shape;305;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342900" lvl="0" marL="457200" rtl="0" algn="just">
              <a:lnSpc>
                <a:spcPct val="150000"/>
              </a:lnSpc>
              <a:spcBef>
                <a:spcPts val="0"/>
              </a:spcBef>
              <a:spcAft>
                <a:spcPts val="0"/>
              </a:spcAft>
              <a:buClr>
                <a:schemeClr val="dk1"/>
              </a:buClr>
              <a:buSzPts val="1800"/>
              <a:buChar char="●"/>
            </a:pPr>
            <a:r>
              <a:rPr b="1" lang="en-GB">
                <a:solidFill>
                  <a:schemeClr val="dk1"/>
                </a:solidFill>
              </a:rPr>
              <a:t>Epics, in contrast, are few in number and take longer to complete. Teams often have two or three epics they work to complete each quarter.</a:t>
            </a:r>
            <a:endParaRPr b="1">
              <a:solidFill>
                <a:schemeClr val="dk1"/>
              </a:solidFill>
            </a:endParaRPr>
          </a:p>
          <a:p>
            <a:pPr indent="-342900" lvl="0" marL="457200" rtl="0" algn="just">
              <a:lnSpc>
                <a:spcPct val="150000"/>
              </a:lnSpc>
              <a:spcBef>
                <a:spcPts val="0"/>
              </a:spcBef>
              <a:spcAft>
                <a:spcPts val="0"/>
              </a:spcAft>
              <a:buClr>
                <a:schemeClr val="dk1"/>
              </a:buClr>
              <a:buSzPts val="1800"/>
              <a:buChar char="●"/>
            </a:pPr>
            <a:r>
              <a:rPr lang="en-GB">
                <a:solidFill>
                  <a:schemeClr val="dk1"/>
                </a:solidFill>
              </a:rPr>
              <a:t>In the same way that epics are made up of stories, initiatives are made up of epics. Initiatives offer another level of organization above epics. In many cases, an initiative compiles epics from multiple teams to achieve a much broader, bigger goal than any of the epics themselves. While an epic is something you might complete in a month or a quarter, initiatives are often completed in multiple quarters to a year.</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11" name="Google Shape;311;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12" name="Google Shape;312;p55"/>
          <p:cNvPicPr preferRelativeResize="0"/>
          <p:nvPr/>
        </p:nvPicPr>
        <p:blipFill>
          <a:blip r:embed="rId3">
            <a:alphaModFix/>
          </a:blip>
          <a:stretch>
            <a:fillRect/>
          </a:stretch>
        </p:blipFill>
        <p:spPr>
          <a:xfrm>
            <a:off x="311700" y="1152475"/>
            <a:ext cx="6569922" cy="34164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56"/>
          <p:cNvPicPr preferRelativeResize="0"/>
          <p:nvPr/>
        </p:nvPicPr>
        <p:blipFill>
          <a:blip r:embed="rId3">
            <a:alphaModFix/>
          </a:blip>
          <a:stretch>
            <a:fillRect/>
          </a:stretch>
        </p:blipFill>
        <p:spPr>
          <a:xfrm>
            <a:off x="507300" y="19175"/>
            <a:ext cx="8454776" cy="510515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57"/>
          <p:cNvSpPr txBox="1"/>
          <p:nvPr>
            <p:ph type="title"/>
          </p:nvPr>
        </p:nvSpPr>
        <p:spPr>
          <a:xfrm>
            <a:off x="0" y="769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Prioritizing Stories In Agile</a:t>
            </a:r>
            <a:endParaRPr/>
          </a:p>
        </p:txBody>
      </p:sp>
      <p:sp>
        <p:nvSpPr>
          <p:cNvPr id="323" name="Google Shape;323;p57"/>
          <p:cNvSpPr txBox="1"/>
          <p:nvPr>
            <p:ph idx="1" type="body"/>
          </p:nvPr>
        </p:nvSpPr>
        <p:spPr>
          <a:xfrm>
            <a:off x="47450" y="638371"/>
            <a:ext cx="9048000" cy="4493700"/>
          </a:xfrm>
          <a:prstGeom prst="rect">
            <a:avLst/>
          </a:prstGeom>
        </p:spPr>
        <p:txBody>
          <a:bodyPr anchorCtr="0" anchor="t" bIns="91425" lIns="91425" spcFirstLastPara="1" rIns="91425" wrap="square" tIns="91425">
            <a:normAutofit fontScale="62500"/>
          </a:bodyPr>
          <a:lstStyle/>
          <a:p>
            <a:pPr indent="-300038" lvl="0" marL="457200" rtl="0" algn="just">
              <a:lnSpc>
                <a:spcPct val="150000"/>
              </a:lnSpc>
              <a:spcBef>
                <a:spcPts val="0"/>
              </a:spcBef>
              <a:spcAft>
                <a:spcPts val="0"/>
              </a:spcAft>
              <a:buClr>
                <a:schemeClr val="dk1"/>
              </a:buClr>
              <a:buSzPct val="100000"/>
              <a:buChar char="●"/>
            </a:pPr>
            <a:r>
              <a:rPr lang="en-GB">
                <a:solidFill>
                  <a:schemeClr val="dk1"/>
                </a:solidFill>
              </a:rPr>
              <a:t>Prioritizing stories in agile involves dynamically ordering the product backlog so that the team delivers the highest business value to the end user as soon as possible. </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It relies on balancing business value, development effort, dependencies, and urgency rather than working on tasks simultaneously.</a:t>
            </a:r>
            <a:endParaRPr>
              <a:solidFill>
                <a:schemeClr val="dk1"/>
              </a:solidFill>
            </a:endParaRPr>
          </a:p>
          <a:p>
            <a:pPr indent="0" lvl="0" marL="0" rtl="0" algn="just">
              <a:lnSpc>
                <a:spcPct val="150000"/>
              </a:lnSpc>
              <a:spcBef>
                <a:spcPts val="1200"/>
              </a:spcBef>
              <a:spcAft>
                <a:spcPts val="0"/>
              </a:spcAft>
              <a:buNone/>
            </a:pPr>
            <a:r>
              <a:rPr lang="en-GB">
                <a:solidFill>
                  <a:schemeClr val="dk1"/>
                </a:solidFill>
              </a:rPr>
              <a:t>MoSCoW (Criticality): </a:t>
            </a:r>
            <a:endParaRPr>
              <a:solidFill>
                <a:schemeClr val="dk1"/>
              </a:solidFill>
            </a:endParaRPr>
          </a:p>
          <a:p>
            <a:pPr indent="-300038" lvl="0" marL="457200" rtl="0" algn="just">
              <a:lnSpc>
                <a:spcPct val="150000"/>
              </a:lnSpc>
              <a:spcBef>
                <a:spcPts val="1200"/>
              </a:spcBef>
              <a:spcAft>
                <a:spcPts val="0"/>
              </a:spcAft>
              <a:buClr>
                <a:schemeClr val="dk1"/>
              </a:buClr>
              <a:buSzPct val="100000"/>
              <a:buChar char="●"/>
            </a:pPr>
            <a:r>
              <a:rPr lang="en-GB">
                <a:solidFill>
                  <a:schemeClr val="dk1"/>
                </a:solidFill>
              </a:rPr>
              <a:t>Must-have (M): These are non-negotiable core features to be done immediately.</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Should-have (S): These are necessary but not critical. Ideally, they will be done now, but could be deferred to the next sprint. </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Could-have (C): These are nice to have but not vital. Consider them when higher-priority items are addressed.</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Won’t-have (W): These are deprioritized features, either because they are low value or irrelevant to the current project phase.</a:t>
            </a:r>
            <a:endParaRPr>
              <a:solidFill>
                <a:schemeClr val="dk1"/>
              </a:solidFill>
            </a:endParaRPr>
          </a:p>
          <a:p>
            <a:pPr indent="0" lvl="0" marL="0" rtl="0" algn="just">
              <a:lnSpc>
                <a:spcPct val="150000"/>
              </a:lnSpc>
              <a:spcBef>
                <a:spcPts val="1200"/>
              </a:spcBef>
              <a:spcAft>
                <a:spcPts val="0"/>
              </a:spcAft>
              <a:buNone/>
            </a:pPr>
            <a:r>
              <a:rPr lang="en-GB">
                <a:solidFill>
                  <a:schemeClr val="dk1"/>
                </a:solidFill>
              </a:rPr>
              <a:t>KANO Model (user satisfaction): A way to prioritize stories based on </a:t>
            </a:r>
            <a:r>
              <a:rPr i="1" lang="en-GB">
                <a:solidFill>
                  <a:schemeClr val="dk1"/>
                </a:solidFill>
              </a:rPr>
              <a:t>how customers feel, not </a:t>
            </a:r>
            <a:r>
              <a:rPr i="1" lang="en-GB">
                <a:solidFill>
                  <a:schemeClr val="dk1"/>
                </a:solidFill>
              </a:rPr>
              <a:t>just</a:t>
            </a:r>
            <a:r>
              <a:rPr i="1" lang="en-GB">
                <a:solidFill>
                  <a:schemeClr val="dk1"/>
                </a:solidFill>
              </a:rPr>
              <a:t> “Important or not”</a:t>
            </a:r>
            <a:endParaRPr i="1">
              <a:solidFill>
                <a:schemeClr val="dk1"/>
              </a:solidFill>
            </a:endParaRPr>
          </a:p>
          <a:p>
            <a:pPr indent="-300038" lvl="0" marL="457200" rtl="0" algn="just">
              <a:lnSpc>
                <a:spcPct val="150000"/>
              </a:lnSpc>
              <a:spcBef>
                <a:spcPts val="1200"/>
              </a:spcBef>
              <a:spcAft>
                <a:spcPts val="0"/>
              </a:spcAft>
              <a:buClr>
                <a:schemeClr val="dk1"/>
              </a:buClr>
              <a:buSzPct val="100000"/>
              <a:buChar char="●"/>
            </a:pPr>
            <a:r>
              <a:rPr lang="en-GB">
                <a:solidFill>
                  <a:schemeClr val="dk1"/>
                </a:solidFill>
              </a:rPr>
              <a:t>Basic needs: These are the core essentials users expect. Think of basic math functions in a calculator app.</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Performance needs: These features increase user happiness when they work. Imagine AI solving math problems in the app.</a:t>
            </a:r>
            <a:endParaRPr>
              <a:solidFill>
                <a:schemeClr val="dk1"/>
              </a:solidFill>
            </a:endParaRPr>
          </a:p>
          <a:p>
            <a:pPr indent="-300038" lvl="0" marL="457200" rtl="0" algn="just">
              <a:lnSpc>
                <a:spcPct val="150000"/>
              </a:lnSpc>
              <a:spcBef>
                <a:spcPts val="0"/>
              </a:spcBef>
              <a:spcAft>
                <a:spcPts val="0"/>
              </a:spcAft>
              <a:buClr>
                <a:schemeClr val="dk1"/>
              </a:buClr>
              <a:buSzPct val="100000"/>
              <a:buChar char="●"/>
            </a:pPr>
            <a:r>
              <a:rPr lang="en-GB">
                <a:solidFill>
                  <a:schemeClr val="dk1"/>
                </a:solidFill>
              </a:rPr>
              <a:t>Excitement needs: These delightful extras make users go “wow.” But if they’re absent, users won’t throw a fit. It’s like snapping a pic of a math problem and getting the answer handed to you.</a:t>
            </a:r>
            <a:endParaRPr>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graphicFrame>
        <p:nvGraphicFramePr>
          <p:cNvPr id="328" name="Google Shape;328;p58"/>
          <p:cNvGraphicFramePr/>
          <p:nvPr/>
        </p:nvGraphicFramePr>
        <p:xfrm>
          <a:off x="1088175" y="377400"/>
          <a:ext cx="3000000" cy="3000000"/>
        </p:xfrm>
        <a:graphic>
          <a:graphicData uri="http://schemas.openxmlformats.org/drawingml/2006/table">
            <a:tbl>
              <a:tblPr>
                <a:noFill/>
                <a:tableStyleId>{86FE01BB-6C40-43A5-BE39-A6695E1A0672}</a:tableStyleId>
              </a:tblPr>
              <a:tblGrid>
                <a:gridCol w="1565175"/>
                <a:gridCol w="3260825"/>
                <a:gridCol w="2413000"/>
              </a:tblGrid>
              <a:tr h="381000">
                <a:tc>
                  <a:txBody>
                    <a:bodyPr/>
                    <a:lstStyle/>
                    <a:p>
                      <a:pPr indent="0" lvl="0" marL="0" rtl="0" algn="l">
                        <a:spcBef>
                          <a:spcPts val="0"/>
                        </a:spcBef>
                        <a:spcAft>
                          <a:spcPts val="0"/>
                        </a:spcAft>
                        <a:buNone/>
                      </a:pPr>
                      <a:r>
                        <a:rPr b="1" lang="en-GB"/>
                        <a:t>Bucket</a:t>
                      </a:r>
                      <a:endParaRPr b="1"/>
                    </a:p>
                  </a:txBody>
                  <a:tcPr marT="91425" marB="91425" marR="91425" marL="91425"/>
                </a:tc>
                <a:tc>
                  <a:txBody>
                    <a:bodyPr/>
                    <a:lstStyle/>
                    <a:p>
                      <a:pPr indent="0" lvl="0" marL="0" rtl="0" algn="l">
                        <a:spcBef>
                          <a:spcPts val="0"/>
                        </a:spcBef>
                        <a:spcAft>
                          <a:spcPts val="0"/>
                        </a:spcAft>
                        <a:buNone/>
                      </a:pPr>
                      <a:r>
                        <a:rPr b="1" lang="en-GB"/>
                        <a:t>Means</a:t>
                      </a:r>
                      <a:endParaRPr b="1"/>
                    </a:p>
                  </a:txBody>
                  <a:tcPr marT="91425" marB="91425" marR="91425" marL="91425"/>
                </a:tc>
                <a:tc>
                  <a:txBody>
                    <a:bodyPr/>
                    <a:lstStyle/>
                    <a:p>
                      <a:pPr indent="0" lvl="0" marL="0" rtl="0" algn="l">
                        <a:spcBef>
                          <a:spcPts val="0"/>
                        </a:spcBef>
                        <a:spcAft>
                          <a:spcPts val="0"/>
                        </a:spcAft>
                        <a:buNone/>
                      </a:pPr>
                      <a:r>
                        <a:rPr b="1" lang="en-GB"/>
                        <a:t>Example </a:t>
                      </a:r>
                      <a:endParaRPr b="1"/>
                    </a:p>
                    <a:p>
                      <a:pPr indent="0" lvl="0" marL="0" rtl="0" algn="l">
                        <a:spcBef>
                          <a:spcPts val="0"/>
                        </a:spcBef>
                        <a:spcAft>
                          <a:spcPts val="0"/>
                        </a:spcAft>
                        <a:buNone/>
                      </a:pPr>
                      <a:r>
                        <a:rPr b="1" lang="en-GB"/>
                        <a:t>“Food Delivery App”</a:t>
                      </a:r>
                      <a:endParaRPr b="1"/>
                    </a:p>
                  </a:txBody>
                  <a:tcPr marT="91425" marB="91425" marR="91425" marL="91425"/>
                </a:tc>
              </a:tr>
              <a:tr h="381000">
                <a:tc>
                  <a:txBody>
                    <a:bodyPr/>
                    <a:lstStyle/>
                    <a:p>
                      <a:pPr indent="0" lvl="0" marL="0" rtl="0" algn="l">
                        <a:spcBef>
                          <a:spcPts val="0"/>
                        </a:spcBef>
                        <a:spcAft>
                          <a:spcPts val="0"/>
                        </a:spcAft>
                        <a:buNone/>
                      </a:pPr>
                      <a:r>
                        <a:rPr lang="en-GB"/>
                        <a:t>Must have</a:t>
                      </a:r>
                      <a:endParaRPr/>
                    </a:p>
                  </a:txBody>
                  <a:tcPr marT="91425" marB="91425" marR="91425" marL="91425"/>
                </a:tc>
                <a:tc>
                  <a:txBody>
                    <a:bodyPr/>
                    <a:lstStyle/>
                    <a:p>
                      <a:pPr indent="0" lvl="0" marL="0" rtl="0" algn="l">
                        <a:spcBef>
                          <a:spcPts val="0"/>
                        </a:spcBef>
                        <a:spcAft>
                          <a:spcPts val="0"/>
                        </a:spcAft>
                        <a:buNone/>
                      </a:pPr>
                      <a:r>
                        <a:rPr lang="en-GB"/>
                        <a:t>Project fails without it</a:t>
                      </a:r>
                      <a:endParaRPr/>
                    </a:p>
                  </a:txBody>
                  <a:tcPr marT="91425" marB="91425" marR="91425" marL="91425"/>
                </a:tc>
                <a:tc>
                  <a:txBody>
                    <a:bodyPr/>
                    <a:lstStyle/>
                    <a:p>
                      <a:pPr indent="0" lvl="0" marL="0" rtl="0" algn="l">
                        <a:spcBef>
                          <a:spcPts val="0"/>
                        </a:spcBef>
                        <a:spcAft>
                          <a:spcPts val="0"/>
                        </a:spcAft>
                        <a:buNone/>
                      </a:pPr>
                      <a:r>
                        <a:rPr lang="en-GB"/>
                        <a:t>Login, Add to cart, payment</a:t>
                      </a:r>
                      <a:endParaRPr/>
                    </a:p>
                  </a:txBody>
                  <a:tcPr marT="91425" marB="91425" marR="91425" marL="91425"/>
                </a:tc>
              </a:tr>
              <a:tr h="381000">
                <a:tc>
                  <a:txBody>
                    <a:bodyPr/>
                    <a:lstStyle/>
                    <a:p>
                      <a:pPr indent="0" lvl="0" marL="0" rtl="0" algn="l">
                        <a:spcBef>
                          <a:spcPts val="0"/>
                        </a:spcBef>
                        <a:spcAft>
                          <a:spcPts val="0"/>
                        </a:spcAft>
                        <a:buNone/>
                      </a:pPr>
                      <a:r>
                        <a:rPr lang="en-GB"/>
                        <a:t>Should have</a:t>
                      </a:r>
                      <a:endParaRPr/>
                    </a:p>
                  </a:txBody>
                  <a:tcPr marT="91425" marB="91425" marR="91425" marL="91425"/>
                </a:tc>
                <a:tc>
                  <a:txBody>
                    <a:bodyPr/>
                    <a:lstStyle/>
                    <a:p>
                      <a:pPr indent="0" lvl="0" marL="0" rtl="0" algn="l">
                        <a:spcBef>
                          <a:spcPts val="0"/>
                        </a:spcBef>
                        <a:spcAft>
                          <a:spcPts val="0"/>
                        </a:spcAft>
                        <a:buNone/>
                      </a:pPr>
                      <a:r>
                        <a:rPr lang="en-GB"/>
                        <a:t>Important, but can wait till 1 sprint</a:t>
                      </a:r>
                      <a:endParaRPr/>
                    </a:p>
                  </a:txBody>
                  <a:tcPr marT="91425" marB="91425" marR="91425" marL="91425"/>
                </a:tc>
                <a:tc>
                  <a:txBody>
                    <a:bodyPr/>
                    <a:lstStyle/>
                    <a:p>
                      <a:pPr indent="0" lvl="0" marL="0" rtl="0" algn="l">
                        <a:spcBef>
                          <a:spcPts val="0"/>
                        </a:spcBef>
                        <a:spcAft>
                          <a:spcPts val="0"/>
                        </a:spcAft>
                        <a:buNone/>
                      </a:pPr>
                      <a:r>
                        <a:rPr lang="en-GB"/>
                        <a:t>Apply Coupon, Tracking</a:t>
                      </a:r>
                      <a:endParaRPr/>
                    </a:p>
                  </a:txBody>
                  <a:tcPr marT="91425" marB="91425" marR="91425" marL="91425"/>
                </a:tc>
              </a:tr>
              <a:tr h="381000">
                <a:tc>
                  <a:txBody>
                    <a:bodyPr/>
                    <a:lstStyle/>
                    <a:p>
                      <a:pPr indent="0" lvl="0" marL="0" rtl="0" algn="l">
                        <a:spcBef>
                          <a:spcPts val="0"/>
                        </a:spcBef>
                        <a:spcAft>
                          <a:spcPts val="0"/>
                        </a:spcAft>
                        <a:buNone/>
                      </a:pPr>
                      <a:r>
                        <a:rPr lang="en-GB"/>
                        <a:t>Could have</a:t>
                      </a:r>
                      <a:endParaRPr/>
                    </a:p>
                  </a:txBody>
                  <a:tcPr marT="91425" marB="91425" marR="91425" marL="91425"/>
                </a:tc>
                <a:tc>
                  <a:txBody>
                    <a:bodyPr/>
                    <a:lstStyle/>
                    <a:p>
                      <a:pPr indent="0" lvl="0" marL="0" rtl="0" algn="l">
                        <a:spcBef>
                          <a:spcPts val="0"/>
                        </a:spcBef>
                        <a:spcAft>
                          <a:spcPts val="0"/>
                        </a:spcAft>
                        <a:buNone/>
                      </a:pPr>
                      <a:r>
                        <a:rPr lang="en-GB"/>
                        <a:t>Nice to have if the time left</a:t>
                      </a:r>
                      <a:endParaRPr/>
                    </a:p>
                  </a:txBody>
                  <a:tcPr marT="91425" marB="91425" marR="91425" marL="91425"/>
                </a:tc>
                <a:tc>
                  <a:txBody>
                    <a:bodyPr/>
                    <a:lstStyle/>
                    <a:p>
                      <a:pPr indent="0" lvl="0" marL="0" rtl="0" algn="l">
                        <a:spcBef>
                          <a:spcPts val="0"/>
                        </a:spcBef>
                        <a:spcAft>
                          <a:spcPts val="0"/>
                        </a:spcAft>
                        <a:buNone/>
                      </a:pPr>
                      <a:r>
                        <a:rPr lang="en-GB"/>
                        <a:t>Dark mode, Rate rider </a:t>
                      </a:r>
                      <a:endParaRPr/>
                    </a:p>
                  </a:txBody>
                  <a:tcPr marT="91425" marB="91425" marR="91425" marL="91425"/>
                </a:tc>
              </a:tr>
              <a:tr h="381000">
                <a:tc>
                  <a:txBody>
                    <a:bodyPr/>
                    <a:lstStyle/>
                    <a:p>
                      <a:pPr indent="0" lvl="0" marL="0" rtl="0" algn="l">
                        <a:spcBef>
                          <a:spcPts val="0"/>
                        </a:spcBef>
                        <a:spcAft>
                          <a:spcPts val="0"/>
                        </a:spcAft>
                        <a:buNone/>
                      </a:pPr>
                      <a:r>
                        <a:rPr lang="en-GB"/>
                        <a:t>Won’t have</a:t>
                      </a:r>
                      <a:endParaRPr/>
                    </a:p>
                  </a:txBody>
                  <a:tcPr marT="91425" marB="91425" marR="91425" marL="91425"/>
                </a:tc>
                <a:tc>
                  <a:txBody>
                    <a:bodyPr/>
                    <a:lstStyle/>
                    <a:p>
                      <a:pPr indent="0" lvl="0" marL="0" rtl="0" algn="l">
                        <a:spcBef>
                          <a:spcPts val="0"/>
                        </a:spcBef>
                        <a:spcAft>
                          <a:spcPts val="0"/>
                        </a:spcAft>
                        <a:buNone/>
                      </a:pPr>
                      <a:r>
                        <a:rPr lang="en-GB"/>
                        <a:t>Not in this release / never</a:t>
                      </a:r>
                      <a:endParaRPr/>
                    </a:p>
                  </a:txBody>
                  <a:tcPr marT="91425" marB="91425" marR="91425" marL="91425"/>
                </a:tc>
                <a:tc>
                  <a:txBody>
                    <a:bodyPr/>
                    <a:lstStyle/>
                    <a:p>
                      <a:pPr indent="0" lvl="0" marL="0" rtl="0" algn="l">
                        <a:spcBef>
                          <a:spcPts val="0"/>
                        </a:spcBef>
                        <a:spcAft>
                          <a:spcPts val="0"/>
                        </a:spcAft>
                        <a:buNone/>
                      </a:pPr>
                      <a:r>
                        <a:rPr lang="en-GB"/>
                        <a:t>Chat with chef</a:t>
                      </a:r>
                      <a:endParaRPr/>
                    </a:p>
                  </a:txBody>
                  <a:tcPr marT="91425" marB="91425" marR="91425" marL="91425"/>
                </a:tc>
              </a:tr>
            </a:tbl>
          </a:graphicData>
        </a:graphic>
      </p:graphicFrame>
      <p:sp>
        <p:nvSpPr>
          <p:cNvPr id="329" name="Google Shape;329;p58"/>
          <p:cNvSpPr txBox="1"/>
          <p:nvPr>
            <p:ph idx="1" type="body"/>
          </p:nvPr>
        </p:nvSpPr>
        <p:spPr>
          <a:xfrm>
            <a:off x="311700" y="3208525"/>
            <a:ext cx="8520600" cy="788700"/>
          </a:xfrm>
          <a:prstGeom prst="rect">
            <a:avLst/>
          </a:prstGeom>
        </p:spPr>
        <p:txBody>
          <a:bodyPr anchorCtr="0" anchor="t" bIns="91425" lIns="91425" spcFirstLastPara="1" rIns="91425" wrap="square" tIns="91425">
            <a:normAutofit/>
          </a:bodyPr>
          <a:lstStyle/>
          <a:p>
            <a:pPr indent="0" lvl="0" marL="0" rtl="0" algn="just">
              <a:lnSpc>
                <a:spcPct val="150000"/>
              </a:lnSpc>
              <a:spcBef>
                <a:spcPts val="0"/>
              </a:spcBef>
              <a:spcAft>
                <a:spcPts val="1200"/>
              </a:spcAft>
              <a:buNone/>
            </a:pPr>
            <a:r>
              <a:rPr lang="en-GB">
                <a:solidFill>
                  <a:schemeClr val="dk1"/>
                </a:solidFill>
              </a:rPr>
              <a:t>MosCoW to filter, then use Kano to sort “Must + Should” stories</a:t>
            </a:r>
            <a:endParaRPr>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9"/>
          <p:cNvSpPr txBox="1"/>
          <p:nvPr>
            <p:ph idx="1" type="body"/>
          </p:nvPr>
        </p:nvSpPr>
        <p:spPr>
          <a:xfrm>
            <a:off x="207875" y="416350"/>
            <a:ext cx="8520600" cy="4236900"/>
          </a:xfrm>
          <a:prstGeom prst="rect">
            <a:avLst/>
          </a:prstGeom>
        </p:spPr>
        <p:txBody>
          <a:bodyPr anchorCtr="0" anchor="t" bIns="91425" lIns="91425" spcFirstLastPara="1" rIns="91425" wrap="square" tIns="91425">
            <a:normAutofit fontScale="92500" lnSpcReduction="20000"/>
          </a:bodyPr>
          <a:lstStyle/>
          <a:p>
            <a:pPr indent="0" lvl="0" marL="0" rtl="0" algn="just">
              <a:lnSpc>
                <a:spcPct val="150000"/>
              </a:lnSpc>
              <a:spcBef>
                <a:spcPts val="0"/>
              </a:spcBef>
              <a:spcAft>
                <a:spcPts val="0"/>
              </a:spcAft>
              <a:buNone/>
            </a:pPr>
            <a:r>
              <a:rPr lang="en-GB" sz="1700">
                <a:solidFill>
                  <a:schemeClr val="dk1"/>
                </a:solidFill>
              </a:rPr>
              <a:t>Weighted Shortest Job First (</a:t>
            </a:r>
            <a:r>
              <a:rPr lang="en-GB" sz="1700">
                <a:solidFill>
                  <a:schemeClr val="dk1"/>
                </a:solidFill>
                <a:highlight>
                  <a:srgbClr val="FFFFFF"/>
                </a:highlight>
              </a:rPr>
              <a:t>used to sequence work for maximum economic benefit)</a:t>
            </a:r>
            <a:endParaRPr sz="1700">
              <a:solidFill>
                <a:schemeClr val="dk1"/>
              </a:solidFill>
              <a:highlight>
                <a:srgbClr val="FFFFFF"/>
              </a:highlight>
            </a:endParaRPr>
          </a:p>
          <a:p>
            <a:pPr indent="-334328" lvl="0" marL="457200" rtl="0" algn="just">
              <a:lnSpc>
                <a:spcPct val="150000"/>
              </a:lnSpc>
              <a:spcBef>
                <a:spcPts val="1200"/>
              </a:spcBef>
              <a:spcAft>
                <a:spcPts val="0"/>
              </a:spcAft>
              <a:buClr>
                <a:schemeClr val="dk1"/>
              </a:buClr>
              <a:buSzPct val="100000"/>
              <a:buChar char="●"/>
            </a:pPr>
            <a:r>
              <a:rPr lang="en-GB">
                <a:solidFill>
                  <a:schemeClr val="dk1"/>
                </a:solidFill>
              </a:rPr>
              <a:t>Weighted Shortest Job First (WSJF) is one of the most widely used prioritization techniques that helps decide what to work on first so that you get the most value in the shortest amount of time. In SAFe, WSJF helps in figuring out priorities by comparing how much delay it would cost the company versus how long the job will take. It is more about doing the most valuable things faster.</a:t>
            </a:r>
            <a:endParaRPr>
              <a:solidFill>
                <a:schemeClr val="dk1"/>
              </a:solidFill>
            </a:endParaRPr>
          </a:p>
          <a:p>
            <a:pPr indent="0" lvl="0" marL="0" rtl="0" algn="just">
              <a:lnSpc>
                <a:spcPct val="150000"/>
              </a:lnSpc>
              <a:spcBef>
                <a:spcPts val="1200"/>
              </a:spcBef>
              <a:spcAft>
                <a:spcPts val="0"/>
              </a:spcAft>
              <a:buNone/>
            </a:pPr>
            <a:r>
              <a:rPr lang="en-GB">
                <a:solidFill>
                  <a:schemeClr val="dk1"/>
                </a:solidFill>
              </a:rPr>
              <a:t>WSJF = Cost of Delay / Job size</a:t>
            </a:r>
            <a:endParaRPr>
              <a:solidFill>
                <a:schemeClr val="dk1"/>
              </a:solidFill>
            </a:endParaRPr>
          </a:p>
          <a:p>
            <a:pPr indent="-334328" lvl="0" marL="457200" rtl="0" algn="just">
              <a:lnSpc>
                <a:spcPct val="150000"/>
              </a:lnSpc>
              <a:spcBef>
                <a:spcPts val="1200"/>
              </a:spcBef>
              <a:spcAft>
                <a:spcPts val="0"/>
              </a:spcAft>
              <a:buClr>
                <a:schemeClr val="dk1"/>
              </a:buClr>
              <a:buSzPct val="100000"/>
              <a:buChar char="●"/>
            </a:pPr>
            <a:r>
              <a:rPr lang="en-GB">
                <a:solidFill>
                  <a:schemeClr val="dk1"/>
                </a:solidFill>
              </a:rPr>
              <a:t>With this formula, it is evident that any work item with maximum Cost of delay directly influences the priority i.e work items with higher value gets picked up first and work item with minimum job size indirectly influences the value i.e, small work item gets picked up first.</a:t>
            </a:r>
            <a:endParaRPr>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pic>
        <p:nvPicPr>
          <p:cNvPr id="339" name="Google Shape;339;p60"/>
          <p:cNvPicPr preferRelativeResize="0"/>
          <p:nvPr/>
        </p:nvPicPr>
        <p:blipFill rotWithShape="1">
          <a:blip r:embed="rId3">
            <a:alphaModFix/>
          </a:blip>
          <a:srcRect b="7535" l="12579" r="13210" t="9752"/>
          <a:stretch/>
        </p:blipFill>
        <p:spPr>
          <a:xfrm>
            <a:off x="428350" y="187650"/>
            <a:ext cx="5050926" cy="2645250"/>
          </a:xfrm>
          <a:prstGeom prst="rect">
            <a:avLst/>
          </a:prstGeom>
          <a:noFill/>
          <a:ln>
            <a:noFill/>
          </a:ln>
        </p:spPr>
      </p:pic>
      <p:sp>
        <p:nvSpPr>
          <p:cNvPr id="340" name="Google Shape;340;p60"/>
          <p:cNvSpPr txBox="1"/>
          <p:nvPr>
            <p:ph idx="1" type="body"/>
          </p:nvPr>
        </p:nvSpPr>
        <p:spPr>
          <a:xfrm>
            <a:off x="4572000" y="1713750"/>
            <a:ext cx="4860900" cy="2973300"/>
          </a:xfrm>
          <a:prstGeom prst="rect">
            <a:avLst/>
          </a:prstGeom>
        </p:spPr>
        <p:txBody>
          <a:bodyPr anchorCtr="0" anchor="t" bIns="91425" lIns="91425" spcFirstLastPara="1" rIns="91425" wrap="square" tIns="91425">
            <a:normAutofit lnSpcReduction="10000"/>
          </a:bodyPr>
          <a:lstStyle/>
          <a:p>
            <a:pPr indent="0" lvl="0" marL="0" rtl="0" algn="l">
              <a:spcBef>
                <a:spcPts val="1800"/>
              </a:spcBef>
              <a:spcAft>
                <a:spcPts val="0"/>
              </a:spcAft>
              <a:buNone/>
            </a:pPr>
            <a:r>
              <a:rPr b="1" lang="en-GB" sz="1600">
                <a:solidFill>
                  <a:schemeClr val="dk1"/>
                </a:solidFill>
              </a:rPr>
              <a:t>Example:</a:t>
            </a:r>
            <a:endParaRPr b="1" sz="1600">
              <a:solidFill>
                <a:schemeClr val="dk1"/>
              </a:solidFill>
            </a:endParaRPr>
          </a:p>
          <a:p>
            <a:pPr indent="0" lvl="0" marL="0" rtl="0" algn="l">
              <a:spcBef>
                <a:spcPts val="1800"/>
              </a:spcBef>
              <a:spcAft>
                <a:spcPts val="0"/>
              </a:spcAft>
              <a:buClr>
                <a:schemeClr val="dk1"/>
              </a:buClr>
              <a:buSzPts val="1100"/>
              <a:buFont typeface="Arial"/>
              <a:buNone/>
            </a:pPr>
            <a:r>
              <a:rPr lang="en-GB" sz="1600">
                <a:solidFill>
                  <a:schemeClr val="dk1"/>
                </a:solidFill>
              </a:rPr>
              <a:t>Module: Checkout Payment Redesign</a:t>
            </a:r>
            <a:endParaRPr sz="1600">
              <a:solidFill>
                <a:schemeClr val="dk1"/>
              </a:solidFill>
            </a:endParaRPr>
          </a:p>
          <a:p>
            <a:pPr indent="-330200" lvl="0" marL="457200" rtl="0" algn="l">
              <a:spcBef>
                <a:spcPts val="900"/>
              </a:spcBef>
              <a:spcAft>
                <a:spcPts val="0"/>
              </a:spcAft>
              <a:buClr>
                <a:schemeClr val="dk1"/>
              </a:buClr>
              <a:buSzPts val="1600"/>
              <a:buChar char="●"/>
            </a:pPr>
            <a:r>
              <a:rPr lang="en-GB" sz="1600">
                <a:solidFill>
                  <a:schemeClr val="dk1"/>
                </a:solidFill>
              </a:rPr>
              <a:t>User/Business Value: 13</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Time Criticality: 8</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Risk Reduction/Opportunity Enablement: 3</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Job Size: 5</a:t>
            </a:r>
            <a:endParaRPr sz="1600">
              <a:solidFill>
                <a:schemeClr val="dk1"/>
              </a:solidFill>
            </a:endParaRPr>
          </a:p>
          <a:p>
            <a:pPr indent="-330200" lvl="0" marL="457200" rtl="0" algn="l">
              <a:spcBef>
                <a:spcPts val="0"/>
              </a:spcBef>
              <a:spcAft>
                <a:spcPts val="0"/>
              </a:spcAft>
              <a:buClr>
                <a:schemeClr val="dk1"/>
              </a:buClr>
              <a:buSzPts val="1600"/>
              <a:buChar char="●"/>
            </a:pPr>
            <a:r>
              <a:rPr lang="en-GB" sz="1600">
                <a:solidFill>
                  <a:schemeClr val="dk1"/>
                </a:solidFill>
              </a:rPr>
              <a:t>Calculation:</a:t>
            </a:r>
            <a:endParaRPr sz="1600">
              <a:solidFill>
                <a:schemeClr val="dk1"/>
              </a:solidFill>
            </a:endParaRPr>
          </a:p>
          <a:p>
            <a:pPr indent="-330200" lvl="1" marL="914400" rtl="0" algn="l">
              <a:spcBef>
                <a:spcPts val="0"/>
              </a:spcBef>
              <a:spcAft>
                <a:spcPts val="0"/>
              </a:spcAft>
              <a:buClr>
                <a:schemeClr val="dk1"/>
              </a:buClr>
              <a:buSzPts val="1600"/>
              <a:buChar char="○"/>
            </a:pPr>
            <a:r>
              <a:rPr b="1" lang="en-GB" sz="1600">
                <a:solidFill>
                  <a:schemeClr val="dk1"/>
                </a:solidFill>
              </a:rPr>
              <a:t>CoD</a:t>
            </a:r>
            <a:r>
              <a:rPr lang="en-GB" sz="1600">
                <a:solidFill>
                  <a:schemeClr val="dk1"/>
                </a:solidFill>
              </a:rPr>
              <a:t> = 13 + 8 + 3 = 24</a:t>
            </a:r>
            <a:endParaRPr sz="1600">
              <a:solidFill>
                <a:schemeClr val="dk1"/>
              </a:solidFill>
            </a:endParaRPr>
          </a:p>
          <a:p>
            <a:pPr indent="-330200" lvl="1" marL="914400" rtl="0" algn="l">
              <a:spcBef>
                <a:spcPts val="0"/>
              </a:spcBef>
              <a:spcAft>
                <a:spcPts val="0"/>
              </a:spcAft>
              <a:buClr>
                <a:schemeClr val="dk1"/>
              </a:buClr>
              <a:buSzPts val="1600"/>
              <a:buChar char="○"/>
            </a:pPr>
            <a:r>
              <a:rPr b="1" lang="en-GB" sz="1600">
                <a:solidFill>
                  <a:schemeClr val="dk1"/>
                </a:solidFill>
              </a:rPr>
              <a:t>WSJF</a:t>
            </a:r>
            <a:r>
              <a:rPr lang="en-GB" sz="1600">
                <a:solidFill>
                  <a:schemeClr val="dk1"/>
                </a:solidFill>
              </a:rPr>
              <a:t> = 24/ 5 = 4.8</a:t>
            </a:r>
            <a:endParaRPr sz="1600">
              <a:solidFill>
                <a:schemeClr val="dk1"/>
              </a:solidFill>
            </a:endParaRPr>
          </a:p>
        </p:txBody>
      </p:sp>
      <p:sp>
        <p:nvSpPr>
          <p:cNvPr id="341" name="Google Shape;341;p60"/>
          <p:cNvSpPr txBox="1"/>
          <p:nvPr/>
        </p:nvSpPr>
        <p:spPr>
          <a:xfrm>
            <a:off x="270100" y="3002450"/>
            <a:ext cx="4363500" cy="1737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GB">
                <a:solidFill>
                  <a:schemeClr val="dk1"/>
                </a:solidFill>
              </a:rPr>
              <a:t>AI Chatbot Integration (Score: 8)</a:t>
            </a:r>
            <a:endParaRPr>
              <a:solidFill>
                <a:schemeClr val="dk1"/>
              </a:solidFill>
            </a:endParaRPr>
          </a:p>
          <a:p>
            <a:pPr indent="0" lvl="0" marL="0" rtl="0" algn="l">
              <a:lnSpc>
                <a:spcPct val="115000"/>
              </a:lnSpc>
              <a:spcBef>
                <a:spcPts val="900"/>
              </a:spcBef>
              <a:spcAft>
                <a:spcPts val="0"/>
              </a:spcAft>
              <a:buNone/>
            </a:pPr>
            <a:r>
              <a:rPr lang="en-GB">
                <a:solidFill>
                  <a:schemeClr val="dk1"/>
                </a:solidFill>
              </a:rPr>
              <a:t>New Aesthetic Dark Theme (Score: 6)</a:t>
            </a:r>
            <a:endParaRPr>
              <a:solidFill>
                <a:schemeClr val="dk1"/>
              </a:solidFill>
            </a:endParaRPr>
          </a:p>
          <a:p>
            <a:pPr indent="0" lvl="0" marL="0" rtl="0" algn="l">
              <a:lnSpc>
                <a:spcPct val="115000"/>
              </a:lnSpc>
              <a:spcBef>
                <a:spcPts val="900"/>
              </a:spcBef>
              <a:spcAft>
                <a:spcPts val="0"/>
              </a:spcAft>
              <a:buNone/>
            </a:pPr>
            <a:r>
              <a:rPr lang="en-GB">
                <a:solidFill>
                  <a:schemeClr val="dk1"/>
                </a:solidFill>
              </a:rPr>
              <a:t>Checkout Payment Redesign (Score: 4.8) </a:t>
            </a:r>
            <a:endParaRPr>
              <a:solidFill>
                <a:schemeClr val="dk1"/>
              </a:solidFill>
            </a:endParaRPr>
          </a:p>
          <a:p>
            <a:pPr indent="0" lvl="0" marL="0" rtl="0" algn="l">
              <a:lnSpc>
                <a:spcPct val="115000"/>
              </a:lnSpc>
              <a:spcBef>
                <a:spcPts val="900"/>
              </a:spcBef>
              <a:spcAft>
                <a:spcPts val="900"/>
              </a:spcAft>
              <a:buNone/>
            </a:pPr>
            <a:r>
              <a:rPr b="1" lang="en-GB" u="sng">
                <a:solidFill>
                  <a:schemeClr val="dk1"/>
                </a:solidFill>
              </a:rPr>
              <a:t>*AI Chatbot first yields the maximum economic return relative to the time invested </a:t>
            </a:r>
            <a:endParaRPr b="1" u="sng">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61"/>
          <p:cNvSpPr txBox="1"/>
          <p:nvPr>
            <p:ph type="title"/>
          </p:nvPr>
        </p:nvSpPr>
        <p:spPr>
          <a:xfrm>
            <a:off x="170150" y="237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Difference between WSJF in Agile and traditional prioritization methods</a:t>
            </a:r>
            <a:endParaRPr/>
          </a:p>
        </p:txBody>
      </p:sp>
      <p:sp>
        <p:nvSpPr>
          <p:cNvPr id="347" name="Google Shape;347;p61"/>
          <p:cNvSpPr txBox="1"/>
          <p:nvPr>
            <p:ph idx="1" type="body"/>
          </p:nvPr>
        </p:nvSpPr>
        <p:spPr>
          <a:xfrm>
            <a:off x="311700" y="1152475"/>
            <a:ext cx="8520600" cy="3859500"/>
          </a:xfrm>
          <a:prstGeom prst="rect">
            <a:avLst/>
          </a:prstGeom>
        </p:spPr>
        <p:txBody>
          <a:bodyPr anchorCtr="0" anchor="t" bIns="91425" lIns="91425" spcFirstLastPara="1" rIns="91425" wrap="square" tIns="91425">
            <a:normAutofit fontScale="92500" lnSpcReduction="20000"/>
          </a:bodyPr>
          <a:lstStyle/>
          <a:p>
            <a:pPr indent="-334328" lvl="0" marL="457200" rtl="0" algn="just">
              <a:lnSpc>
                <a:spcPct val="150000"/>
              </a:lnSpc>
              <a:spcBef>
                <a:spcPts val="0"/>
              </a:spcBef>
              <a:spcAft>
                <a:spcPts val="0"/>
              </a:spcAft>
              <a:buClr>
                <a:schemeClr val="dk1"/>
              </a:buClr>
              <a:buSzPct val="100000"/>
              <a:buChar char="●"/>
            </a:pPr>
            <a:r>
              <a:rPr lang="en-GB">
                <a:solidFill>
                  <a:schemeClr val="dk1"/>
                </a:solidFill>
              </a:rPr>
              <a:t>WSJF prioritizes work items based on economic values while traditional techniques like MOSCOW, RICE etc is based on stakeholder opinions, urgency and perspectives</a:t>
            </a:r>
            <a:endParaRPr>
              <a:solidFill>
                <a:schemeClr val="dk1"/>
              </a:solidFill>
            </a:endParaRPr>
          </a:p>
          <a:p>
            <a:pPr indent="-334328" lvl="0" marL="457200" rtl="0" algn="just">
              <a:lnSpc>
                <a:spcPct val="150000"/>
              </a:lnSpc>
              <a:spcBef>
                <a:spcPts val="0"/>
              </a:spcBef>
              <a:spcAft>
                <a:spcPts val="0"/>
              </a:spcAft>
              <a:buClr>
                <a:schemeClr val="dk1"/>
              </a:buClr>
              <a:buSzPct val="100000"/>
              <a:buChar char="●"/>
            </a:pPr>
            <a:r>
              <a:rPr lang="en-GB">
                <a:solidFill>
                  <a:schemeClr val="dk1"/>
                </a:solidFill>
              </a:rPr>
              <a:t>WSJF is quantitative while other techniques like Must have, Should have could be subjective</a:t>
            </a:r>
            <a:endParaRPr>
              <a:solidFill>
                <a:schemeClr val="dk1"/>
              </a:solidFill>
            </a:endParaRPr>
          </a:p>
          <a:p>
            <a:pPr indent="-334328" lvl="0" marL="457200" rtl="0" algn="just">
              <a:lnSpc>
                <a:spcPct val="150000"/>
              </a:lnSpc>
              <a:spcBef>
                <a:spcPts val="0"/>
              </a:spcBef>
              <a:spcAft>
                <a:spcPts val="0"/>
              </a:spcAft>
              <a:buClr>
                <a:schemeClr val="dk1"/>
              </a:buClr>
              <a:buSzPct val="100000"/>
              <a:buChar char="●"/>
            </a:pPr>
            <a:r>
              <a:rPr lang="en-GB">
                <a:solidFill>
                  <a:schemeClr val="dk1"/>
                </a:solidFill>
              </a:rPr>
              <a:t>WSJF minimises economic loss against traditional techniques which are most driven by compliance, deadlines and stakeholder demands</a:t>
            </a:r>
            <a:endParaRPr>
              <a:solidFill>
                <a:schemeClr val="dk1"/>
              </a:solidFill>
            </a:endParaRPr>
          </a:p>
          <a:p>
            <a:pPr indent="-334328" lvl="0" marL="457200" rtl="0" algn="just">
              <a:lnSpc>
                <a:spcPct val="150000"/>
              </a:lnSpc>
              <a:spcBef>
                <a:spcPts val="0"/>
              </a:spcBef>
              <a:spcAft>
                <a:spcPts val="0"/>
              </a:spcAft>
              <a:buClr>
                <a:schemeClr val="dk1"/>
              </a:buClr>
              <a:buSzPct val="100000"/>
              <a:buChar char="●"/>
            </a:pPr>
            <a:r>
              <a:rPr lang="en-GB">
                <a:solidFill>
                  <a:schemeClr val="dk1"/>
                </a:solidFill>
              </a:rPr>
              <a:t>WSJF promotes shorter jobs deliver value faster while traditional techniques may prioritise longer projects with perspective based importance</a:t>
            </a:r>
            <a:endParaRPr>
              <a:solidFill>
                <a:schemeClr val="dk1"/>
              </a:solidFill>
            </a:endParaRPr>
          </a:p>
          <a:p>
            <a:pPr indent="-334328" lvl="0" marL="457200" rtl="0" algn="just">
              <a:lnSpc>
                <a:spcPct val="150000"/>
              </a:lnSpc>
              <a:spcBef>
                <a:spcPts val="0"/>
              </a:spcBef>
              <a:spcAft>
                <a:spcPts val="0"/>
              </a:spcAft>
              <a:buClr>
                <a:schemeClr val="dk1"/>
              </a:buClr>
              <a:buSzPct val="100000"/>
              <a:buChar char="●"/>
            </a:pPr>
            <a:r>
              <a:rPr lang="en-GB">
                <a:solidFill>
                  <a:schemeClr val="dk1"/>
                </a:solidFill>
              </a:rPr>
              <a:t>WSJF promotes dynamic prioritization of work based on data points whereas traditional techniques may tend to not change once the priority is fixed</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