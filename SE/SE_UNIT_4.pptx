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AABFF9-FED2-4A01-BF71-B3695C91A5E5}">
  <a:tblStyle styleId="{39AABFF9-FED2-4A01-BF71-B3695C91A5E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61a24731934e330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61a24731934e330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61a24731934e330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61a24731934e330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61a24731934e330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61a24731934e330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61a24731934e330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61a24731934e330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61a24731934e330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61a24731934e330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2316182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2316182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2316182d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2316182d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2316182d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2316182d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2316182d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2316182d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2316182d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2316182d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2316182d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2316182d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2316182d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2316182d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2316182d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2316182d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2316182d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2316182d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2316182da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2316182da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2316182d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2316182d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2316182d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2316182d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2316182d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2316182d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2316182d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2316182d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f44347c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f44347c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2c97387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2c97387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f44347c0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f44347c0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f44347c0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ef44347c0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f44347c0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f44347c0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f44347c0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f44347c0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f44347c0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f44347c0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f44347c0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f44347c0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nagios.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MCA0302</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t>UNIT 4</a:t>
            </a:r>
            <a:endParaRPr/>
          </a:p>
          <a:p>
            <a:pPr indent="0" lvl="0" marL="0" rtl="0" algn="ctr">
              <a:spcBef>
                <a:spcPts val="0"/>
              </a:spcBef>
              <a:spcAft>
                <a:spcPts val="0"/>
              </a:spcAft>
              <a:buNone/>
            </a:pPr>
            <a:r>
              <a:rPr lang="en-GB"/>
              <a:t>DevOps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DevOps</a:t>
            </a:r>
            <a:endParaRPr/>
          </a:p>
        </p:txBody>
      </p:sp>
      <p:sp>
        <p:nvSpPr>
          <p:cNvPr id="61" name="Google Shape;61;p14"/>
          <p:cNvSpPr txBox="1"/>
          <p:nvPr>
            <p:ph idx="1" type="body"/>
          </p:nvPr>
        </p:nvSpPr>
        <p:spPr>
          <a:xfrm>
            <a:off x="311700" y="1152475"/>
            <a:ext cx="8832300" cy="3990900"/>
          </a:xfrm>
          <a:prstGeom prst="rect">
            <a:avLst/>
          </a:prstGeom>
        </p:spPr>
        <p:txBody>
          <a:bodyPr anchorCtr="0" anchor="t" bIns="91425" lIns="91425" spcFirstLastPara="1" rIns="91425" wrap="square" tIns="91425">
            <a:normAutofit lnSpcReduction="10000"/>
          </a:bodyPr>
          <a:lstStyle/>
          <a:p>
            <a:pPr indent="-342900" lvl="0" marL="457200" rtl="0" algn="just">
              <a:lnSpc>
                <a:spcPct val="150000"/>
              </a:lnSpc>
              <a:spcBef>
                <a:spcPts val="0"/>
              </a:spcBef>
              <a:spcAft>
                <a:spcPts val="0"/>
              </a:spcAft>
              <a:buClr>
                <a:schemeClr val="dk1"/>
              </a:buClr>
              <a:buSzPts val="1800"/>
              <a:buChar char="●"/>
            </a:pPr>
            <a:r>
              <a:rPr lang="en-GB">
                <a:solidFill>
                  <a:schemeClr val="dk1"/>
                </a:solidFill>
              </a:rPr>
              <a:t>DevOps is a software engineering methodology that combines Development (Dev) and Operations (Ops) to improve collaboration, automate workflows, and deliver software rapidly and reliably.</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The traditional software development approach often creates a gap between developers and operations teams. Developers focus on creating software, while operations teams manage deployment and maintenance. DevOps bridges this gap through automation and continuous collaboration.</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DevOps is a culture and set of practices that enable organizations to deliver applications and services at high velocity through automation, continuous feedback, and collaboration.</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0" y="120550"/>
            <a:ext cx="9144000" cy="5023200"/>
          </a:xfrm>
          <a:prstGeom prst="rect">
            <a:avLst/>
          </a:prstGeom>
        </p:spPr>
        <p:txBody>
          <a:bodyPr anchorCtr="0" anchor="t" bIns="91425" lIns="91425" spcFirstLastPara="1" rIns="91425" wrap="square" tIns="91425">
            <a:normAutofit fontScale="77500" lnSpcReduction="10000"/>
          </a:bodyPr>
          <a:lstStyle/>
          <a:p>
            <a:pPr indent="-317183" lvl="0" marL="457200" rtl="0" algn="just">
              <a:lnSpc>
                <a:spcPct val="150000"/>
              </a:lnSpc>
              <a:spcBef>
                <a:spcPts val="0"/>
              </a:spcBef>
              <a:spcAft>
                <a:spcPts val="0"/>
              </a:spcAft>
              <a:buClr>
                <a:schemeClr val="dk1"/>
              </a:buClr>
              <a:buSzPct val="100000"/>
              <a:buChar char="●"/>
            </a:pPr>
            <a:r>
              <a:rPr lang="en-GB">
                <a:solidFill>
                  <a:schemeClr val="dk1"/>
                </a:solidFill>
              </a:rPr>
              <a:t>In DevOps, the term Operations (Ops) refers to all activities involved in managing, maintaining, and supporting software applications after they are developed.</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Types of Operations in DevOps</a:t>
            </a:r>
            <a:endParaRPr b="1">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Infrastructure Management:</a:t>
            </a:r>
            <a:r>
              <a:rPr lang="en-GB">
                <a:solidFill>
                  <a:schemeClr val="dk1"/>
                </a:solidFill>
              </a:rPr>
              <a:t> Configuring servers, Managing cloud instances, Network administration, Storage management</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Application Deployment:</a:t>
            </a:r>
            <a:r>
              <a:rPr lang="en-GB">
                <a:solidFill>
                  <a:schemeClr val="dk1"/>
                </a:solidFill>
              </a:rPr>
              <a:t> Installing applications, Configuring deployment pipelines, Releasing software updates</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System Monitoring:</a:t>
            </a:r>
            <a:r>
              <a:rPr lang="en-GB">
                <a:solidFill>
                  <a:schemeClr val="dk1"/>
                </a:solidFill>
              </a:rPr>
              <a:t> CPU monitoring, Memory monitoring, Application uptime monitoring, Error tracking</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Security Management (DevSecOps):</a:t>
            </a:r>
            <a:r>
              <a:rPr lang="en-GB">
                <a:solidFill>
                  <a:schemeClr val="dk1"/>
                </a:solidFill>
              </a:rPr>
              <a:t> Access control, Vulnerability scanning, Security patches, Firewall configuration</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Configuration Management:</a:t>
            </a:r>
            <a:r>
              <a:rPr lang="en-GB">
                <a:solidFill>
                  <a:schemeClr val="dk1"/>
                </a:solidFill>
              </a:rPr>
              <a:t> Server configuration, Application settings, Environment variables</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Incident and Problem Management:</a:t>
            </a:r>
            <a:r>
              <a:rPr lang="en-GB">
                <a:solidFill>
                  <a:schemeClr val="dk1"/>
                </a:solidFill>
              </a:rPr>
              <a:t> Troubleshooting application crashes, Resolving server failures, Managing outages</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Backup and Disaster Recovery:</a:t>
            </a:r>
            <a:r>
              <a:rPr lang="en-GB">
                <a:solidFill>
                  <a:schemeClr val="dk1"/>
                </a:solidFill>
              </a:rPr>
              <a:t> Database backups, Recovery planning, Data restoration</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Container and Cloud Operations:</a:t>
            </a:r>
            <a:r>
              <a:rPr lang="en-GB">
                <a:solidFill>
                  <a:schemeClr val="dk1"/>
                </a:solidFill>
              </a:rPr>
              <a:t> Docker container management, Kubernetes cluster management, Cloud resource allocation</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DevOps Team Responsibilities</a:t>
            </a:r>
            <a:endParaRPr/>
          </a:p>
        </p:txBody>
      </p:sp>
      <p:sp>
        <p:nvSpPr>
          <p:cNvPr id="72" name="Google Shape;72;p16"/>
          <p:cNvSpPr txBox="1"/>
          <p:nvPr>
            <p:ph idx="1" type="body"/>
          </p:nvPr>
        </p:nvSpPr>
        <p:spPr>
          <a:xfrm>
            <a:off x="70600" y="572700"/>
            <a:ext cx="8520600" cy="4570800"/>
          </a:xfrm>
          <a:prstGeom prst="rect">
            <a:avLst/>
          </a:prstGeom>
        </p:spPr>
        <p:txBody>
          <a:bodyPr anchorCtr="0" anchor="t" bIns="91425" lIns="91425" spcFirstLastPara="1" rIns="91425" wrap="square" tIns="91425">
            <a:normAutofit fontScale="77500" lnSpcReduction="10000"/>
          </a:bodyPr>
          <a:lstStyle/>
          <a:p>
            <a:pPr indent="-317183" lvl="0" marL="457200" rtl="0" algn="just">
              <a:lnSpc>
                <a:spcPct val="150000"/>
              </a:lnSpc>
              <a:spcBef>
                <a:spcPts val="0"/>
              </a:spcBef>
              <a:spcAft>
                <a:spcPts val="0"/>
              </a:spcAft>
              <a:buClr>
                <a:schemeClr val="dk1"/>
              </a:buClr>
              <a:buSzPct val="100000"/>
              <a:buChar char="●"/>
            </a:pPr>
            <a:r>
              <a:rPr b="1" lang="en-GB">
                <a:solidFill>
                  <a:schemeClr val="dk1"/>
                </a:solidFill>
              </a:rPr>
              <a:t>Development (Dev):</a:t>
            </a:r>
            <a:r>
              <a:rPr lang="en-GB">
                <a:solidFill>
                  <a:schemeClr val="dk1"/>
                </a:solidFill>
              </a:rPr>
              <a:t> Writing code, creating features, unit testing, fixing bugs, software design, code review.</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b="1" lang="en-GB">
                <a:solidFill>
                  <a:schemeClr val="dk1"/>
                </a:solidFill>
              </a:rPr>
              <a:t>Operations (Ops): </a:t>
            </a:r>
            <a:r>
              <a:rPr lang="en-GB">
                <a:solidFill>
                  <a:schemeClr val="dk1"/>
                </a:solidFill>
              </a:rPr>
              <a:t>Managing servers, Deploying applications, Monitoring systems , Security management, Backup &amp; recovery, Infrastructure management</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Suppose a company develops an </a:t>
            </a:r>
            <a:r>
              <a:rPr b="1" lang="en-GB">
                <a:solidFill>
                  <a:schemeClr val="dk1"/>
                </a:solidFill>
              </a:rPr>
              <a:t>Online Shopping Application:</a:t>
            </a:r>
            <a:endParaRPr b="1">
              <a:solidFill>
                <a:schemeClr val="dk1"/>
              </a:solidFill>
            </a:endParaRPr>
          </a:p>
          <a:p>
            <a:pPr indent="-317183" lvl="0" marL="630000" rtl="0" algn="just">
              <a:lnSpc>
                <a:spcPct val="150000"/>
              </a:lnSpc>
              <a:spcBef>
                <a:spcPts val="0"/>
              </a:spcBef>
              <a:spcAft>
                <a:spcPts val="0"/>
              </a:spcAft>
              <a:buClr>
                <a:schemeClr val="dk1"/>
              </a:buClr>
              <a:buSzPct val="100000"/>
              <a:buChar char="●"/>
            </a:pPr>
            <a:r>
              <a:rPr b="1" lang="en-GB">
                <a:solidFill>
                  <a:schemeClr val="dk1"/>
                </a:solidFill>
              </a:rPr>
              <a:t>Development Team (Dev):</a:t>
            </a:r>
            <a:endParaRPr b="1">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Creates login module</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Develops payment system</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Fixes software bugs</a:t>
            </a:r>
            <a:endParaRPr>
              <a:solidFill>
                <a:schemeClr val="dk1"/>
              </a:solidFill>
            </a:endParaRPr>
          </a:p>
          <a:p>
            <a:pPr indent="-317183" lvl="0" marL="630000" rtl="0" algn="just">
              <a:lnSpc>
                <a:spcPct val="150000"/>
              </a:lnSpc>
              <a:spcBef>
                <a:spcPts val="0"/>
              </a:spcBef>
              <a:spcAft>
                <a:spcPts val="0"/>
              </a:spcAft>
              <a:buClr>
                <a:schemeClr val="dk1"/>
              </a:buClr>
              <a:buSzPct val="100000"/>
              <a:buChar char="●"/>
            </a:pPr>
            <a:r>
              <a:rPr b="1" lang="en-GB">
                <a:solidFill>
                  <a:schemeClr val="dk1"/>
                </a:solidFill>
              </a:rPr>
              <a:t>Operations Team (Ops):</a:t>
            </a:r>
            <a:endParaRPr b="1">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Deploys application on servers</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Monitors website availability</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Manages databases</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Handles security and backups</a:t>
            </a:r>
            <a:endParaRPr>
              <a:solidFill>
                <a:schemeClr val="dk1"/>
              </a:solidFill>
            </a:endParaRPr>
          </a:p>
          <a:p>
            <a:pPr indent="-317182" lvl="0" marL="899999" rtl="0" algn="just">
              <a:lnSpc>
                <a:spcPct val="150000"/>
              </a:lnSpc>
              <a:spcBef>
                <a:spcPts val="0"/>
              </a:spcBef>
              <a:spcAft>
                <a:spcPts val="0"/>
              </a:spcAft>
              <a:buClr>
                <a:schemeClr val="dk1"/>
              </a:buClr>
              <a:buSzPct val="100000"/>
              <a:buChar char="●"/>
            </a:pPr>
            <a:r>
              <a:rPr lang="en-GB">
                <a:solidFill>
                  <a:schemeClr val="dk1"/>
                </a:solidFill>
              </a:rPr>
              <a:t>Ensures the application runs 24×7</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311700" y="388975"/>
            <a:ext cx="8520600" cy="41787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n-GB">
                <a:solidFill>
                  <a:schemeClr val="dk1"/>
                </a:solidFill>
              </a:rPr>
              <a:t>Goals of DevOps</a:t>
            </a:r>
            <a:endParaRPr>
              <a:solidFill>
                <a:schemeClr val="dk1"/>
              </a:solidFill>
            </a:endParaRPr>
          </a:p>
          <a:p>
            <a:pPr indent="-342900" lvl="0" marL="457200" rtl="0" algn="just">
              <a:lnSpc>
                <a:spcPct val="150000"/>
              </a:lnSpc>
              <a:spcBef>
                <a:spcPts val="1200"/>
              </a:spcBef>
              <a:spcAft>
                <a:spcPts val="0"/>
              </a:spcAft>
              <a:buClr>
                <a:schemeClr val="dk1"/>
              </a:buClr>
              <a:buSzPts val="1800"/>
              <a:buChar char="●"/>
            </a:pPr>
            <a:r>
              <a:rPr lang="en-GB">
                <a:solidFill>
                  <a:schemeClr val="dk1"/>
                </a:solidFill>
              </a:rPr>
              <a:t>Faster software delivery</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Improved software quality</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Continuous testing and deployment</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Better collaboration between teams</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Reduced deployment failures</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Faster recovery from failures</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107150" y="294675"/>
            <a:ext cx="9036900" cy="4848900"/>
          </a:xfrm>
          <a:prstGeom prst="rect">
            <a:avLst/>
          </a:prstGeom>
        </p:spPr>
        <p:txBody>
          <a:bodyPr anchorCtr="0" anchor="t" bIns="91425" lIns="91425" spcFirstLastPara="1" rIns="91425" wrap="square" tIns="91425">
            <a:normAutofit fontScale="70000" lnSpcReduction="10000"/>
          </a:bodyPr>
          <a:lstStyle/>
          <a:p>
            <a:pPr indent="0" lvl="0" marL="0" rtl="0" algn="just">
              <a:lnSpc>
                <a:spcPct val="150000"/>
              </a:lnSpc>
              <a:spcBef>
                <a:spcPts val="0"/>
              </a:spcBef>
              <a:spcAft>
                <a:spcPts val="0"/>
              </a:spcAft>
              <a:buNone/>
            </a:pPr>
            <a:r>
              <a:rPr lang="en-GB" sz="2800">
                <a:solidFill>
                  <a:schemeClr val="dk1"/>
                </a:solidFill>
              </a:rPr>
              <a:t>Core Practices of DevOps</a:t>
            </a:r>
            <a:endParaRPr sz="2800">
              <a:solidFill>
                <a:schemeClr val="dk1"/>
              </a:solidFill>
            </a:endParaRPr>
          </a:p>
          <a:p>
            <a:pPr indent="-308610" lvl="0" marL="457200" rtl="0" algn="just">
              <a:lnSpc>
                <a:spcPct val="150000"/>
              </a:lnSpc>
              <a:spcBef>
                <a:spcPts val="1200"/>
              </a:spcBef>
              <a:spcAft>
                <a:spcPts val="0"/>
              </a:spcAft>
              <a:buClr>
                <a:schemeClr val="dk1"/>
              </a:buClr>
              <a:buSzPct val="100000"/>
              <a:buChar char="●"/>
            </a:pPr>
            <a:r>
              <a:rPr b="1" lang="en-GB">
                <a:solidFill>
                  <a:schemeClr val="dk1"/>
                </a:solidFill>
              </a:rPr>
              <a:t>CI/CD (Continuous Integration / Continuous Deployment):</a:t>
            </a:r>
            <a:r>
              <a:rPr lang="en-GB">
                <a:solidFill>
                  <a:schemeClr val="dk1"/>
                </a:solidFill>
              </a:rPr>
              <a:t> The practice of automatically testing and deploying code updates to production without manual intervention.</a:t>
            </a:r>
            <a:endParaRPr>
              <a:solidFill>
                <a:schemeClr val="dk1"/>
              </a:solidFill>
            </a:endParaRPr>
          </a:p>
          <a:p>
            <a:pPr indent="-308610" lvl="0" marL="457200" rtl="0" algn="just">
              <a:lnSpc>
                <a:spcPct val="150000"/>
              </a:lnSpc>
              <a:spcBef>
                <a:spcPts val="0"/>
              </a:spcBef>
              <a:spcAft>
                <a:spcPts val="0"/>
              </a:spcAft>
              <a:buClr>
                <a:schemeClr val="dk1"/>
              </a:buClr>
              <a:buSzPct val="100000"/>
              <a:buChar char="●"/>
            </a:pPr>
            <a:r>
              <a:rPr b="1" lang="en-GB">
                <a:solidFill>
                  <a:schemeClr val="dk1"/>
                </a:solidFill>
              </a:rPr>
              <a:t>Infrastructure as Code (IaC):</a:t>
            </a:r>
            <a:r>
              <a:rPr lang="en-GB">
                <a:solidFill>
                  <a:schemeClr val="dk1"/>
                </a:solidFill>
              </a:rPr>
              <a:t> The ability to manage and provision computing infrastructure through machine-readable definition files rather than physical hardware configuration.</a:t>
            </a:r>
            <a:endParaRPr>
              <a:solidFill>
                <a:schemeClr val="dk1"/>
              </a:solidFill>
            </a:endParaRPr>
          </a:p>
          <a:p>
            <a:pPr indent="-308610" lvl="0" marL="457200" rtl="0" algn="just">
              <a:lnSpc>
                <a:spcPct val="150000"/>
              </a:lnSpc>
              <a:spcBef>
                <a:spcPts val="0"/>
              </a:spcBef>
              <a:spcAft>
                <a:spcPts val="0"/>
              </a:spcAft>
              <a:buClr>
                <a:schemeClr val="dk1"/>
              </a:buClr>
              <a:buSzPct val="100000"/>
              <a:buChar char="●"/>
            </a:pPr>
            <a:r>
              <a:rPr b="1" lang="en-GB">
                <a:solidFill>
                  <a:schemeClr val="dk1"/>
                </a:solidFill>
              </a:rPr>
              <a:t>Containerization:</a:t>
            </a:r>
            <a:r>
              <a:rPr lang="en-GB">
                <a:solidFill>
                  <a:schemeClr val="dk1"/>
                </a:solidFill>
              </a:rPr>
              <a:t> Packaging software along with its entire environment (dependencies, libraries) so it can run consistently on any computing infrastructure.</a:t>
            </a:r>
            <a:endParaRPr>
              <a:solidFill>
                <a:schemeClr val="dk1"/>
              </a:solidFill>
            </a:endParaRPr>
          </a:p>
          <a:p>
            <a:pPr indent="0" lvl="0" marL="0" rtl="0" algn="just">
              <a:lnSpc>
                <a:spcPct val="150000"/>
              </a:lnSpc>
              <a:spcBef>
                <a:spcPts val="1200"/>
              </a:spcBef>
              <a:spcAft>
                <a:spcPts val="0"/>
              </a:spcAft>
              <a:buNone/>
            </a:pPr>
            <a:r>
              <a:rPr b="1" lang="en-GB">
                <a:solidFill>
                  <a:schemeClr val="dk1"/>
                </a:solidFill>
              </a:rPr>
              <a:t>Essential Tools</a:t>
            </a:r>
            <a:endParaRPr b="1">
              <a:solidFill>
                <a:schemeClr val="dk1"/>
              </a:solidFill>
            </a:endParaRPr>
          </a:p>
          <a:p>
            <a:pPr indent="0" lvl="0" marL="0" rtl="0" algn="just">
              <a:lnSpc>
                <a:spcPct val="150000"/>
              </a:lnSpc>
              <a:spcBef>
                <a:spcPts val="1200"/>
              </a:spcBef>
              <a:spcAft>
                <a:spcPts val="0"/>
              </a:spcAft>
              <a:buNone/>
            </a:pPr>
            <a:r>
              <a:rPr b="1" lang="en-GB">
                <a:solidFill>
                  <a:schemeClr val="dk1"/>
                </a:solidFill>
              </a:rPr>
              <a:t>Version Control:</a:t>
            </a:r>
            <a:r>
              <a:rPr lang="en-GB">
                <a:solidFill>
                  <a:schemeClr val="dk1"/>
                </a:solidFill>
              </a:rPr>
              <a:t> Git &amp; GitHub</a:t>
            </a:r>
            <a:endParaRPr>
              <a:solidFill>
                <a:schemeClr val="dk1"/>
              </a:solidFill>
            </a:endParaRPr>
          </a:p>
          <a:p>
            <a:pPr indent="0" lvl="0" marL="0" rtl="0" algn="just">
              <a:lnSpc>
                <a:spcPct val="150000"/>
              </a:lnSpc>
              <a:spcBef>
                <a:spcPts val="1200"/>
              </a:spcBef>
              <a:spcAft>
                <a:spcPts val="0"/>
              </a:spcAft>
              <a:buNone/>
            </a:pPr>
            <a:r>
              <a:rPr b="1" lang="en-GB">
                <a:solidFill>
                  <a:schemeClr val="dk1"/>
                </a:solidFill>
              </a:rPr>
              <a:t>CI/CD Pipelines:</a:t>
            </a:r>
            <a:r>
              <a:rPr lang="en-GB">
                <a:solidFill>
                  <a:schemeClr val="dk1"/>
                </a:solidFill>
              </a:rPr>
              <a:t> Jenkins, GitHub Actions, or Azure DevOps</a:t>
            </a:r>
            <a:endParaRPr>
              <a:solidFill>
                <a:schemeClr val="dk1"/>
              </a:solidFill>
            </a:endParaRPr>
          </a:p>
          <a:p>
            <a:pPr indent="0" lvl="0" marL="0" rtl="0" algn="just">
              <a:lnSpc>
                <a:spcPct val="150000"/>
              </a:lnSpc>
              <a:spcBef>
                <a:spcPts val="1200"/>
              </a:spcBef>
              <a:spcAft>
                <a:spcPts val="0"/>
              </a:spcAft>
              <a:buNone/>
            </a:pPr>
            <a:r>
              <a:rPr b="1" lang="en-GB">
                <a:solidFill>
                  <a:schemeClr val="dk1"/>
                </a:solidFill>
              </a:rPr>
              <a:t>Infrastructure as Code:</a:t>
            </a:r>
            <a:r>
              <a:rPr lang="en-GB">
                <a:solidFill>
                  <a:schemeClr val="dk1"/>
                </a:solidFill>
              </a:rPr>
              <a:t> Terraform, Ansible</a:t>
            </a:r>
            <a:endParaRPr>
              <a:solidFill>
                <a:schemeClr val="dk1"/>
              </a:solidFill>
            </a:endParaRPr>
          </a:p>
          <a:p>
            <a:pPr indent="0" lvl="0" marL="0" rtl="0" algn="just">
              <a:lnSpc>
                <a:spcPct val="150000"/>
              </a:lnSpc>
              <a:spcBef>
                <a:spcPts val="1200"/>
              </a:spcBef>
              <a:spcAft>
                <a:spcPts val="0"/>
              </a:spcAft>
              <a:buNone/>
            </a:pPr>
            <a:r>
              <a:rPr b="1" lang="en-GB">
                <a:solidFill>
                  <a:schemeClr val="dk1"/>
                </a:solidFill>
              </a:rPr>
              <a:t>Container &amp; Orchestration:</a:t>
            </a:r>
            <a:r>
              <a:rPr lang="en-GB">
                <a:solidFill>
                  <a:schemeClr val="dk1"/>
                </a:solidFill>
              </a:rPr>
              <a:t> Docker and Kubernetes</a:t>
            </a:r>
            <a:endParaRPr>
              <a:solidFill>
                <a:schemeClr val="dk1"/>
              </a:solidFill>
            </a:endParaRPr>
          </a:p>
          <a:p>
            <a:pPr indent="0" lvl="0" marL="0" rtl="0" algn="just">
              <a:lnSpc>
                <a:spcPct val="150000"/>
              </a:lnSpc>
              <a:spcBef>
                <a:spcPts val="1200"/>
              </a:spcBef>
              <a:spcAft>
                <a:spcPts val="1200"/>
              </a:spcAft>
              <a:buNone/>
            </a:pPr>
            <a:r>
              <a:rPr b="1" lang="en-GB">
                <a:solidFill>
                  <a:schemeClr val="dk1"/>
                </a:solidFill>
              </a:rPr>
              <a:t>Monitoring &amp; Observability:</a:t>
            </a:r>
            <a:r>
              <a:rPr lang="en-GB">
                <a:solidFill>
                  <a:schemeClr val="dk1"/>
                </a:solidFill>
              </a:rPr>
              <a:t> Prometheus, Grafana</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t>Continuous Integration and Continuous Delivery CI/CD</a:t>
            </a:r>
            <a:endParaRPr/>
          </a:p>
          <a:p>
            <a:pPr indent="0" lvl="0" marL="0" rtl="0" algn="l">
              <a:spcBef>
                <a:spcPts val="0"/>
              </a:spcBef>
              <a:spcAft>
                <a:spcPts val="0"/>
              </a:spcAft>
              <a:buNone/>
            </a:pPr>
            <a:r>
              <a:t/>
            </a:r>
            <a:endParaRPr/>
          </a:p>
        </p:txBody>
      </p:sp>
      <p:sp>
        <p:nvSpPr>
          <p:cNvPr id="88" name="Google Shape;88;p19"/>
          <p:cNvSpPr txBox="1"/>
          <p:nvPr>
            <p:ph idx="1" type="body"/>
          </p:nvPr>
        </p:nvSpPr>
        <p:spPr>
          <a:xfrm>
            <a:off x="311700" y="1152475"/>
            <a:ext cx="8520600" cy="15561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100"/>
              <a:buFont typeface="Arial"/>
              <a:buNone/>
            </a:pPr>
            <a:r>
              <a:rPr lang="en-GB" sz="1400">
                <a:solidFill>
                  <a:schemeClr val="dk1"/>
                </a:solidFill>
              </a:rPr>
              <a:t>CI/CD is a DevOps practice that automates the process of building, testing, and deploying software. It helps teams deliver high-quality software faster and more reliably.</a:t>
            </a:r>
            <a:endParaRPr sz="1400">
              <a:solidFill>
                <a:schemeClr val="dk1"/>
              </a:solidFill>
            </a:endParaRPr>
          </a:p>
          <a:p>
            <a:pPr indent="-317500" lvl="0" marL="457200" rtl="0" algn="just">
              <a:spcBef>
                <a:spcPts val="1200"/>
              </a:spcBef>
              <a:spcAft>
                <a:spcPts val="0"/>
              </a:spcAft>
              <a:buClr>
                <a:schemeClr val="dk1"/>
              </a:buClr>
              <a:buSzPts val="1400"/>
              <a:buChar char="●"/>
            </a:pPr>
            <a:r>
              <a:rPr lang="en-GB" sz="1400">
                <a:solidFill>
                  <a:schemeClr val="dk1"/>
                </a:solidFill>
              </a:rPr>
              <a:t>CI (Continuous Integration) focuses on integrating code changes frequently into a shared repository.</a:t>
            </a:r>
            <a:endParaRPr sz="1400">
              <a:solidFill>
                <a:schemeClr val="dk1"/>
              </a:solidFill>
            </a:endParaRPr>
          </a:p>
          <a:p>
            <a:pPr indent="-317500" lvl="0" marL="457200" rtl="0" algn="just">
              <a:spcBef>
                <a:spcPts val="0"/>
              </a:spcBef>
              <a:spcAft>
                <a:spcPts val="0"/>
              </a:spcAft>
              <a:buClr>
                <a:schemeClr val="dk1"/>
              </a:buClr>
              <a:buSzPts val="1400"/>
              <a:buChar char="●"/>
            </a:pPr>
            <a:r>
              <a:rPr lang="en-GB" sz="1400">
                <a:solidFill>
                  <a:schemeClr val="dk1"/>
                </a:solidFill>
              </a:rPr>
              <a:t>CD (Continuous Delivery/Continuous Deployment) focuses on automatically preparing and releasing software to production.</a:t>
            </a:r>
            <a:endParaRPr sz="1400">
              <a:solidFill>
                <a:schemeClr val="dk1"/>
              </a:solidFill>
            </a:endParaRPr>
          </a:p>
        </p:txBody>
      </p:sp>
      <p:sp>
        <p:nvSpPr>
          <p:cNvPr id="89" name="Google Shape;89;p19"/>
          <p:cNvSpPr txBox="1"/>
          <p:nvPr/>
        </p:nvSpPr>
        <p:spPr>
          <a:xfrm>
            <a:off x="519975" y="2719425"/>
            <a:ext cx="3729300" cy="232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600">
                <a:solidFill>
                  <a:schemeClr val="dk1"/>
                </a:solidFill>
              </a:rPr>
              <a:t>CI Process</a:t>
            </a:r>
            <a:endParaRPr b="1" sz="1600">
              <a:solidFill>
                <a:schemeClr val="dk1"/>
              </a:solidFill>
            </a:endParaRPr>
          </a:p>
          <a:p>
            <a:pPr indent="-317500" lvl="0" marL="457200" rtl="0" algn="l">
              <a:lnSpc>
                <a:spcPct val="115000"/>
              </a:lnSpc>
              <a:spcBef>
                <a:spcPts val="1200"/>
              </a:spcBef>
              <a:spcAft>
                <a:spcPts val="0"/>
              </a:spcAft>
              <a:buClr>
                <a:schemeClr val="dk1"/>
              </a:buClr>
              <a:buSzPts val="1400"/>
              <a:buAutoNum type="arabicPeriod"/>
            </a:pPr>
            <a:r>
              <a:rPr lang="en-GB">
                <a:solidFill>
                  <a:schemeClr val="dk1"/>
                </a:solidFill>
              </a:rPr>
              <a:t>Developer writes code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Code is committed to Version Control System (Git)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CI server detects changes</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Automated build is triggered</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Automated tests are executed</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Feedback is provided to developers</a:t>
            </a:r>
            <a:endParaRPr>
              <a:solidFill>
                <a:schemeClr val="dk1"/>
              </a:solidFill>
            </a:endParaRPr>
          </a:p>
        </p:txBody>
      </p:sp>
      <p:sp>
        <p:nvSpPr>
          <p:cNvPr id="90" name="Google Shape;90;p19"/>
          <p:cNvSpPr txBox="1"/>
          <p:nvPr/>
        </p:nvSpPr>
        <p:spPr>
          <a:xfrm>
            <a:off x="5403500" y="2843325"/>
            <a:ext cx="3480600" cy="207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600">
                <a:solidFill>
                  <a:schemeClr val="dk1"/>
                </a:solidFill>
              </a:rPr>
              <a:t>CD </a:t>
            </a:r>
            <a:r>
              <a:rPr b="1" lang="en-GB" sz="1600">
                <a:solidFill>
                  <a:schemeClr val="dk1"/>
                </a:solidFill>
              </a:rPr>
              <a:t>Process</a:t>
            </a:r>
            <a:endParaRPr b="1" sz="1600">
              <a:solidFill>
                <a:schemeClr val="dk1"/>
              </a:solidFill>
            </a:endParaRPr>
          </a:p>
          <a:p>
            <a:pPr indent="-317500" lvl="0" marL="457200" rtl="0" algn="l">
              <a:lnSpc>
                <a:spcPct val="115000"/>
              </a:lnSpc>
              <a:spcBef>
                <a:spcPts val="1200"/>
              </a:spcBef>
              <a:spcAft>
                <a:spcPts val="0"/>
              </a:spcAft>
              <a:buClr>
                <a:schemeClr val="dk1"/>
              </a:buClr>
              <a:buSzPts val="1400"/>
              <a:buAutoNum type="arabicPeriod"/>
            </a:pPr>
            <a:r>
              <a:rPr lang="en-GB">
                <a:solidFill>
                  <a:schemeClr val="dk1"/>
                </a:solidFill>
              </a:rPr>
              <a:t>Code passes CI stage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Application is deployed to staging environment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Additional testing is performed</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Manual approval (optional)</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GB">
                <a:solidFill>
                  <a:schemeClr val="dk1"/>
                </a:solidFill>
              </a:rPr>
              <a:t>Deployment to production</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graphicFrame>
        <p:nvGraphicFramePr>
          <p:cNvPr id="95" name="Google Shape;95;p20"/>
          <p:cNvGraphicFramePr/>
          <p:nvPr/>
        </p:nvGraphicFramePr>
        <p:xfrm>
          <a:off x="308175" y="1031425"/>
          <a:ext cx="3000000" cy="3000000"/>
        </p:xfrm>
        <a:graphic>
          <a:graphicData uri="http://schemas.openxmlformats.org/drawingml/2006/table">
            <a:tbl>
              <a:tblPr>
                <a:noFill/>
                <a:tableStyleId>{39AABFF9-FED2-4A01-BF71-B3695C91A5E5}</a:tableStyleId>
              </a:tblPr>
              <a:tblGrid>
                <a:gridCol w="1893000"/>
                <a:gridCol w="1893000"/>
                <a:gridCol w="1893000"/>
              </a:tblGrid>
              <a:tr h="537500">
                <a:tc>
                  <a:txBody>
                    <a:bodyPr/>
                    <a:lstStyle/>
                    <a:p>
                      <a:pPr indent="0" lvl="0" marL="0" rtl="0" algn="ctr">
                        <a:lnSpc>
                          <a:spcPct val="115000"/>
                        </a:lnSpc>
                        <a:spcBef>
                          <a:spcPts val="0"/>
                        </a:spcBef>
                        <a:spcAft>
                          <a:spcPts val="0"/>
                        </a:spcAft>
                        <a:buNone/>
                      </a:pPr>
                      <a:r>
                        <a:rPr b="1" lang="en-GB"/>
                        <a:t>Feature</a:t>
                      </a:r>
                      <a:endParaRPr b="1"/>
                    </a:p>
                  </a:txBody>
                  <a:tcPr marT="91425" marB="91425" marR="91425" marL="91425"/>
                </a:tc>
                <a:tc>
                  <a:txBody>
                    <a:bodyPr/>
                    <a:lstStyle/>
                    <a:p>
                      <a:pPr indent="0" lvl="0" marL="0" rtl="0" algn="ctr">
                        <a:lnSpc>
                          <a:spcPct val="115000"/>
                        </a:lnSpc>
                        <a:spcBef>
                          <a:spcPts val="0"/>
                        </a:spcBef>
                        <a:spcAft>
                          <a:spcPts val="0"/>
                        </a:spcAft>
                        <a:buNone/>
                      </a:pPr>
                      <a:r>
                        <a:rPr b="1" lang="en-GB"/>
                        <a:t>Continuous Delivery</a:t>
                      </a:r>
                      <a:endParaRPr b="1"/>
                    </a:p>
                  </a:txBody>
                  <a:tcPr marT="91425" marB="91425" marR="91425" marL="91425"/>
                </a:tc>
                <a:tc>
                  <a:txBody>
                    <a:bodyPr/>
                    <a:lstStyle/>
                    <a:p>
                      <a:pPr indent="0" lvl="0" marL="0" rtl="0" algn="ctr">
                        <a:lnSpc>
                          <a:spcPct val="115000"/>
                        </a:lnSpc>
                        <a:spcBef>
                          <a:spcPts val="0"/>
                        </a:spcBef>
                        <a:spcAft>
                          <a:spcPts val="0"/>
                        </a:spcAft>
                        <a:buNone/>
                      </a:pPr>
                      <a:r>
                        <a:rPr b="1" lang="en-GB"/>
                        <a:t>Continuous Deployment</a:t>
                      </a:r>
                      <a:endParaRPr b="1"/>
                    </a:p>
                  </a:txBody>
                  <a:tcPr marT="91425" marB="91425" marR="91425" marL="91425"/>
                </a:tc>
              </a:tr>
              <a:tr h="510700">
                <a:tc>
                  <a:txBody>
                    <a:bodyPr/>
                    <a:lstStyle/>
                    <a:p>
                      <a:pPr indent="0" lvl="0" marL="0" rtl="0" algn="l">
                        <a:spcBef>
                          <a:spcPts val="0"/>
                        </a:spcBef>
                        <a:spcAft>
                          <a:spcPts val="0"/>
                        </a:spcAft>
                        <a:buNone/>
                      </a:pPr>
                      <a:r>
                        <a:rPr lang="en-GB"/>
                        <a:t>Human Approval Required</a:t>
                      </a:r>
                      <a:endParaRPr/>
                    </a:p>
                  </a:txBody>
                  <a:tcPr marT="91425" marB="91425" marR="91425" marL="91425"/>
                </a:tc>
                <a:tc>
                  <a:txBody>
                    <a:bodyPr/>
                    <a:lstStyle/>
                    <a:p>
                      <a:pPr indent="0" lvl="0" marL="0" rtl="0" algn="l">
                        <a:spcBef>
                          <a:spcPts val="0"/>
                        </a:spcBef>
                        <a:spcAft>
                          <a:spcPts val="0"/>
                        </a:spcAft>
                        <a:buNone/>
                      </a:pPr>
                      <a:r>
                        <a:rPr lang="en-GB"/>
                        <a:t>Yes</a:t>
                      </a:r>
                      <a:endParaRPr/>
                    </a:p>
                  </a:txBody>
                  <a:tcPr marT="91425" marB="91425" marR="91425" marL="91425"/>
                </a:tc>
                <a:tc>
                  <a:txBody>
                    <a:bodyPr/>
                    <a:lstStyle/>
                    <a:p>
                      <a:pPr indent="0" lvl="0" marL="0" rtl="0" algn="l">
                        <a:spcBef>
                          <a:spcPts val="0"/>
                        </a:spcBef>
                        <a:spcAft>
                          <a:spcPts val="0"/>
                        </a:spcAft>
                        <a:buNone/>
                      </a:pPr>
                      <a:r>
                        <a:rPr lang="en-GB"/>
                        <a:t>No</a:t>
                      </a:r>
                      <a:endParaRPr/>
                    </a:p>
                  </a:txBody>
                  <a:tcPr marT="91425" marB="91425" marR="91425" marL="91425"/>
                </a:tc>
              </a:tr>
              <a:tr h="331950">
                <a:tc>
                  <a:txBody>
                    <a:bodyPr/>
                    <a:lstStyle/>
                    <a:p>
                      <a:pPr indent="0" lvl="0" marL="0" rtl="0" algn="l">
                        <a:spcBef>
                          <a:spcPts val="0"/>
                        </a:spcBef>
                        <a:spcAft>
                          <a:spcPts val="0"/>
                        </a:spcAft>
                        <a:buNone/>
                      </a:pPr>
                      <a:r>
                        <a:rPr lang="en-GB"/>
                        <a:t>Production Release</a:t>
                      </a:r>
                      <a:endParaRPr/>
                    </a:p>
                  </a:txBody>
                  <a:tcPr marT="91425" marB="91425" marR="91425" marL="91425"/>
                </a:tc>
                <a:tc>
                  <a:txBody>
                    <a:bodyPr/>
                    <a:lstStyle/>
                    <a:p>
                      <a:pPr indent="0" lvl="0" marL="0" rtl="0" algn="l">
                        <a:spcBef>
                          <a:spcPts val="0"/>
                        </a:spcBef>
                        <a:spcAft>
                          <a:spcPts val="0"/>
                        </a:spcAft>
                        <a:buNone/>
                      </a:pPr>
                      <a:r>
                        <a:rPr lang="en-GB"/>
                        <a:t>Manual Trigger</a:t>
                      </a:r>
                      <a:endParaRPr/>
                    </a:p>
                  </a:txBody>
                  <a:tcPr marT="91425" marB="91425" marR="91425" marL="91425"/>
                </a:tc>
                <a:tc>
                  <a:txBody>
                    <a:bodyPr/>
                    <a:lstStyle/>
                    <a:p>
                      <a:pPr indent="0" lvl="0" marL="0" rtl="0" algn="l">
                        <a:spcBef>
                          <a:spcPts val="0"/>
                        </a:spcBef>
                        <a:spcAft>
                          <a:spcPts val="0"/>
                        </a:spcAft>
                        <a:buNone/>
                      </a:pPr>
                      <a:r>
                        <a:rPr lang="en-GB"/>
                        <a:t>Automatic</a:t>
                      </a:r>
                      <a:endParaRPr/>
                    </a:p>
                  </a:txBody>
                  <a:tcPr marT="91425" marB="91425" marR="91425" marL="91425"/>
                </a:tc>
              </a:tr>
              <a:tr h="331950">
                <a:tc>
                  <a:txBody>
                    <a:bodyPr/>
                    <a:lstStyle/>
                    <a:p>
                      <a:pPr indent="0" lvl="0" marL="0" rtl="0" algn="l">
                        <a:spcBef>
                          <a:spcPts val="0"/>
                        </a:spcBef>
                        <a:spcAft>
                          <a:spcPts val="0"/>
                        </a:spcAft>
                        <a:buNone/>
                      </a:pPr>
                      <a:r>
                        <a:rPr lang="en-GB"/>
                        <a:t>Risk Level</a:t>
                      </a:r>
                      <a:endParaRPr/>
                    </a:p>
                  </a:txBody>
                  <a:tcPr marT="91425" marB="91425" marR="91425" marL="91425"/>
                </a:tc>
                <a:tc>
                  <a:txBody>
                    <a:bodyPr/>
                    <a:lstStyle/>
                    <a:p>
                      <a:pPr indent="0" lvl="0" marL="0" rtl="0" algn="l">
                        <a:spcBef>
                          <a:spcPts val="0"/>
                        </a:spcBef>
                        <a:spcAft>
                          <a:spcPts val="0"/>
                        </a:spcAft>
                        <a:buNone/>
                      </a:pPr>
                      <a:r>
                        <a:rPr lang="en-GB"/>
                        <a:t>Lower</a:t>
                      </a:r>
                      <a:endParaRPr/>
                    </a:p>
                  </a:txBody>
                  <a:tcPr marT="91425" marB="91425" marR="91425" marL="91425"/>
                </a:tc>
                <a:tc>
                  <a:txBody>
                    <a:bodyPr/>
                    <a:lstStyle/>
                    <a:p>
                      <a:pPr indent="0" lvl="0" marL="0" rtl="0" algn="l">
                        <a:spcBef>
                          <a:spcPts val="0"/>
                        </a:spcBef>
                        <a:spcAft>
                          <a:spcPts val="0"/>
                        </a:spcAft>
                        <a:buNone/>
                      </a:pPr>
                      <a:r>
                        <a:rPr lang="en-GB"/>
                        <a:t>Higher</a:t>
                      </a:r>
                      <a:endParaRPr/>
                    </a:p>
                  </a:txBody>
                  <a:tcPr marT="91425" marB="91425" marR="91425" marL="91425"/>
                </a:tc>
              </a:tr>
              <a:tr h="331950">
                <a:tc>
                  <a:txBody>
                    <a:bodyPr/>
                    <a:lstStyle/>
                    <a:p>
                      <a:pPr indent="0" lvl="0" marL="0" rtl="0" algn="l">
                        <a:spcBef>
                          <a:spcPts val="0"/>
                        </a:spcBef>
                        <a:spcAft>
                          <a:spcPts val="0"/>
                        </a:spcAft>
                        <a:buNone/>
                      </a:pPr>
                      <a:r>
                        <a:rPr lang="en-GB"/>
                        <a:t>Deployment Frequency</a:t>
                      </a:r>
                      <a:endParaRPr/>
                    </a:p>
                  </a:txBody>
                  <a:tcPr marT="91425" marB="91425" marR="91425" marL="91425"/>
                </a:tc>
                <a:tc>
                  <a:txBody>
                    <a:bodyPr/>
                    <a:lstStyle/>
                    <a:p>
                      <a:pPr indent="0" lvl="0" marL="0" rtl="0" algn="l">
                        <a:spcBef>
                          <a:spcPts val="0"/>
                        </a:spcBef>
                        <a:spcAft>
                          <a:spcPts val="0"/>
                        </a:spcAft>
                        <a:buNone/>
                      </a:pPr>
                      <a:r>
                        <a:rPr lang="en-GB"/>
                        <a:t>Frequent</a:t>
                      </a:r>
                      <a:endParaRPr/>
                    </a:p>
                  </a:txBody>
                  <a:tcPr marT="91425" marB="91425" marR="91425" marL="91425"/>
                </a:tc>
                <a:tc>
                  <a:txBody>
                    <a:bodyPr/>
                    <a:lstStyle/>
                    <a:p>
                      <a:pPr indent="0" lvl="0" marL="0" rtl="0" algn="l">
                        <a:spcBef>
                          <a:spcPts val="0"/>
                        </a:spcBef>
                        <a:spcAft>
                          <a:spcPts val="0"/>
                        </a:spcAft>
                        <a:buNone/>
                      </a:pPr>
                      <a:r>
                        <a:rPr lang="en-GB"/>
                        <a:t>Very Frequent</a:t>
                      </a:r>
                      <a:endParaRPr/>
                    </a:p>
                  </a:txBody>
                  <a:tcPr marT="91425" marB="91425" marR="91425" marL="91425"/>
                </a:tc>
              </a:tr>
            </a:tbl>
          </a:graphicData>
        </a:graphic>
      </p:graphicFrame>
      <p:sp>
        <p:nvSpPr>
          <p:cNvPr id="96" name="Google Shape;96;p20"/>
          <p:cNvSpPr txBox="1"/>
          <p:nvPr/>
        </p:nvSpPr>
        <p:spPr>
          <a:xfrm>
            <a:off x="6155325" y="183600"/>
            <a:ext cx="2864400" cy="412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600">
                <a:solidFill>
                  <a:schemeClr val="dk1"/>
                </a:solidFill>
              </a:rPr>
              <a:t>CI/CD Pipeline</a:t>
            </a:r>
            <a:endParaRPr b="1" sz="1600">
              <a:solidFill>
                <a:schemeClr val="dk1"/>
              </a:solidFill>
            </a:endParaRPr>
          </a:p>
          <a:p>
            <a:pPr indent="0" lvl="0" marL="0" rtl="0" algn="ctr">
              <a:spcBef>
                <a:spcPts val="0"/>
              </a:spcBef>
              <a:spcAft>
                <a:spcPts val="0"/>
              </a:spcAft>
              <a:buNone/>
            </a:pPr>
            <a:r>
              <a:rPr lang="en-GB" sz="1600">
                <a:solidFill>
                  <a:schemeClr val="dk1"/>
                </a:solidFill>
              </a:rPr>
              <a:t>Code Development</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Source Repository (Git)</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Continuous Integration</a:t>
            </a:r>
            <a:endParaRPr sz="1600">
              <a:solidFill>
                <a:schemeClr val="dk1"/>
              </a:solidFill>
            </a:endParaRPr>
          </a:p>
          <a:p>
            <a:pPr indent="0" lvl="0" marL="0" rtl="0" algn="ctr">
              <a:spcBef>
                <a:spcPts val="0"/>
              </a:spcBef>
              <a:spcAft>
                <a:spcPts val="0"/>
              </a:spcAft>
              <a:buNone/>
            </a:pPr>
            <a:r>
              <a:rPr lang="en-GB" sz="1600">
                <a:solidFill>
                  <a:schemeClr val="dk1"/>
                </a:solidFill>
              </a:rPr>
              <a:t>(Build + Unit Testing)</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Artifact Creation</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Continuous Delivery</a:t>
            </a:r>
            <a:endParaRPr sz="1600">
              <a:solidFill>
                <a:schemeClr val="dk1"/>
              </a:solidFill>
            </a:endParaRPr>
          </a:p>
          <a:p>
            <a:pPr indent="0" lvl="0" marL="0" rtl="0" algn="ctr">
              <a:spcBef>
                <a:spcPts val="0"/>
              </a:spcBef>
              <a:spcAft>
                <a:spcPts val="0"/>
              </a:spcAft>
              <a:buNone/>
            </a:pPr>
            <a:r>
              <a:rPr lang="en-GB" sz="1600">
                <a:solidFill>
                  <a:schemeClr val="dk1"/>
                </a:solidFill>
              </a:rPr>
              <a:t>(Staging Deployment)</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Acceptance Testing</a:t>
            </a:r>
            <a:endParaRPr sz="1600">
              <a:solidFill>
                <a:schemeClr val="dk1"/>
              </a:solidFill>
            </a:endParaRPr>
          </a:p>
          <a:p>
            <a:pPr indent="0" lvl="0" marL="0" rtl="0" algn="ctr">
              <a:spcBef>
                <a:spcPts val="0"/>
              </a:spcBef>
              <a:spcAft>
                <a:spcPts val="0"/>
              </a:spcAft>
              <a:buNone/>
            </a:pPr>
            <a:r>
              <a:rPr lang="en-GB" sz="1600">
                <a:solidFill>
                  <a:schemeClr val="dk1"/>
                </a:solidFill>
              </a:rPr>
              <a:t>       ↓</a:t>
            </a:r>
            <a:endParaRPr sz="1600">
              <a:solidFill>
                <a:schemeClr val="dk1"/>
              </a:solidFill>
            </a:endParaRPr>
          </a:p>
          <a:p>
            <a:pPr indent="0" lvl="0" marL="0" rtl="0" algn="ctr">
              <a:spcBef>
                <a:spcPts val="0"/>
              </a:spcBef>
              <a:spcAft>
                <a:spcPts val="0"/>
              </a:spcAft>
              <a:buNone/>
            </a:pPr>
            <a:r>
              <a:rPr lang="en-GB" sz="1600">
                <a:solidFill>
                  <a:schemeClr val="dk1"/>
                </a:solidFill>
              </a:rPr>
              <a:t>Production Deployment</a:t>
            </a:r>
            <a:endParaRPr sz="1600">
              <a:solidFill>
                <a:schemeClr val="dk1"/>
              </a:solidFill>
            </a:endParaRPr>
          </a:p>
        </p:txBody>
      </p:sp>
      <p:sp>
        <p:nvSpPr>
          <p:cNvPr id="97" name="Google Shape;97;p20"/>
          <p:cNvSpPr txBox="1"/>
          <p:nvPr/>
        </p:nvSpPr>
        <p:spPr>
          <a:xfrm>
            <a:off x="308175" y="4408712"/>
            <a:ext cx="8394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Conclusion: </a:t>
            </a:r>
            <a:r>
              <a:rPr lang="en-GB"/>
              <a:t>CI/CD is a DevOps methodology that automates software integration, testing, and deployment to enable rapid, reliable, and continuous delivery of applications.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2976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Jenkins</a:t>
            </a:r>
            <a:endParaRPr/>
          </a:p>
        </p:txBody>
      </p:sp>
      <p:sp>
        <p:nvSpPr>
          <p:cNvPr id="103" name="Google Shape;103;p21"/>
          <p:cNvSpPr txBox="1"/>
          <p:nvPr>
            <p:ph idx="1" type="body"/>
          </p:nvPr>
        </p:nvSpPr>
        <p:spPr>
          <a:xfrm>
            <a:off x="311700" y="651150"/>
            <a:ext cx="5384400" cy="3917700"/>
          </a:xfrm>
          <a:prstGeom prst="rect">
            <a:avLst/>
          </a:prstGeom>
        </p:spPr>
        <p:txBody>
          <a:bodyPr anchorCtr="0" anchor="t" bIns="91425" lIns="91425" spcFirstLastPara="1" rIns="91425" wrap="square" tIns="91425">
            <a:normAutofit fontScale="92500" lnSpcReduction="10000"/>
          </a:bodyPr>
          <a:lstStyle/>
          <a:p>
            <a:pPr indent="0" lvl="0" marL="0" rtl="0" algn="just">
              <a:spcBef>
                <a:spcPts val="0"/>
              </a:spcBef>
              <a:spcAft>
                <a:spcPts val="0"/>
              </a:spcAft>
              <a:buNone/>
            </a:pPr>
            <a:r>
              <a:rPr lang="en-GB">
                <a:solidFill>
                  <a:schemeClr val="dk1"/>
                </a:solidFill>
              </a:rPr>
              <a:t>It is </a:t>
            </a:r>
            <a:r>
              <a:rPr lang="en-GB">
                <a:solidFill>
                  <a:schemeClr val="dk1"/>
                </a:solidFill>
              </a:rPr>
              <a:t>an open-source automation server used for Continuous Integration (CI) and Continuous Delivery (CD). It automates software building, testing, and deployment processes. </a:t>
            </a:r>
            <a:endParaRPr>
              <a:solidFill>
                <a:schemeClr val="dk1"/>
              </a:solidFill>
            </a:endParaRPr>
          </a:p>
          <a:p>
            <a:pPr indent="0" lvl="0" marL="0" rtl="0" algn="l">
              <a:spcBef>
                <a:spcPts val="1200"/>
              </a:spcBef>
              <a:spcAft>
                <a:spcPts val="0"/>
              </a:spcAft>
              <a:buNone/>
            </a:pPr>
            <a:r>
              <a:rPr lang="en-GB">
                <a:solidFill>
                  <a:schemeClr val="dk1"/>
                </a:solidFill>
              </a:rPr>
              <a:t>Pipeline:</a:t>
            </a:r>
            <a:endParaRPr>
              <a:solidFill>
                <a:schemeClr val="dk1"/>
              </a:solidFill>
            </a:endParaRPr>
          </a:p>
          <a:p>
            <a:pPr indent="0" lvl="0" marL="0" rtl="0" algn="l">
              <a:spcBef>
                <a:spcPts val="1200"/>
              </a:spcBef>
              <a:spcAft>
                <a:spcPts val="0"/>
              </a:spcAft>
              <a:buNone/>
            </a:pPr>
            <a:r>
              <a:rPr lang="en-GB">
                <a:solidFill>
                  <a:schemeClr val="dk1"/>
                </a:solidFill>
              </a:rPr>
              <a:t>Jenkins Pipeline is a collection of automated steps that define the software delivery process. </a:t>
            </a:r>
            <a:endParaRPr>
              <a:solidFill>
                <a:schemeClr val="dk1"/>
              </a:solidFill>
            </a:endParaRPr>
          </a:p>
          <a:p>
            <a:pPr indent="0" lvl="0" marL="0" rtl="0" algn="l">
              <a:spcBef>
                <a:spcPts val="1200"/>
              </a:spcBef>
              <a:spcAft>
                <a:spcPts val="0"/>
              </a:spcAft>
              <a:buNone/>
            </a:pPr>
            <a:r>
              <a:rPr lang="en-GB">
                <a:solidFill>
                  <a:schemeClr val="dk1"/>
                </a:solidFill>
              </a:rPr>
              <a:t>Types of Jenkins Pipelines:</a:t>
            </a:r>
            <a:endParaRPr>
              <a:solidFill>
                <a:schemeClr val="dk1"/>
              </a:solidFill>
            </a:endParaRPr>
          </a:p>
          <a:p>
            <a:pPr indent="-334328" lvl="0" marL="457200" rtl="0" algn="l">
              <a:spcBef>
                <a:spcPts val="1200"/>
              </a:spcBef>
              <a:spcAft>
                <a:spcPts val="0"/>
              </a:spcAft>
              <a:buClr>
                <a:schemeClr val="dk1"/>
              </a:buClr>
              <a:buSzPct val="100000"/>
              <a:buAutoNum type="arabicPeriod"/>
            </a:pPr>
            <a:r>
              <a:rPr lang="en-GB">
                <a:solidFill>
                  <a:schemeClr val="dk1"/>
                </a:solidFill>
              </a:rPr>
              <a:t>Declarative Pipeline : Uses a structured syntax. </a:t>
            </a:r>
            <a:endParaRPr>
              <a:solidFill>
                <a:schemeClr val="dk1"/>
              </a:solidFill>
            </a:endParaRPr>
          </a:p>
          <a:p>
            <a:pPr indent="-334328" lvl="0" marL="457200" rtl="0" algn="l">
              <a:spcBef>
                <a:spcPts val="0"/>
              </a:spcBef>
              <a:spcAft>
                <a:spcPts val="0"/>
              </a:spcAft>
              <a:buClr>
                <a:schemeClr val="dk1"/>
              </a:buClr>
              <a:buSzPct val="100000"/>
              <a:buAutoNum type="arabicPeriod"/>
            </a:pPr>
            <a:r>
              <a:rPr lang="en-GB">
                <a:solidFill>
                  <a:schemeClr val="dk1"/>
                </a:solidFill>
              </a:rPr>
              <a:t>Scripted Pipeline : Provides greater flexibility using Groovy scripting.</a:t>
            </a:r>
            <a:endParaRPr>
              <a:solidFill>
                <a:schemeClr val="dk1"/>
              </a:solidFill>
            </a:endParaRPr>
          </a:p>
        </p:txBody>
      </p:sp>
      <p:sp>
        <p:nvSpPr>
          <p:cNvPr id="104" name="Google Shape;104;p21"/>
          <p:cNvSpPr txBox="1"/>
          <p:nvPr/>
        </p:nvSpPr>
        <p:spPr>
          <a:xfrm>
            <a:off x="6013170" y="169554"/>
            <a:ext cx="3000000" cy="4617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800">
                <a:solidFill>
                  <a:schemeClr val="dk1"/>
                </a:solidFill>
              </a:rPr>
              <a:t>Jenkins Pipeline</a:t>
            </a:r>
            <a:endParaRPr b="1" sz="1800">
              <a:solidFill>
                <a:schemeClr val="dk1"/>
              </a:solidFill>
            </a:endParaRPr>
          </a:p>
          <a:p>
            <a:pPr indent="0" lvl="0" marL="0" rtl="0" algn="ctr">
              <a:spcBef>
                <a:spcPts val="0"/>
              </a:spcBef>
              <a:spcAft>
                <a:spcPts val="0"/>
              </a:spcAft>
              <a:buNone/>
            </a:pPr>
            <a:r>
              <a:rPr lang="en-GB" sz="1800">
                <a:solidFill>
                  <a:schemeClr val="dk1"/>
                </a:solidFill>
              </a:rPr>
              <a:t>Developer Commit</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Git Repository</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Jenkins Pipeline Trigger</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Build Stage</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Test Stage</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Package Stage</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Deploy Stage</a:t>
            </a:r>
            <a:endParaRPr sz="1800">
              <a:solidFill>
                <a:schemeClr val="dk1"/>
              </a:solidFill>
            </a:endParaRPr>
          </a:p>
          <a:p>
            <a:pPr indent="0" lvl="0" marL="0" rtl="0" algn="ctr">
              <a:spcBef>
                <a:spcPts val="0"/>
              </a:spcBef>
              <a:spcAft>
                <a:spcPts val="0"/>
              </a:spcAft>
              <a:buNone/>
            </a:pPr>
            <a:r>
              <a:rPr lang="en-GB" sz="1800">
                <a:solidFill>
                  <a:schemeClr val="dk1"/>
                </a:solidFill>
              </a:rPr>
              <a:t>        ↓</a:t>
            </a:r>
            <a:endParaRPr sz="1800">
              <a:solidFill>
                <a:schemeClr val="dk1"/>
              </a:solidFill>
            </a:endParaRPr>
          </a:p>
          <a:p>
            <a:pPr indent="0" lvl="0" marL="0" rtl="0" algn="ctr">
              <a:spcBef>
                <a:spcPts val="0"/>
              </a:spcBef>
              <a:spcAft>
                <a:spcPts val="0"/>
              </a:spcAft>
              <a:buNone/>
            </a:pPr>
            <a:r>
              <a:rPr lang="en-GB" sz="1800">
                <a:solidFill>
                  <a:schemeClr val="dk1"/>
                </a:solidFill>
              </a:rPr>
              <a:t>Production</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nvSpPr>
        <p:spPr>
          <a:xfrm>
            <a:off x="203475" y="135660"/>
            <a:ext cx="3333600" cy="499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800">
                <a:solidFill>
                  <a:schemeClr val="dk1"/>
                </a:solidFill>
              </a:rPr>
              <a:t>Declarative Pipeline</a:t>
            </a:r>
            <a:endParaRPr>
              <a:solidFill>
                <a:schemeClr val="dk1"/>
              </a:solidFill>
            </a:endParaRPr>
          </a:p>
          <a:p>
            <a:pPr indent="0" lvl="0" marL="0" rtl="0" algn="l">
              <a:lnSpc>
                <a:spcPct val="115000"/>
              </a:lnSpc>
              <a:spcBef>
                <a:spcPts val="0"/>
              </a:spcBef>
              <a:spcAft>
                <a:spcPts val="0"/>
              </a:spcAft>
              <a:buNone/>
            </a:pPr>
            <a:r>
              <a:rPr lang="en-GB">
                <a:solidFill>
                  <a:schemeClr val="dk1"/>
                </a:solidFill>
              </a:rPr>
              <a:t>pipeline {</a:t>
            </a:r>
            <a:endParaRPr>
              <a:solidFill>
                <a:schemeClr val="dk1"/>
              </a:solidFill>
            </a:endParaRPr>
          </a:p>
          <a:p>
            <a:pPr indent="0" lvl="0" marL="0" rtl="0" algn="l">
              <a:spcBef>
                <a:spcPts val="1200"/>
              </a:spcBef>
              <a:spcAft>
                <a:spcPts val="0"/>
              </a:spcAft>
              <a:buNone/>
            </a:pPr>
            <a:r>
              <a:rPr lang="en-GB">
                <a:solidFill>
                  <a:schemeClr val="dk1"/>
                </a:solidFill>
              </a:rPr>
              <a:t>    agent any</a:t>
            </a:r>
            <a:endParaRPr>
              <a:solidFill>
                <a:schemeClr val="dk1"/>
              </a:solidFill>
            </a:endParaRPr>
          </a:p>
          <a:p>
            <a:pPr indent="0" lvl="0" marL="0" rtl="0" algn="l">
              <a:spcBef>
                <a:spcPts val="0"/>
              </a:spcBef>
              <a:spcAft>
                <a:spcPts val="0"/>
              </a:spcAft>
              <a:buNone/>
            </a:pPr>
            <a:r>
              <a:rPr lang="en-GB">
                <a:solidFill>
                  <a:schemeClr val="dk1"/>
                </a:solidFill>
              </a:rPr>
              <a:t>    stages {</a:t>
            </a:r>
            <a:endParaRPr>
              <a:solidFill>
                <a:schemeClr val="dk1"/>
              </a:solidFill>
            </a:endParaRPr>
          </a:p>
          <a:p>
            <a:pPr indent="0" lvl="0" marL="0" rtl="0" algn="l">
              <a:spcBef>
                <a:spcPts val="0"/>
              </a:spcBef>
              <a:spcAft>
                <a:spcPts val="0"/>
              </a:spcAft>
              <a:buNone/>
            </a:pPr>
            <a:r>
              <a:rPr lang="en-GB">
                <a:solidFill>
                  <a:schemeClr val="dk1"/>
                </a:solidFill>
              </a:rPr>
              <a:t>        stage('Build') {</a:t>
            </a:r>
            <a:endParaRPr>
              <a:solidFill>
                <a:schemeClr val="dk1"/>
              </a:solidFill>
            </a:endParaRPr>
          </a:p>
          <a:p>
            <a:pPr indent="0" lvl="0" marL="0" rtl="0" algn="l">
              <a:spcBef>
                <a:spcPts val="0"/>
              </a:spcBef>
              <a:spcAft>
                <a:spcPts val="0"/>
              </a:spcAft>
              <a:buNone/>
            </a:pPr>
            <a:r>
              <a:rPr lang="en-GB">
                <a:solidFill>
                  <a:schemeClr val="dk1"/>
                </a:solidFill>
              </a:rPr>
              <a:t>            steps {</a:t>
            </a:r>
            <a:endParaRPr>
              <a:solidFill>
                <a:schemeClr val="dk1"/>
              </a:solidFill>
            </a:endParaRPr>
          </a:p>
          <a:p>
            <a:pPr indent="0" lvl="0" marL="0" rtl="0" algn="l">
              <a:spcBef>
                <a:spcPts val="0"/>
              </a:spcBef>
              <a:spcAft>
                <a:spcPts val="0"/>
              </a:spcAft>
              <a:buNone/>
            </a:pPr>
            <a:r>
              <a:rPr lang="en-GB">
                <a:solidFill>
                  <a:schemeClr val="dk1"/>
                </a:solidFill>
              </a:rPr>
              <a:t>                echo 'Building Application'</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stage('Test') {</a:t>
            </a:r>
            <a:endParaRPr>
              <a:solidFill>
                <a:schemeClr val="dk1"/>
              </a:solidFill>
            </a:endParaRPr>
          </a:p>
          <a:p>
            <a:pPr indent="0" lvl="0" marL="0" rtl="0" algn="l">
              <a:spcBef>
                <a:spcPts val="0"/>
              </a:spcBef>
              <a:spcAft>
                <a:spcPts val="0"/>
              </a:spcAft>
              <a:buNone/>
            </a:pPr>
            <a:r>
              <a:rPr lang="en-GB">
                <a:solidFill>
                  <a:schemeClr val="dk1"/>
                </a:solidFill>
              </a:rPr>
              <a:t>            steps {</a:t>
            </a:r>
            <a:endParaRPr>
              <a:solidFill>
                <a:schemeClr val="dk1"/>
              </a:solidFill>
            </a:endParaRPr>
          </a:p>
          <a:p>
            <a:pPr indent="0" lvl="0" marL="0" rtl="0" algn="l">
              <a:spcBef>
                <a:spcPts val="0"/>
              </a:spcBef>
              <a:spcAft>
                <a:spcPts val="0"/>
              </a:spcAft>
              <a:buNone/>
            </a:pPr>
            <a:r>
              <a:rPr lang="en-GB">
                <a:solidFill>
                  <a:schemeClr val="dk1"/>
                </a:solidFill>
              </a:rPr>
              <a:t>                echo 'Running Tests'</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stage('Deploy') {</a:t>
            </a:r>
            <a:endParaRPr>
              <a:solidFill>
                <a:schemeClr val="dk1"/>
              </a:solidFill>
            </a:endParaRPr>
          </a:p>
          <a:p>
            <a:pPr indent="0" lvl="0" marL="0" rtl="0" algn="l">
              <a:spcBef>
                <a:spcPts val="0"/>
              </a:spcBef>
              <a:spcAft>
                <a:spcPts val="0"/>
              </a:spcAft>
              <a:buNone/>
            </a:pPr>
            <a:r>
              <a:rPr lang="en-GB">
                <a:solidFill>
                  <a:schemeClr val="dk1"/>
                </a:solidFill>
              </a:rPr>
              <a:t>            steps {</a:t>
            </a:r>
            <a:endParaRPr>
              <a:solidFill>
                <a:schemeClr val="dk1"/>
              </a:solidFill>
            </a:endParaRPr>
          </a:p>
          <a:p>
            <a:pPr indent="0" lvl="0" marL="0" rtl="0" algn="l">
              <a:spcBef>
                <a:spcPts val="0"/>
              </a:spcBef>
              <a:spcAft>
                <a:spcPts val="0"/>
              </a:spcAft>
              <a:buNone/>
            </a:pPr>
            <a:r>
              <a:rPr lang="en-GB">
                <a:solidFill>
                  <a:schemeClr val="dk1"/>
                </a:solidFill>
              </a:rPr>
              <a:t>                echo 'Deploying Application'</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a:t>
            </a:r>
            <a:endParaRPr>
              <a:solidFill>
                <a:schemeClr val="dk1"/>
              </a:solidFill>
            </a:endParaRPr>
          </a:p>
        </p:txBody>
      </p:sp>
      <p:sp>
        <p:nvSpPr>
          <p:cNvPr id="110" name="Google Shape;110;p22"/>
          <p:cNvSpPr txBox="1"/>
          <p:nvPr/>
        </p:nvSpPr>
        <p:spPr>
          <a:xfrm>
            <a:off x="4848375" y="783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800">
                <a:solidFill>
                  <a:schemeClr val="dk1"/>
                </a:solidFill>
              </a:rPr>
              <a:t>Scripted Pipeline</a:t>
            </a:r>
            <a:endParaRPr/>
          </a:p>
        </p:txBody>
      </p:sp>
      <p:sp>
        <p:nvSpPr>
          <p:cNvPr id="111" name="Google Shape;111;p22"/>
          <p:cNvSpPr txBox="1"/>
          <p:nvPr/>
        </p:nvSpPr>
        <p:spPr>
          <a:xfrm>
            <a:off x="4848375" y="540000"/>
            <a:ext cx="40923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rPr>
              <a:t>node {</a:t>
            </a:r>
            <a:endParaRPr sz="1600">
              <a:solidFill>
                <a:schemeClr val="dk1"/>
              </a:solidFill>
            </a:endParaRPr>
          </a:p>
          <a:p>
            <a:pPr indent="0" lvl="0" marL="0" rtl="0" algn="l">
              <a:spcBef>
                <a:spcPts val="0"/>
              </a:spcBef>
              <a:spcAft>
                <a:spcPts val="0"/>
              </a:spcAft>
              <a:buNone/>
            </a:pPr>
            <a:r>
              <a:rPr lang="en-GB" sz="1600">
                <a:solidFill>
                  <a:schemeClr val="dk1"/>
                </a:solidFill>
              </a:rPr>
              <a:t>    stage('Build') {</a:t>
            </a:r>
            <a:endParaRPr sz="1600">
              <a:solidFill>
                <a:schemeClr val="dk1"/>
              </a:solidFill>
            </a:endParaRPr>
          </a:p>
          <a:p>
            <a:pPr indent="0" lvl="0" marL="0" rtl="0" algn="l">
              <a:spcBef>
                <a:spcPts val="0"/>
              </a:spcBef>
              <a:spcAft>
                <a:spcPts val="0"/>
              </a:spcAft>
              <a:buNone/>
            </a:pPr>
            <a:r>
              <a:rPr lang="en-GB" sz="1600">
                <a:solidFill>
                  <a:schemeClr val="dk1"/>
                </a:solidFill>
              </a:rPr>
              <a:t>        echo 'Build Started'</a:t>
            </a:r>
            <a:endParaRPr sz="1600">
              <a:solidFill>
                <a:schemeClr val="dk1"/>
              </a:solidFill>
            </a:endParaRPr>
          </a:p>
          <a:p>
            <a:pPr indent="0" lvl="0" marL="0" rtl="0" algn="l">
              <a:spcBef>
                <a:spcPts val="0"/>
              </a:spcBef>
              <a:spcAft>
                <a:spcPts val="0"/>
              </a:spcAft>
              <a:buNone/>
            </a:pPr>
            <a:r>
              <a:rPr lang="en-GB" sz="1600">
                <a:solidFill>
                  <a:schemeClr val="dk1"/>
                </a:solidFill>
              </a:rPr>
              <a:t>    }</a:t>
            </a:r>
            <a:endParaRPr sz="1600">
              <a:solidFill>
                <a:schemeClr val="dk1"/>
              </a:solidFill>
            </a:endParaRPr>
          </a:p>
          <a:p>
            <a:pPr indent="0" lvl="0" marL="0" rtl="0" algn="l">
              <a:spcBef>
                <a:spcPts val="0"/>
              </a:spcBef>
              <a:spcAft>
                <a:spcPts val="0"/>
              </a:spcAft>
              <a:buNone/>
            </a:pPr>
            <a:r>
              <a:rPr lang="en-GB" sz="1600">
                <a:solidFill>
                  <a:schemeClr val="dk1"/>
                </a:solidFill>
              </a:rPr>
              <a:t>    stage('Test') {</a:t>
            </a:r>
            <a:endParaRPr sz="1600">
              <a:solidFill>
                <a:schemeClr val="dk1"/>
              </a:solidFill>
            </a:endParaRPr>
          </a:p>
          <a:p>
            <a:pPr indent="0" lvl="0" marL="0" rtl="0" algn="l">
              <a:spcBef>
                <a:spcPts val="0"/>
              </a:spcBef>
              <a:spcAft>
                <a:spcPts val="0"/>
              </a:spcAft>
              <a:buNone/>
            </a:pPr>
            <a:r>
              <a:rPr lang="en-GB" sz="1600">
                <a:solidFill>
                  <a:schemeClr val="dk1"/>
                </a:solidFill>
              </a:rPr>
              <a:t>        echo 'Testing Started'</a:t>
            </a:r>
            <a:endParaRPr sz="1600">
              <a:solidFill>
                <a:schemeClr val="dk1"/>
              </a:solidFill>
            </a:endParaRPr>
          </a:p>
          <a:p>
            <a:pPr indent="0" lvl="0" marL="0" rtl="0" algn="l">
              <a:spcBef>
                <a:spcPts val="0"/>
              </a:spcBef>
              <a:spcAft>
                <a:spcPts val="0"/>
              </a:spcAft>
              <a:buNone/>
            </a:pPr>
            <a:r>
              <a:rPr lang="en-GB" sz="1600">
                <a:solidFill>
                  <a:schemeClr val="dk1"/>
                </a:solidFill>
              </a:rPr>
              <a:t>    }</a:t>
            </a:r>
            <a:endParaRPr sz="1600">
              <a:solidFill>
                <a:schemeClr val="dk1"/>
              </a:solidFill>
            </a:endParaRPr>
          </a:p>
          <a:p>
            <a:pPr indent="0" lvl="0" marL="0" rtl="0" algn="l">
              <a:spcBef>
                <a:spcPts val="0"/>
              </a:spcBef>
              <a:spcAft>
                <a:spcPts val="0"/>
              </a:spcAft>
              <a:buNone/>
            </a:pPr>
            <a:r>
              <a:rPr lang="en-GB" sz="1600">
                <a:solidFill>
                  <a:schemeClr val="dk1"/>
                </a:solidFill>
              </a:rPr>
              <a:t>    stage('Deploy') {</a:t>
            </a:r>
            <a:endParaRPr sz="1600">
              <a:solidFill>
                <a:schemeClr val="dk1"/>
              </a:solidFill>
            </a:endParaRPr>
          </a:p>
          <a:p>
            <a:pPr indent="0" lvl="0" marL="0" rtl="0" algn="l">
              <a:spcBef>
                <a:spcPts val="0"/>
              </a:spcBef>
              <a:spcAft>
                <a:spcPts val="0"/>
              </a:spcAft>
              <a:buNone/>
            </a:pPr>
            <a:r>
              <a:rPr lang="en-GB" sz="1600">
                <a:solidFill>
                  <a:schemeClr val="dk1"/>
                </a:solidFill>
              </a:rPr>
              <a:t>        echo 'Deployment Started'</a:t>
            </a:r>
            <a:endParaRPr sz="1600">
              <a:solidFill>
                <a:schemeClr val="dk1"/>
              </a:solidFill>
            </a:endParaRPr>
          </a:p>
          <a:p>
            <a:pPr indent="0" lvl="0" marL="0" rtl="0" algn="l">
              <a:spcBef>
                <a:spcPts val="0"/>
              </a:spcBef>
              <a:spcAft>
                <a:spcPts val="0"/>
              </a:spcAft>
              <a:buNone/>
            </a:pPr>
            <a:r>
              <a:rPr lang="en-GB" sz="1600">
                <a:solidFill>
                  <a:schemeClr val="dk1"/>
                </a:solidFill>
              </a:rPr>
              <a:t>    }</a:t>
            </a:r>
            <a:endParaRPr sz="1600">
              <a:solidFill>
                <a:schemeClr val="dk1"/>
              </a:solidFill>
            </a:endParaRPr>
          </a:p>
          <a:p>
            <a:pPr indent="0" lvl="0" marL="0" rtl="0" algn="l">
              <a:spcBef>
                <a:spcPts val="0"/>
              </a:spcBef>
              <a:spcAft>
                <a:spcPts val="0"/>
              </a:spcAft>
              <a:buNone/>
            </a:pPr>
            <a:r>
              <a:rPr lang="en-GB" sz="1600">
                <a:solidFill>
                  <a:schemeClr val="dk1"/>
                </a:solidFill>
              </a:rPr>
              <a:t>}</a:t>
            </a:r>
            <a:endParaRPr sz="16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7198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Setting Up Jenkins Runners (Agents) </a:t>
            </a:r>
            <a:endParaRPr/>
          </a:p>
        </p:txBody>
      </p:sp>
      <p:sp>
        <p:nvSpPr>
          <p:cNvPr id="117" name="Google Shape;117;p23"/>
          <p:cNvSpPr txBox="1"/>
          <p:nvPr>
            <p:ph idx="1" type="body"/>
          </p:nvPr>
        </p:nvSpPr>
        <p:spPr>
          <a:xfrm>
            <a:off x="311700" y="843325"/>
            <a:ext cx="8520600" cy="395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400">
                <a:solidFill>
                  <a:schemeClr val="dk1"/>
                </a:solidFill>
              </a:rPr>
              <a:t>What are Jenkins Agents?</a:t>
            </a:r>
            <a:endParaRPr b="1" sz="1400">
              <a:solidFill>
                <a:schemeClr val="dk1"/>
              </a:solidFill>
            </a:endParaRPr>
          </a:p>
          <a:p>
            <a:pPr indent="0" lvl="0" marL="0" rtl="0" algn="l">
              <a:spcBef>
                <a:spcPts val="1200"/>
              </a:spcBef>
              <a:spcAft>
                <a:spcPts val="0"/>
              </a:spcAft>
              <a:buClr>
                <a:schemeClr val="dk1"/>
              </a:buClr>
              <a:buSzPts val="1100"/>
              <a:buFont typeface="Arial"/>
              <a:buNone/>
            </a:pPr>
            <a:r>
              <a:rPr lang="en-GB" sz="1400">
                <a:solidFill>
                  <a:schemeClr val="dk1"/>
                </a:solidFill>
              </a:rPr>
              <a:t>Agents (formerly called slaves) are machines that execute Jenkins jobs.</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Why Use Agents?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Distribute workload</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Parallel execution</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Faster builds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Platform-specific testing</a:t>
            </a:r>
            <a:endParaRPr sz="1400">
              <a:solidFill>
                <a:schemeClr val="dk1"/>
              </a:solidFill>
            </a:endParaRPr>
          </a:p>
          <a:p>
            <a:pPr indent="0" lvl="0" marL="0" rtl="0" algn="l">
              <a:spcBef>
                <a:spcPts val="1200"/>
              </a:spcBef>
              <a:spcAft>
                <a:spcPts val="1200"/>
              </a:spcAft>
              <a:buNone/>
            </a:pPr>
            <a:r>
              <a:t/>
            </a:r>
            <a:endParaRPr/>
          </a:p>
        </p:txBody>
      </p:sp>
      <p:pic>
        <p:nvPicPr>
          <p:cNvPr id="118" name="Google Shape;118;p23"/>
          <p:cNvPicPr preferRelativeResize="0"/>
          <p:nvPr/>
        </p:nvPicPr>
        <p:blipFill>
          <a:blip r:embed="rId3">
            <a:alphaModFix/>
          </a:blip>
          <a:stretch>
            <a:fillRect/>
          </a:stretch>
        </p:blipFill>
        <p:spPr>
          <a:xfrm>
            <a:off x="2812875" y="1541250"/>
            <a:ext cx="6263304" cy="3523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Docker Containers </a:t>
            </a:r>
            <a:endParaRPr/>
          </a:p>
        </p:txBody>
      </p:sp>
      <p:sp>
        <p:nvSpPr>
          <p:cNvPr id="124" name="Google Shape;124;p24"/>
          <p:cNvSpPr txBox="1"/>
          <p:nvPr>
            <p:ph idx="1" type="body"/>
          </p:nvPr>
        </p:nvSpPr>
        <p:spPr>
          <a:xfrm>
            <a:off x="311700" y="1152475"/>
            <a:ext cx="8520600" cy="3862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solidFill>
                  <a:schemeClr val="dk1"/>
                </a:solidFill>
              </a:rPr>
              <a:t>It is a containerization platform that packages applications and dependencies into lightweight containers.</a:t>
            </a:r>
            <a:r>
              <a:rPr lang="en-GB"/>
              <a:t> </a:t>
            </a:r>
            <a:endParaRPr/>
          </a:p>
          <a:p>
            <a:pPr indent="0" lvl="0" marL="0" rtl="0" algn="l">
              <a:lnSpc>
                <a:spcPct val="100000"/>
              </a:lnSpc>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1800"/>
              </a:spcBef>
              <a:spcAft>
                <a:spcPts val="0"/>
              </a:spcAft>
              <a:buNone/>
            </a:pPr>
            <a:r>
              <a:t/>
            </a:r>
            <a:endParaRPr b="1" sz="1700">
              <a:solidFill>
                <a:schemeClr val="dk1"/>
              </a:solidFill>
            </a:endParaRPr>
          </a:p>
          <a:p>
            <a:pPr indent="0" lvl="0" marL="0" rtl="0" algn="l">
              <a:spcBef>
                <a:spcPts val="1800"/>
              </a:spcBef>
              <a:spcAft>
                <a:spcPts val="0"/>
              </a:spcAft>
              <a:buNone/>
            </a:pPr>
            <a:r>
              <a:t/>
            </a:r>
            <a:endParaRPr b="1" sz="1700">
              <a:solidFill>
                <a:schemeClr val="dk1"/>
              </a:solidFill>
            </a:endParaRPr>
          </a:p>
          <a:p>
            <a:pPr indent="0" lvl="0" marL="0" rtl="0" algn="l">
              <a:spcBef>
                <a:spcPts val="1800"/>
              </a:spcBef>
              <a:spcAft>
                <a:spcPts val="0"/>
              </a:spcAft>
              <a:buNone/>
            </a:pPr>
            <a:r>
              <a:rPr b="1" lang="en-GB" sz="1700">
                <a:solidFill>
                  <a:schemeClr val="dk1"/>
                </a:solidFill>
              </a:rPr>
              <a:t>Basic Commands: </a:t>
            </a:r>
            <a:endParaRPr b="1" sz="1700">
              <a:solidFill>
                <a:schemeClr val="dk1"/>
              </a:solidFill>
            </a:endParaRPr>
          </a:p>
          <a:p>
            <a:pPr indent="0" lvl="0" marL="0" rtl="0" algn="l">
              <a:spcBef>
                <a:spcPts val="400"/>
              </a:spcBef>
              <a:spcAft>
                <a:spcPts val="0"/>
              </a:spcAft>
              <a:buNone/>
            </a:pPr>
            <a:r>
              <a:rPr lang="en-GB" sz="1700">
                <a:solidFill>
                  <a:schemeClr val="dk1"/>
                </a:solidFill>
              </a:rPr>
              <a:t>docker pull nginx                                 (To pull image)</a:t>
            </a:r>
            <a:endParaRPr sz="1700">
              <a:solidFill>
                <a:schemeClr val="dk1"/>
              </a:solidFill>
            </a:endParaRPr>
          </a:p>
          <a:p>
            <a:pPr indent="0" lvl="0" marL="0" rtl="0" algn="l">
              <a:spcBef>
                <a:spcPts val="0"/>
              </a:spcBef>
              <a:spcAft>
                <a:spcPts val="0"/>
              </a:spcAft>
              <a:buNone/>
            </a:pPr>
            <a:r>
              <a:rPr lang="en-GB" sz="1700">
                <a:solidFill>
                  <a:schemeClr val="dk1"/>
                </a:solidFill>
              </a:rPr>
              <a:t>docker run -d -p 80:80 nginx               (To Run container)</a:t>
            </a:r>
            <a:endParaRPr sz="1700">
              <a:solidFill>
                <a:schemeClr val="dk1"/>
              </a:solidFill>
            </a:endParaRPr>
          </a:p>
          <a:p>
            <a:pPr indent="0" lvl="0" marL="0" rtl="0" algn="l">
              <a:spcBef>
                <a:spcPts val="0"/>
              </a:spcBef>
              <a:spcAft>
                <a:spcPts val="0"/>
              </a:spcAft>
              <a:buNone/>
            </a:pPr>
            <a:r>
              <a:rPr lang="en-GB" sz="1700">
                <a:solidFill>
                  <a:schemeClr val="dk1"/>
                </a:solidFill>
              </a:rPr>
              <a:t>docker ps                                             (To view containers)</a:t>
            </a:r>
            <a:endParaRPr sz="1700">
              <a:solidFill>
                <a:schemeClr val="dk1"/>
              </a:solidFill>
            </a:endParaRPr>
          </a:p>
          <a:p>
            <a:pPr indent="0" lvl="0" marL="0" rtl="0" algn="l">
              <a:spcBef>
                <a:spcPts val="0"/>
              </a:spcBef>
              <a:spcAft>
                <a:spcPts val="0"/>
              </a:spcAft>
              <a:buNone/>
            </a:pPr>
            <a:r>
              <a:rPr lang="en-GB" sz="1700">
                <a:solidFill>
                  <a:schemeClr val="dk1"/>
                </a:solidFill>
              </a:rPr>
              <a:t>docker stop &lt;container_id&gt;                 (To stop the containers)</a:t>
            </a:r>
            <a:endParaRPr/>
          </a:p>
        </p:txBody>
      </p:sp>
      <p:sp>
        <p:nvSpPr>
          <p:cNvPr id="125" name="Google Shape;125;p24"/>
          <p:cNvSpPr txBox="1"/>
          <p:nvPr/>
        </p:nvSpPr>
        <p:spPr>
          <a:xfrm>
            <a:off x="643138" y="2165959"/>
            <a:ext cx="1729500" cy="4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Docker client</a:t>
            </a:r>
            <a:endParaRPr sz="1800">
              <a:solidFill>
                <a:schemeClr val="dk1"/>
              </a:solidFill>
            </a:endParaRPr>
          </a:p>
        </p:txBody>
      </p:sp>
      <p:sp>
        <p:nvSpPr>
          <p:cNvPr id="126" name="Google Shape;126;p24"/>
          <p:cNvSpPr txBox="1"/>
          <p:nvPr/>
        </p:nvSpPr>
        <p:spPr>
          <a:xfrm>
            <a:off x="2548586" y="2177263"/>
            <a:ext cx="1729500" cy="42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Docker Engine</a:t>
            </a:r>
            <a:endParaRPr sz="1800">
              <a:solidFill>
                <a:schemeClr val="dk1"/>
              </a:solidFill>
            </a:endParaRPr>
          </a:p>
        </p:txBody>
      </p:sp>
      <p:sp>
        <p:nvSpPr>
          <p:cNvPr id="127" name="Google Shape;127;p24"/>
          <p:cNvSpPr/>
          <p:nvPr/>
        </p:nvSpPr>
        <p:spPr>
          <a:xfrm>
            <a:off x="2124000" y="2324200"/>
            <a:ext cx="474900" cy="1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24"/>
          <p:cNvSpPr/>
          <p:nvPr/>
        </p:nvSpPr>
        <p:spPr>
          <a:xfrm>
            <a:off x="4244115" y="2335504"/>
            <a:ext cx="474900" cy="1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4"/>
          <p:cNvSpPr/>
          <p:nvPr/>
        </p:nvSpPr>
        <p:spPr>
          <a:xfrm>
            <a:off x="4893575" y="2222450"/>
            <a:ext cx="1368000" cy="428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Containers</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5"/>
          <p:cNvPicPr preferRelativeResize="0"/>
          <p:nvPr/>
        </p:nvPicPr>
        <p:blipFill>
          <a:blip r:embed="rId3">
            <a:alphaModFix/>
          </a:blip>
          <a:stretch>
            <a:fillRect/>
          </a:stretch>
        </p:blipFill>
        <p:spPr>
          <a:xfrm>
            <a:off x="1556350" y="141103"/>
            <a:ext cx="6031284" cy="483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idx="1" type="body"/>
          </p:nvPr>
        </p:nvSpPr>
        <p:spPr>
          <a:xfrm>
            <a:off x="311700" y="153750"/>
            <a:ext cx="8520600" cy="473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GB">
                <a:solidFill>
                  <a:schemeClr val="dk1"/>
                </a:solidFill>
              </a:rPr>
              <a:t>Docker in jenkin’s pipeline</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pipeline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agent any</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stages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stage('Build Docker Image')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steps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sh 'docker build -t myapp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stage('Run Container')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steps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sh 'docker run -d myapp'</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106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Container Orchestration </a:t>
            </a:r>
            <a:endParaRPr/>
          </a:p>
        </p:txBody>
      </p:sp>
      <p:sp>
        <p:nvSpPr>
          <p:cNvPr id="145" name="Google Shape;145;p27"/>
          <p:cNvSpPr txBox="1"/>
          <p:nvPr>
            <p:ph idx="1" type="body"/>
          </p:nvPr>
        </p:nvSpPr>
        <p:spPr>
          <a:xfrm>
            <a:off x="311700" y="470277"/>
            <a:ext cx="8520600" cy="44313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lang="en-GB" sz="1400">
                <a:solidFill>
                  <a:schemeClr val="dk1"/>
                </a:solidFill>
              </a:rPr>
              <a:t>Container orchestration automates:</a:t>
            </a:r>
            <a:endParaRPr sz="1400">
              <a:solidFill>
                <a:schemeClr val="dk1"/>
              </a:solidFill>
            </a:endParaRPr>
          </a:p>
          <a:p>
            <a:pPr indent="-317500" lvl="0" marL="457200" rtl="0" algn="l">
              <a:lnSpc>
                <a:spcPct val="100000"/>
              </a:lnSpc>
              <a:spcBef>
                <a:spcPts val="1200"/>
              </a:spcBef>
              <a:spcAft>
                <a:spcPts val="0"/>
              </a:spcAft>
              <a:buClr>
                <a:schemeClr val="dk1"/>
              </a:buClr>
              <a:buSzPts val="1400"/>
              <a:buChar char="●"/>
            </a:pPr>
            <a:r>
              <a:rPr lang="en-GB" sz="1400">
                <a:solidFill>
                  <a:schemeClr val="dk1"/>
                </a:solidFill>
              </a:rPr>
              <a:t>Deployment</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Scaling</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Networking</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Load Balancing</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GB" sz="1400">
                <a:solidFill>
                  <a:schemeClr val="dk1"/>
                </a:solidFill>
              </a:rPr>
              <a:t>Container Management</a:t>
            </a:r>
            <a:endParaRPr sz="1400">
              <a:solidFill>
                <a:schemeClr val="dk1"/>
              </a:solidFill>
            </a:endParaRPr>
          </a:p>
          <a:p>
            <a:pPr indent="0" lvl="0" marL="0" rtl="0" algn="l">
              <a:lnSpc>
                <a:spcPct val="100000"/>
              </a:lnSpc>
              <a:spcBef>
                <a:spcPts val="400"/>
              </a:spcBef>
              <a:spcAft>
                <a:spcPts val="0"/>
              </a:spcAft>
              <a:buNone/>
            </a:pPr>
            <a:r>
              <a:rPr lang="en-GB" sz="1400">
                <a:solidFill>
                  <a:schemeClr val="dk1"/>
                </a:solidFill>
              </a:rPr>
              <a:t>When many containers are running, manual management becomes difficult. Orchestration tools solve this problem.</a:t>
            </a:r>
            <a:endParaRPr sz="1400">
              <a:solidFill>
                <a:schemeClr val="dk1"/>
              </a:solidFill>
            </a:endParaRPr>
          </a:p>
          <a:p>
            <a:pPr indent="0" lvl="0" marL="0" rtl="0" algn="l">
              <a:lnSpc>
                <a:spcPct val="100000"/>
              </a:lnSpc>
              <a:spcBef>
                <a:spcPts val="400"/>
              </a:spcBef>
              <a:spcAft>
                <a:spcPts val="0"/>
              </a:spcAft>
              <a:buNone/>
            </a:pPr>
            <a:r>
              <a:t/>
            </a:r>
            <a:endParaRPr i="1" sz="1400">
              <a:solidFill>
                <a:schemeClr val="dk1"/>
              </a:solidFill>
            </a:endParaRPr>
          </a:p>
          <a:p>
            <a:pPr indent="0" lvl="0" marL="0" rtl="0" algn="l">
              <a:lnSpc>
                <a:spcPct val="100000"/>
              </a:lnSpc>
              <a:spcBef>
                <a:spcPts val="400"/>
              </a:spcBef>
              <a:spcAft>
                <a:spcPts val="0"/>
              </a:spcAft>
              <a:buNone/>
            </a:pPr>
            <a:r>
              <a:rPr i="1" lang="en-GB" sz="1400">
                <a:solidFill>
                  <a:schemeClr val="dk1"/>
                </a:solidFill>
              </a:rPr>
              <a:t>Need for Container Orchestration</a:t>
            </a:r>
            <a:endParaRPr i="1" sz="1400">
              <a:solidFill>
                <a:schemeClr val="dk1"/>
              </a:solidFill>
            </a:endParaRPr>
          </a:p>
          <a:p>
            <a:pPr indent="0" lvl="0" marL="0" rtl="0" algn="l">
              <a:lnSpc>
                <a:spcPct val="100000"/>
              </a:lnSpc>
              <a:spcBef>
                <a:spcPts val="400"/>
              </a:spcBef>
              <a:spcAft>
                <a:spcPts val="0"/>
              </a:spcAft>
              <a:buNone/>
            </a:pPr>
            <a:r>
              <a:rPr lang="en-GB" sz="1400">
                <a:solidFill>
                  <a:schemeClr val="dk1"/>
                </a:solidFill>
              </a:rPr>
              <a:t>Consider an e-commerce application consisting of: Frontend Service, Backend Service, Database Service, Payment Service, Authentication Service. Each service may run in multiple containers.</a:t>
            </a:r>
            <a:endParaRPr sz="1400">
              <a:solidFill>
                <a:schemeClr val="dk1"/>
              </a:solidFill>
            </a:endParaRPr>
          </a:p>
          <a:p>
            <a:pPr indent="0" lvl="0" marL="0" rtl="0" algn="l">
              <a:lnSpc>
                <a:spcPct val="100000"/>
              </a:lnSpc>
              <a:spcBef>
                <a:spcPts val="400"/>
              </a:spcBef>
              <a:spcAft>
                <a:spcPts val="0"/>
              </a:spcAft>
              <a:buNone/>
            </a:pPr>
            <a:r>
              <a:t/>
            </a:r>
            <a:endParaRPr sz="1400">
              <a:solidFill>
                <a:schemeClr val="dk1"/>
              </a:solidFill>
            </a:endParaRPr>
          </a:p>
          <a:p>
            <a:pPr indent="0" lvl="0" marL="0" rtl="0" algn="l">
              <a:lnSpc>
                <a:spcPct val="100000"/>
              </a:lnSpc>
              <a:spcBef>
                <a:spcPts val="400"/>
              </a:spcBef>
              <a:spcAft>
                <a:spcPts val="0"/>
              </a:spcAft>
              <a:buNone/>
            </a:pPr>
            <a:r>
              <a:rPr lang="en-GB" sz="1400">
                <a:solidFill>
                  <a:schemeClr val="dk1"/>
                </a:solidFill>
              </a:rPr>
              <a:t>Managing all these containers manually would involve:</a:t>
            </a:r>
            <a:endParaRPr sz="1400">
              <a:solidFill>
                <a:schemeClr val="dk1"/>
              </a:solidFill>
            </a:endParaRPr>
          </a:p>
          <a:p>
            <a:pPr indent="-317500" lvl="0" marL="457200" rtl="0" algn="l">
              <a:lnSpc>
                <a:spcPct val="100000"/>
              </a:lnSpc>
              <a:spcBef>
                <a:spcPts val="400"/>
              </a:spcBef>
              <a:spcAft>
                <a:spcPts val="0"/>
              </a:spcAft>
              <a:buClr>
                <a:schemeClr val="dk1"/>
              </a:buClr>
              <a:buSzPts val="1400"/>
              <a:buChar char="●"/>
            </a:pPr>
            <a:r>
              <a:rPr lang="en-GB" sz="1400">
                <a:solidFill>
                  <a:schemeClr val="dk1"/>
                </a:solidFill>
              </a:rPr>
              <a:t>Starting and stopping containers, Monitoring failures</a:t>
            </a:r>
            <a:endParaRPr sz="1400">
              <a:solidFill>
                <a:schemeClr val="dk1"/>
              </a:solidFill>
            </a:endParaRPr>
          </a:p>
          <a:p>
            <a:pPr indent="-317500" lvl="0" marL="457200" rtl="0" algn="l">
              <a:lnSpc>
                <a:spcPct val="100000"/>
              </a:lnSpc>
              <a:spcBef>
                <a:spcPts val="400"/>
              </a:spcBef>
              <a:spcAft>
                <a:spcPts val="400"/>
              </a:spcAft>
              <a:buClr>
                <a:schemeClr val="dk1"/>
              </a:buClr>
              <a:buSzPts val="1400"/>
              <a:buChar char="●"/>
            </a:pPr>
            <a:r>
              <a:rPr lang="en-GB" sz="1400">
                <a:solidFill>
                  <a:schemeClr val="dk1"/>
                </a:solidFill>
              </a:rPr>
              <a:t>Scaling during peak traffic, </a:t>
            </a:r>
            <a:r>
              <a:rPr lang="en-GB" sz="1400">
                <a:solidFill>
                  <a:schemeClr val="dk1"/>
                </a:solidFill>
              </a:rPr>
              <a:t>Updating software versions, </a:t>
            </a:r>
            <a:r>
              <a:rPr lang="en-GB" sz="1400">
                <a:solidFill>
                  <a:schemeClr val="dk1"/>
                </a:solidFill>
              </a:rPr>
              <a:t>Managing networking</a:t>
            </a:r>
            <a:endParaRPr sz="1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6067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Kubernetes</a:t>
            </a:r>
            <a:endParaRPr/>
          </a:p>
        </p:txBody>
      </p:sp>
      <p:sp>
        <p:nvSpPr>
          <p:cNvPr id="151" name="Google Shape;151;p28"/>
          <p:cNvSpPr txBox="1"/>
          <p:nvPr>
            <p:ph idx="1" type="body"/>
          </p:nvPr>
        </p:nvSpPr>
        <p:spPr>
          <a:xfrm>
            <a:off x="311700" y="700299"/>
            <a:ext cx="8520600" cy="34164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Clr>
                <a:schemeClr val="dk1"/>
              </a:buClr>
              <a:buSzPts val="1100"/>
              <a:buFont typeface="Arial"/>
              <a:buNone/>
            </a:pPr>
            <a:r>
              <a:rPr lang="en-GB" sz="1600">
                <a:solidFill>
                  <a:schemeClr val="dk1"/>
                </a:solidFill>
              </a:rPr>
              <a:t>It </a:t>
            </a:r>
            <a:r>
              <a:rPr lang="en-GB" sz="1600">
                <a:solidFill>
                  <a:schemeClr val="dk1"/>
                </a:solidFill>
              </a:rPr>
              <a:t>is an open-source container orchestration platform used to automate the deployment, scaling, management, and monitoring of containerized applications. It was originally developed by Google and is now maintained by the Cloud Native Computing Foundation.</a:t>
            </a:r>
            <a:endParaRPr sz="1600">
              <a:solidFill>
                <a:schemeClr val="dk1"/>
              </a:solidFill>
            </a:endParaRPr>
          </a:p>
          <a:p>
            <a:pPr indent="0" lvl="0" marL="0" rtl="0" algn="just">
              <a:spcBef>
                <a:spcPts val="1200"/>
              </a:spcBef>
              <a:spcAft>
                <a:spcPts val="0"/>
              </a:spcAft>
              <a:buNone/>
            </a:pPr>
            <a:r>
              <a:rPr lang="en-GB" sz="1600">
                <a:solidFill>
                  <a:schemeClr val="dk1"/>
                </a:solidFill>
              </a:rPr>
              <a:t>As organizations increasingly use containers (such as those created with Docker), managing hundreds or thousands of containers manually becomes difficult. Kubernetes provides a centralized platform to manage these containers efficiently.</a:t>
            </a:r>
            <a:endParaRPr sz="1600">
              <a:solidFill>
                <a:schemeClr val="dk1"/>
              </a:solidFill>
            </a:endParaRPr>
          </a:p>
          <a:p>
            <a:pPr indent="0" lvl="0" marL="0" rtl="0" algn="just">
              <a:spcBef>
                <a:spcPts val="1200"/>
              </a:spcBef>
              <a:spcAft>
                <a:spcPts val="0"/>
              </a:spcAft>
              <a:buClr>
                <a:schemeClr val="dk1"/>
              </a:buClr>
              <a:buSzPts val="1100"/>
              <a:buFont typeface="Arial"/>
              <a:buNone/>
            </a:pPr>
            <a:r>
              <a:t/>
            </a:r>
            <a:endParaRPr sz="1600">
              <a:solidFill>
                <a:schemeClr val="dk1"/>
              </a:solidFill>
            </a:endParaRPr>
          </a:p>
          <a:p>
            <a:pPr indent="0" lvl="0" marL="0" rtl="0" algn="l">
              <a:spcBef>
                <a:spcPts val="1200"/>
              </a:spcBef>
              <a:spcAft>
                <a:spcPts val="1200"/>
              </a:spcAft>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nvSpPr>
        <p:spPr>
          <a:xfrm>
            <a:off x="270100" y="825225"/>
            <a:ext cx="3797100" cy="154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API Server</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Entry point of Kubernetes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Receives commands from users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Communicates with all cluster components</a:t>
            </a:r>
            <a:endParaRPr>
              <a:solidFill>
                <a:schemeClr val="dk1"/>
              </a:solidFill>
            </a:endParaRPr>
          </a:p>
        </p:txBody>
      </p:sp>
      <p:sp>
        <p:nvSpPr>
          <p:cNvPr id="157" name="Google Shape;157;p29"/>
          <p:cNvSpPr txBox="1"/>
          <p:nvPr/>
        </p:nvSpPr>
        <p:spPr>
          <a:xfrm>
            <a:off x="5222651" y="285250"/>
            <a:ext cx="3515400" cy="23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Scheduler</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Responsible for assigning Pods to available worker nodes.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Functions: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Checks resource availability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Selects the best node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Balances workloads</a:t>
            </a:r>
            <a:endParaRPr>
              <a:solidFill>
                <a:schemeClr val="dk1"/>
              </a:solidFill>
            </a:endParaRPr>
          </a:p>
        </p:txBody>
      </p:sp>
      <p:sp>
        <p:nvSpPr>
          <p:cNvPr id="158" name="Google Shape;158;p29"/>
          <p:cNvSpPr txBox="1"/>
          <p:nvPr/>
        </p:nvSpPr>
        <p:spPr>
          <a:xfrm>
            <a:off x="270100" y="2758300"/>
            <a:ext cx="3515400" cy="219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Controller Manager</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Monitors cluster state and ensures the desired state matches the actual state.</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Example:</a:t>
            </a:r>
            <a:br>
              <a:rPr lang="en-GB">
                <a:solidFill>
                  <a:schemeClr val="dk1"/>
                </a:solidFill>
              </a:rPr>
            </a:br>
            <a:r>
              <a:rPr lang="en-GB">
                <a:solidFill>
                  <a:schemeClr val="dk1"/>
                </a:solidFill>
              </a:rPr>
              <a:t>If 3 Pods are required but only 2 are running, it automatically creates another Pod.</a:t>
            </a:r>
            <a:endParaRPr>
              <a:solidFill>
                <a:schemeClr val="dk1"/>
              </a:solidFill>
            </a:endParaRPr>
          </a:p>
        </p:txBody>
      </p:sp>
      <p:sp>
        <p:nvSpPr>
          <p:cNvPr id="159" name="Google Shape;159;p29"/>
          <p:cNvSpPr txBox="1"/>
          <p:nvPr/>
        </p:nvSpPr>
        <p:spPr>
          <a:xfrm>
            <a:off x="5340000" y="2633950"/>
            <a:ext cx="3000000" cy="259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a:solidFill>
                  <a:schemeClr val="dk1"/>
                </a:solidFill>
              </a:rPr>
              <a:t>etcd</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A distributed key-value database.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Stores:</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Cluster configuration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Node information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Deployment information</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Secrets and configuration data</a:t>
            </a:r>
            <a:endParaRPr>
              <a:solidFill>
                <a:schemeClr val="dk1"/>
              </a:solidFill>
            </a:endParaRPr>
          </a:p>
        </p:txBody>
      </p:sp>
      <p:sp>
        <p:nvSpPr>
          <p:cNvPr id="160" name="Google Shape;160;p29"/>
          <p:cNvSpPr txBox="1"/>
          <p:nvPr/>
        </p:nvSpPr>
        <p:spPr>
          <a:xfrm>
            <a:off x="0" y="0"/>
            <a:ext cx="49614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GB" sz="1700">
                <a:solidFill>
                  <a:schemeClr val="dk1"/>
                </a:solidFill>
              </a:rPr>
              <a:t>1. Control Plane (Master Node)</a:t>
            </a:r>
            <a:endParaRPr b="1" sz="17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nvSpPr>
        <p:spPr>
          <a:xfrm>
            <a:off x="67825" y="1695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2. Worker Nodes </a:t>
            </a:r>
            <a:endParaRPr b="1"/>
          </a:p>
        </p:txBody>
      </p:sp>
      <p:sp>
        <p:nvSpPr>
          <p:cNvPr id="166" name="Google Shape;166;p30"/>
          <p:cNvSpPr txBox="1"/>
          <p:nvPr/>
        </p:nvSpPr>
        <p:spPr>
          <a:xfrm>
            <a:off x="67825" y="763275"/>
            <a:ext cx="3000000" cy="379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300">
                <a:solidFill>
                  <a:schemeClr val="dk1"/>
                </a:solidFill>
              </a:rPr>
              <a:t>a) Kubelet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Communicates with Control Plane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Starts and manages containers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Reports node status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Sends heartbeat</a:t>
            </a:r>
            <a:endParaRPr sz="1100">
              <a:solidFill>
                <a:schemeClr val="dk1"/>
              </a:solidFill>
            </a:endParaRPr>
          </a:p>
          <a:p>
            <a:pPr indent="0" lvl="0" marL="0" rtl="0" algn="l">
              <a:lnSpc>
                <a:spcPct val="115000"/>
              </a:lnSpc>
              <a:spcBef>
                <a:spcPts val="1400"/>
              </a:spcBef>
              <a:spcAft>
                <a:spcPts val="0"/>
              </a:spcAft>
              <a:buNone/>
            </a:pPr>
            <a:r>
              <a:rPr b="1" lang="en-GB" sz="1300">
                <a:solidFill>
                  <a:schemeClr val="dk1"/>
                </a:solidFill>
              </a:rPr>
              <a:t>b) Pods</a:t>
            </a:r>
            <a:endParaRPr b="1" sz="1300">
              <a:solidFill>
                <a:schemeClr val="dk1"/>
              </a:solidFill>
            </a:endParaRPr>
          </a:p>
          <a:p>
            <a:pPr indent="0" lvl="0" marL="0" rtl="0" algn="l">
              <a:lnSpc>
                <a:spcPct val="115000"/>
              </a:lnSpc>
              <a:spcBef>
                <a:spcPts val="1200"/>
              </a:spcBef>
              <a:spcAft>
                <a:spcPts val="0"/>
              </a:spcAft>
              <a:buNone/>
            </a:pPr>
            <a:r>
              <a:rPr lang="en-GB" sz="1100">
                <a:solidFill>
                  <a:schemeClr val="dk1"/>
                </a:solidFill>
              </a:rPr>
              <a:t>smallest deployable unit in Kubernetes. </a:t>
            </a:r>
            <a:endParaRPr sz="1100">
              <a:solidFill>
                <a:schemeClr val="dk1"/>
              </a:solidFill>
            </a:endParaRPr>
          </a:p>
          <a:p>
            <a:pPr indent="0" lvl="0" marL="0" rtl="0" algn="l">
              <a:lnSpc>
                <a:spcPct val="115000"/>
              </a:lnSpc>
              <a:spcBef>
                <a:spcPts val="1400"/>
              </a:spcBef>
              <a:spcAft>
                <a:spcPts val="0"/>
              </a:spcAft>
              <a:buNone/>
            </a:pPr>
            <a:r>
              <a:rPr b="1" lang="en-GB" sz="1300">
                <a:solidFill>
                  <a:schemeClr val="dk1"/>
                </a:solidFill>
              </a:rPr>
              <a:t>c) Kube Proxy</a:t>
            </a:r>
            <a:endParaRPr b="1" sz="1300">
              <a:solidFill>
                <a:schemeClr val="dk1"/>
              </a:solidFill>
            </a:endParaRPr>
          </a:p>
          <a:p>
            <a:pPr indent="0" lvl="0" marL="0" rtl="0" algn="l">
              <a:lnSpc>
                <a:spcPct val="115000"/>
              </a:lnSpc>
              <a:spcBef>
                <a:spcPts val="1200"/>
              </a:spcBef>
              <a:spcAft>
                <a:spcPts val="0"/>
              </a:spcAft>
              <a:buNone/>
            </a:pPr>
            <a:r>
              <a:rPr lang="en-GB" sz="1100">
                <a:solidFill>
                  <a:schemeClr val="dk1"/>
                </a:solidFill>
              </a:rPr>
              <a:t>Handles networking and load balancing between Pods.</a:t>
            </a:r>
            <a:endParaRPr sz="1100">
              <a:solidFill>
                <a:schemeClr val="dk1"/>
              </a:solidFill>
            </a:endParaRPr>
          </a:p>
          <a:p>
            <a:pPr indent="0" lvl="0" marL="0" rtl="0" algn="l">
              <a:lnSpc>
                <a:spcPct val="115000"/>
              </a:lnSpc>
              <a:spcBef>
                <a:spcPts val="1200"/>
              </a:spcBef>
              <a:spcAft>
                <a:spcPts val="0"/>
              </a:spcAft>
              <a:buNone/>
            </a:pPr>
            <a:r>
              <a:rPr b="1" lang="en-GB" sz="1300">
                <a:solidFill>
                  <a:schemeClr val="dk1"/>
                </a:solidFill>
              </a:rPr>
              <a:t>d)</a:t>
            </a:r>
            <a:r>
              <a:rPr b="1" lang="en-GB" sz="1100">
                <a:solidFill>
                  <a:schemeClr val="dk1"/>
                </a:solidFill>
              </a:rPr>
              <a:t>  </a:t>
            </a:r>
            <a:r>
              <a:rPr b="1" lang="en-GB" sz="1300">
                <a:solidFill>
                  <a:schemeClr val="dk1"/>
                </a:solidFill>
              </a:rPr>
              <a:t>Container Runtime</a:t>
            </a:r>
            <a:endParaRPr b="1" sz="1300">
              <a:solidFill>
                <a:schemeClr val="dk1"/>
              </a:solidFill>
            </a:endParaRPr>
          </a:p>
          <a:p>
            <a:pPr indent="0" lvl="0" marL="0" rtl="0" algn="l">
              <a:lnSpc>
                <a:spcPct val="115000"/>
              </a:lnSpc>
              <a:spcBef>
                <a:spcPts val="1200"/>
              </a:spcBef>
              <a:spcAft>
                <a:spcPts val="1200"/>
              </a:spcAft>
              <a:buNone/>
            </a:pPr>
            <a:r>
              <a:rPr lang="en-GB" sz="1300">
                <a:solidFill>
                  <a:schemeClr val="dk1"/>
                </a:solidFill>
              </a:rPr>
              <a:t>Docker</a:t>
            </a:r>
            <a:endParaRPr sz="1300">
              <a:solidFill>
                <a:schemeClr val="dk1"/>
              </a:solidFill>
            </a:endParaRPr>
          </a:p>
        </p:txBody>
      </p:sp>
      <p:pic>
        <p:nvPicPr>
          <p:cNvPr id="167" name="Google Shape;167;p30"/>
          <p:cNvPicPr preferRelativeResize="0"/>
          <p:nvPr/>
        </p:nvPicPr>
        <p:blipFill rotWithShape="1">
          <a:blip r:embed="rId3">
            <a:alphaModFix/>
          </a:blip>
          <a:srcRect b="0" l="5285" r="0" t="0"/>
          <a:stretch/>
        </p:blipFill>
        <p:spPr>
          <a:xfrm>
            <a:off x="2759075" y="56525"/>
            <a:ext cx="6559501" cy="4720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idx="1" type="body"/>
          </p:nvPr>
        </p:nvSpPr>
        <p:spPr>
          <a:xfrm>
            <a:off x="311700" y="312000"/>
            <a:ext cx="8520600" cy="425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Kubernete Networking</a:t>
            </a:r>
            <a:endParaRPr b="1">
              <a:solidFill>
                <a:schemeClr val="dk1"/>
              </a:solidFill>
            </a:endParaRPr>
          </a:p>
          <a:p>
            <a:pPr indent="0" lvl="0" marL="0" rtl="0" algn="l">
              <a:spcBef>
                <a:spcPts val="1200"/>
              </a:spcBef>
              <a:spcAft>
                <a:spcPts val="0"/>
              </a:spcAft>
              <a:buClr>
                <a:schemeClr val="dk1"/>
              </a:buClr>
              <a:buSzPts val="1100"/>
              <a:buFont typeface="Arial"/>
              <a:buNone/>
            </a:pPr>
            <a:r>
              <a:rPr i="1" lang="en-GB" sz="1400">
                <a:solidFill>
                  <a:schemeClr val="dk1"/>
                </a:solidFill>
              </a:rPr>
              <a:t>Every Pod gets:</a:t>
            </a:r>
            <a:endParaRPr i="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Unique IP Address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Internal communication capability</a:t>
            </a:r>
            <a:endParaRPr sz="1400">
              <a:solidFill>
                <a:schemeClr val="dk1"/>
              </a:solidFill>
            </a:endParaRPr>
          </a:p>
          <a:p>
            <a:pPr indent="0" lvl="0" marL="0" rtl="0" algn="l">
              <a:spcBef>
                <a:spcPts val="1200"/>
              </a:spcBef>
              <a:spcAft>
                <a:spcPts val="0"/>
              </a:spcAft>
              <a:buClr>
                <a:schemeClr val="dk1"/>
              </a:buClr>
              <a:buSzPts val="1100"/>
              <a:buFont typeface="Arial"/>
              <a:buNone/>
            </a:pPr>
            <a:r>
              <a:rPr i="1" lang="en-GB" sz="1400">
                <a:solidFill>
                  <a:schemeClr val="dk1"/>
                </a:solidFill>
              </a:rPr>
              <a:t>Networking Features:</a:t>
            </a:r>
            <a:endParaRPr i="1" sz="1400">
              <a:solidFill>
                <a:schemeClr val="dk1"/>
              </a:solidFill>
            </a:endParaRPr>
          </a:p>
          <a:p>
            <a:pPr indent="457200" lvl="0" marL="0" rtl="0" algn="l">
              <a:spcBef>
                <a:spcPts val="1400"/>
              </a:spcBef>
              <a:spcAft>
                <a:spcPts val="0"/>
              </a:spcAft>
              <a:buNone/>
            </a:pPr>
            <a:r>
              <a:rPr lang="en-GB" sz="1400">
                <a:solidFill>
                  <a:schemeClr val="dk1"/>
                </a:solidFill>
              </a:rPr>
              <a:t>Pod-to-Pod Communication: Pods communicate directly.</a:t>
            </a:r>
            <a:endParaRPr sz="1400">
              <a:solidFill>
                <a:schemeClr val="dk1"/>
              </a:solidFill>
            </a:endParaRPr>
          </a:p>
          <a:p>
            <a:pPr indent="457200" lvl="0" marL="0" rtl="0" algn="l">
              <a:spcBef>
                <a:spcPts val="1400"/>
              </a:spcBef>
              <a:spcAft>
                <a:spcPts val="0"/>
              </a:spcAft>
              <a:buNone/>
            </a:pPr>
            <a:r>
              <a:rPr lang="en-GB" sz="1400">
                <a:solidFill>
                  <a:schemeClr val="dk1"/>
                </a:solidFill>
              </a:rPr>
              <a:t>Service Discovery: Applications locate other services automatically.</a:t>
            </a:r>
            <a:endParaRPr sz="1400">
              <a:solidFill>
                <a:schemeClr val="dk1"/>
              </a:solidFill>
            </a:endParaRPr>
          </a:p>
          <a:p>
            <a:pPr indent="457200" lvl="0" marL="0" rtl="0" algn="l">
              <a:spcBef>
                <a:spcPts val="1400"/>
              </a:spcBef>
              <a:spcAft>
                <a:spcPts val="0"/>
              </a:spcAft>
              <a:buClr>
                <a:schemeClr val="dk1"/>
              </a:buClr>
              <a:buSzPts val="1100"/>
              <a:buFont typeface="Arial"/>
              <a:buNone/>
            </a:pPr>
            <a:r>
              <a:rPr lang="en-GB" sz="1400">
                <a:solidFill>
                  <a:schemeClr val="dk1"/>
                </a:solidFill>
              </a:rPr>
              <a:t>Load Balancing: Traffic distributed among Pods.</a:t>
            </a:r>
            <a:endParaRPr sz="1400">
              <a:solidFill>
                <a:schemeClr val="dk1"/>
              </a:solidFill>
            </a:endParaRPr>
          </a:p>
          <a:p>
            <a:pPr indent="0" lvl="0" marL="0" rtl="0" algn="l">
              <a:spcBef>
                <a:spcPts val="400"/>
              </a:spcBef>
              <a:spcAft>
                <a:spcPts val="1200"/>
              </a:spcAft>
              <a:buNone/>
            </a:pPr>
            <a:r>
              <a:t/>
            </a:r>
            <a:endParaRPr b="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idx="1" type="body"/>
          </p:nvPr>
        </p:nvSpPr>
        <p:spPr>
          <a:xfrm>
            <a:off x="311700" y="78550"/>
            <a:ext cx="4118400" cy="34164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GB" sz="1400">
                <a:solidFill>
                  <a:schemeClr val="dk1"/>
                </a:solidFill>
              </a:rPr>
              <a:t>Advantages of Kubernetes</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Open Source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Platform Independent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Automatic Scaling</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Self-Healing</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High Availability</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Load Balancing</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Rolling Updates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Efficient Resource Utilization</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Multi-Cloud Support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Large Community Support</a:t>
            </a:r>
            <a:endParaRPr sz="1400">
              <a:solidFill>
                <a:schemeClr val="dk1"/>
              </a:solidFill>
            </a:endParaRPr>
          </a:p>
          <a:p>
            <a:pPr indent="0" lvl="0" marL="0" rtl="0" algn="l">
              <a:spcBef>
                <a:spcPts val="2400"/>
              </a:spcBef>
              <a:spcAft>
                <a:spcPts val="0"/>
              </a:spcAft>
              <a:buClr>
                <a:schemeClr val="dk1"/>
              </a:buClr>
              <a:buSzPts val="1100"/>
              <a:buFont typeface="Arial"/>
              <a:buNone/>
            </a:pPr>
            <a:r>
              <a:rPr b="1" lang="en-GB" sz="1400">
                <a:solidFill>
                  <a:schemeClr val="dk1"/>
                </a:solidFill>
              </a:rPr>
              <a:t>Limitations of Kubernetes</a:t>
            </a:r>
            <a:endParaRPr b="1" sz="1400">
              <a:solidFill>
                <a:schemeClr val="dk1"/>
              </a:solidFill>
            </a:endParaRPr>
          </a:p>
          <a:p>
            <a:pPr indent="-317500" lvl="0" marL="457200" rtl="0" algn="l">
              <a:spcBef>
                <a:spcPts val="1200"/>
              </a:spcBef>
              <a:spcAft>
                <a:spcPts val="0"/>
              </a:spcAft>
              <a:buClr>
                <a:schemeClr val="dk1"/>
              </a:buClr>
              <a:buSzPts val="1400"/>
              <a:buAutoNum type="arabicPeriod"/>
            </a:pPr>
            <a:r>
              <a:rPr lang="en-GB" sz="1400">
                <a:solidFill>
                  <a:schemeClr val="dk1"/>
                </a:solidFill>
              </a:rPr>
              <a:t>Steep learning curve</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Complex initial setup</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Requires monitoring and management</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Additional infrastructure costs</a:t>
            </a:r>
            <a:endParaRPr sz="1400">
              <a:solidFill>
                <a:schemeClr val="dk1"/>
              </a:solidFill>
            </a:endParaRPr>
          </a:p>
          <a:p>
            <a:pPr indent="-317500" lvl="0" marL="457200" rtl="0" algn="l">
              <a:spcBef>
                <a:spcPts val="0"/>
              </a:spcBef>
              <a:spcAft>
                <a:spcPts val="0"/>
              </a:spcAft>
              <a:buClr>
                <a:schemeClr val="dk1"/>
              </a:buClr>
              <a:buSzPts val="1400"/>
              <a:buAutoNum type="arabicPeriod"/>
            </a:pPr>
            <a:r>
              <a:rPr lang="en-GB" sz="1400">
                <a:solidFill>
                  <a:schemeClr val="dk1"/>
                </a:solidFill>
              </a:rPr>
              <a:t>Security configuration can be challenging</a:t>
            </a:r>
            <a:endParaRPr sz="1400">
              <a:solidFill>
                <a:schemeClr val="dk1"/>
              </a:solidFill>
            </a:endParaRPr>
          </a:p>
        </p:txBody>
      </p:sp>
      <p:sp>
        <p:nvSpPr>
          <p:cNvPr id="178" name="Google Shape;178;p32"/>
          <p:cNvSpPr txBox="1"/>
          <p:nvPr/>
        </p:nvSpPr>
        <p:spPr>
          <a:xfrm>
            <a:off x="4249350" y="1052350"/>
            <a:ext cx="4736400" cy="244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GB">
                <a:solidFill>
                  <a:schemeClr val="dk1"/>
                </a:solidFill>
              </a:rPr>
              <a:t>Real-World Applications of Kubernetes</a:t>
            </a:r>
            <a:endParaRPr b="1">
              <a:solidFill>
                <a:schemeClr val="dk1"/>
              </a:solidFill>
            </a:endParaRPr>
          </a:p>
          <a:p>
            <a:pPr indent="0" lvl="0" marL="0" rtl="0" algn="l">
              <a:lnSpc>
                <a:spcPct val="115000"/>
              </a:lnSpc>
              <a:spcBef>
                <a:spcPts val="1200"/>
              </a:spcBef>
              <a:spcAft>
                <a:spcPts val="0"/>
              </a:spcAft>
              <a:buNone/>
            </a:pPr>
            <a:r>
              <a:rPr lang="en-GB">
                <a:solidFill>
                  <a:schemeClr val="dk1"/>
                </a:solidFill>
              </a:rPr>
              <a:t>Many leading companies use Kubernetes for large-scale application deployment:</a:t>
            </a:r>
            <a:endParaRPr>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Google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Netflix</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Spotify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Airbnb</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Adobe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831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Continuous monitoring with </a:t>
            </a:r>
            <a:r>
              <a:rPr b="1" lang="en-GB" u="sng">
                <a:solidFill>
                  <a:schemeClr val="hlink"/>
                </a:solidFill>
                <a:hlinkClick r:id="rId3"/>
              </a:rPr>
              <a:t>Nagios</a:t>
            </a:r>
            <a:endParaRPr b="1"/>
          </a:p>
        </p:txBody>
      </p:sp>
      <p:sp>
        <p:nvSpPr>
          <p:cNvPr id="184" name="Google Shape;184;p33"/>
          <p:cNvSpPr txBox="1"/>
          <p:nvPr>
            <p:ph idx="1" type="body"/>
          </p:nvPr>
        </p:nvSpPr>
        <p:spPr>
          <a:xfrm>
            <a:off x="311700" y="971250"/>
            <a:ext cx="8520600" cy="395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00" u="sng">
                <a:solidFill>
                  <a:schemeClr val="dk1"/>
                </a:solidFill>
              </a:rPr>
              <a:t>Nagios? </a:t>
            </a:r>
            <a:endParaRPr sz="1600" u="sng">
              <a:solidFill>
                <a:schemeClr val="dk1"/>
              </a:solidFill>
            </a:endParaRPr>
          </a:p>
          <a:p>
            <a:pPr indent="0" lvl="0" marL="0" rtl="0" algn="just">
              <a:spcBef>
                <a:spcPts val="1200"/>
              </a:spcBef>
              <a:spcAft>
                <a:spcPts val="0"/>
              </a:spcAft>
              <a:buNone/>
            </a:pPr>
            <a:r>
              <a:rPr b="1" lang="en-GB" sz="1600">
                <a:solidFill>
                  <a:schemeClr val="dk1"/>
                </a:solidFill>
                <a:highlight>
                  <a:srgbClr val="FFFFFF"/>
                </a:highlight>
              </a:rPr>
              <a:t>Nagios is a continuous monitoring tool that monitors hosts, services, applications, and network devices, detects failures, sends alerts, and provides reports for maintaining high system availability.</a:t>
            </a:r>
            <a:endParaRPr b="1" sz="1600">
              <a:solidFill>
                <a:schemeClr val="dk1"/>
              </a:solidFill>
            </a:endParaRPr>
          </a:p>
          <a:p>
            <a:pPr indent="0" lvl="0" marL="0" rtl="0" algn="just">
              <a:spcBef>
                <a:spcPts val="1200"/>
              </a:spcBef>
              <a:spcAft>
                <a:spcPts val="0"/>
              </a:spcAft>
              <a:buClr>
                <a:schemeClr val="dk1"/>
              </a:buClr>
              <a:buSzPts val="1100"/>
              <a:buFont typeface="Arial"/>
              <a:buNone/>
            </a:pPr>
            <a:r>
              <a:rPr lang="en-GB" sz="1600">
                <a:solidFill>
                  <a:schemeClr val="dk1"/>
                </a:solidFill>
                <a:highlight>
                  <a:srgbClr val="FFFFFF"/>
                </a:highlight>
              </a:rPr>
              <a:t>Nagios provides two options for monitoring:</a:t>
            </a:r>
            <a:endParaRPr sz="1600">
              <a:solidFill>
                <a:schemeClr val="dk1"/>
              </a:solidFill>
              <a:highlight>
                <a:srgbClr val="FFFFFF"/>
              </a:highlight>
            </a:endParaRPr>
          </a:p>
          <a:p>
            <a:pPr indent="-330200" lvl="0" marL="685800" rtl="0" algn="just">
              <a:lnSpc>
                <a:spcPct val="158000"/>
              </a:lnSpc>
              <a:spcBef>
                <a:spcPts val="1200"/>
              </a:spcBef>
              <a:spcAft>
                <a:spcPts val="0"/>
              </a:spcAft>
              <a:buClr>
                <a:schemeClr val="dk1"/>
              </a:buClr>
              <a:buSzPts val="1600"/>
              <a:buFont typeface="Nunito"/>
              <a:buChar char="●"/>
            </a:pPr>
            <a:r>
              <a:rPr b="1" lang="en-GB" sz="1600">
                <a:solidFill>
                  <a:schemeClr val="dk1"/>
                </a:solidFill>
                <a:highlight>
                  <a:srgbClr val="FFFFFF"/>
                </a:highlight>
              </a:rPr>
              <a:t>Agent-based</a:t>
            </a:r>
            <a:r>
              <a:rPr lang="en-GB" sz="1600">
                <a:solidFill>
                  <a:schemeClr val="dk1"/>
                </a:solidFill>
                <a:highlight>
                  <a:srgbClr val="FFFFFF"/>
                </a:highlight>
              </a:rPr>
              <a:t>: Independent agents are installed on servers to collect data, which is then sent to the Nagios server.</a:t>
            </a:r>
            <a:endParaRPr sz="1600">
              <a:solidFill>
                <a:schemeClr val="dk1"/>
              </a:solidFill>
              <a:highlight>
                <a:srgbClr val="FFFFFF"/>
              </a:highlight>
            </a:endParaRPr>
          </a:p>
          <a:p>
            <a:pPr indent="-330200" lvl="0" marL="685800" rtl="0" algn="just">
              <a:lnSpc>
                <a:spcPct val="158000"/>
              </a:lnSpc>
              <a:spcBef>
                <a:spcPts val="0"/>
              </a:spcBef>
              <a:spcAft>
                <a:spcPts val="0"/>
              </a:spcAft>
              <a:buClr>
                <a:schemeClr val="dk1"/>
              </a:buClr>
              <a:buSzPts val="1600"/>
              <a:buFont typeface="Nunito"/>
              <a:buChar char="●"/>
            </a:pPr>
            <a:r>
              <a:rPr b="1" lang="en-GB" sz="1600">
                <a:solidFill>
                  <a:schemeClr val="dk1"/>
                </a:solidFill>
                <a:highlight>
                  <a:srgbClr val="FFFFFF"/>
                </a:highlight>
              </a:rPr>
              <a:t>Agentless</a:t>
            </a:r>
            <a:r>
              <a:rPr lang="en-GB" sz="1600">
                <a:solidFill>
                  <a:schemeClr val="dk1"/>
                </a:solidFill>
                <a:highlight>
                  <a:srgbClr val="FFFFFF"/>
                </a:highlight>
              </a:rPr>
              <a:t>: Uses existing protocols to gather data without installing additional software on servers. Both methods monitor critical system metrics like file system usage, CPU performance, and service status.</a:t>
            </a:r>
            <a:endParaRPr sz="16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idx="1" type="body"/>
          </p:nvPr>
        </p:nvSpPr>
        <p:spPr>
          <a:xfrm>
            <a:off x="311700" y="790825"/>
            <a:ext cx="8520600" cy="3416400"/>
          </a:xfrm>
          <a:prstGeom prst="rect">
            <a:avLst/>
          </a:prstGeom>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GB" sz="2900">
                <a:solidFill>
                  <a:schemeClr val="dk1"/>
                </a:solidFill>
              </a:rPr>
              <a:t>Why Continuous Monitoring is Important</a:t>
            </a:r>
            <a:endParaRPr b="1" sz="2900">
              <a:solidFill>
                <a:schemeClr val="dk1"/>
              </a:solidFill>
            </a:endParaRPr>
          </a:p>
          <a:p>
            <a:pPr indent="0" lvl="0" marL="0" rtl="0" algn="l">
              <a:spcBef>
                <a:spcPts val="1200"/>
              </a:spcBef>
              <a:spcAft>
                <a:spcPts val="0"/>
              </a:spcAft>
              <a:buClr>
                <a:schemeClr val="dk1"/>
              </a:buClr>
              <a:buSzPts val="1100"/>
              <a:buFont typeface="Arial"/>
              <a:buNone/>
            </a:pPr>
            <a:r>
              <a:rPr lang="en-GB" sz="1700">
                <a:solidFill>
                  <a:schemeClr val="dk1"/>
                </a:solidFill>
              </a:rPr>
              <a:t>Continuous monitoring helps organizations by:</a:t>
            </a:r>
            <a:endParaRPr sz="1700">
              <a:solidFill>
                <a:schemeClr val="dk1"/>
              </a:solidFill>
            </a:endParaRPr>
          </a:p>
          <a:p>
            <a:pPr indent="-336550" lvl="0" marL="457200" rtl="0" algn="l">
              <a:spcBef>
                <a:spcPts val="1200"/>
              </a:spcBef>
              <a:spcAft>
                <a:spcPts val="0"/>
              </a:spcAft>
              <a:buClr>
                <a:schemeClr val="dk1"/>
              </a:buClr>
              <a:buSzPts val="1700"/>
              <a:buChar char="●"/>
            </a:pPr>
            <a:r>
              <a:rPr lang="en-GB" sz="1700">
                <a:solidFill>
                  <a:schemeClr val="dk1"/>
                </a:solidFill>
              </a:rPr>
              <a:t>Detecting failures immediately</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Reducing system downtime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Improving service availability</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Preventing major failures</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Tracking system performance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Enhancing security monitoring</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Supporting proactive maintenance</a:t>
            </a:r>
            <a:endParaRPr sz="1700">
              <a:solidFill>
                <a:schemeClr val="dk1"/>
              </a:solidFill>
            </a:endParaRPr>
          </a:p>
          <a:p>
            <a:pPr indent="-336550" lvl="0" marL="457200" rtl="0" algn="l">
              <a:spcBef>
                <a:spcPts val="0"/>
              </a:spcBef>
              <a:spcAft>
                <a:spcPts val="0"/>
              </a:spcAft>
              <a:buClr>
                <a:schemeClr val="dk1"/>
              </a:buClr>
              <a:buSzPts val="1700"/>
              <a:buChar char="●"/>
            </a:pPr>
            <a:r>
              <a:rPr lang="en-GB" sz="1700">
                <a:solidFill>
                  <a:schemeClr val="dk1"/>
                </a:solidFill>
              </a:rPr>
              <a:t>Meeting Service Level Agreements (SLAs)</a:t>
            </a:r>
            <a:endParaRPr sz="1700">
              <a:solidFill>
                <a:schemeClr val="dk1"/>
              </a:solidFill>
            </a:endParaRPr>
          </a:p>
          <a:p>
            <a:pPr indent="0" lvl="0" marL="0" rtl="0" algn="l">
              <a:spcBef>
                <a:spcPts val="1200"/>
              </a:spcBef>
              <a:spcAft>
                <a:spcPts val="1200"/>
              </a:spcAft>
              <a:buNone/>
            </a:pPr>
            <a:r>
              <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idx="1" type="body"/>
          </p:nvPr>
        </p:nvSpPr>
        <p:spPr>
          <a:xfrm>
            <a:off x="311700" y="369350"/>
            <a:ext cx="8520600" cy="44595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GB"/>
              <a:t>Monitoring process in nagios: </a:t>
            </a:r>
            <a:endParaRPr/>
          </a:p>
          <a:p>
            <a:pPr indent="-334328" lvl="0" marL="685800" rtl="0" algn="just">
              <a:lnSpc>
                <a:spcPct val="158000"/>
              </a:lnSpc>
              <a:spcBef>
                <a:spcPts val="1200"/>
              </a:spcBef>
              <a:spcAft>
                <a:spcPts val="0"/>
              </a:spcAft>
              <a:buClr>
                <a:srgbClr val="273239"/>
              </a:buClr>
              <a:buSzPct val="100000"/>
              <a:buFont typeface="Nunito"/>
              <a:buChar char="●"/>
            </a:pPr>
            <a:r>
              <a:rPr b="1" lang="en-GB">
                <a:solidFill>
                  <a:srgbClr val="273239"/>
                </a:solidFill>
                <a:highlight>
                  <a:srgbClr val="FFFFFF"/>
                </a:highlight>
              </a:rPr>
              <a:t>Nagios Web Interface (GUI): </a:t>
            </a:r>
            <a:r>
              <a:rPr lang="en-GB">
                <a:solidFill>
                  <a:srgbClr val="273239"/>
                </a:solidFill>
                <a:highlight>
                  <a:srgbClr val="FFFFFF"/>
                </a:highlight>
              </a:rPr>
              <a:t>The Nagios Web Interface is a user-friendly dashboard where administrators can see the real-time status of all monitored resources. It helps users quickly check the status of different services, get alerts, and track performance over time. Accessible through any modern web browser, this interface is crucial for real-time monitoring and fixing issues easily.</a:t>
            </a:r>
            <a:endParaRPr>
              <a:solidFill>
                <a:srgbClr val="273239"/>
              </a:solidFill>
              <a:highlight>
                <a:srgbClr val="FFFFFF"/>
              </a:highlight>
            </a:endParaRPr>
          </a:p>
          <a:p>
            <a:pPr indent="-334328" lvl="0" marL="685800" rtl="0" algn="just">
              <a:lnSpc>
                <a:spcPct val="158000"/>
              </a:lnSpc>
              <a:spcBef>
                <a:spcPts val="0"/>
              </a:spcBef>
              <a:spcAft>
                <a:spcPts val="0"/>
              </a:spcAft>
              <a:buClr>
                <a:srgbClr val="273239"/>
              </a:buClr>
              <a:buSzPct val="100000"/>
              <a:buFont typeface="Nunito"/>
              <a:buChar char="●"/>
            </a:pPr>
            <a:r>
              <a:rPr b="1" lang="en-GB">
                <a:solidFill>
                  <a:srgbClr val="273239"/>
                </a:solidFill>
                <a:highlight>
                  <a:srgbClr val="FFFFFF"/>
                </a:highlight>
              </a:rPr>
              <a:t>Alert Notifications (SMS and Email): </a:t>
            </a:r>
            <a:r>
              <a:rPr lang="en-GB">
                <a:solidFill>
                  <a:srgbClr val="273239"/>
                </a:solidFill>
                <a:highlight>
                  <a:srgbClr val="FFFFFF"/>
                </a:highlight>
              </a:rPr>
              <a:t>One of Nagios' key features is its ability to alert administrators when something critical happens. These alerts can be sent through SMS or email, based on the settings. If a resource or service reaches a critical point, like low disk space or a service going down, Nagios quickly sends a notification to ensure the issue gets addressed right away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6"/>
          <p:cNvPicPr preferRelativeResize="0"/>
          <p:nvPr/>
        </p:nvPicPr>
        <p:blipFill>
          <a:blip r:embed="rId3">
            <a:alphaModFix/>
          </a:blip>
          <a:stretch>
            <a:fillRect/>
          </a:stretch>
        </p:blipFill>
        <p:spPr>
          <a:xfrm>
            <a:off x="152400" y="754300"/>
            <a:ext cx="8839198" cy="37712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idx="1" type="body"/>
          </p:nvPr>
        </p:nvSpPr>
        <p:spPr>
          <a:xfrm>
            <a:off x="311700" y="615575"/>
            <a:ext cx="8520600" cy="3953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GB" sz="1600">
                <a:solidFill>
                  <a:schemeClr val="dk1"/>
                </a:solidFill>
              </a:rPr>
              <a:t>Nagios in a DevOps Environment</a:t>
            </a:r>
            <a:endParaRPr b="1" sz="1600">
              <a:solidFill>
                <a:schemeClr val="dk1"/>
              </a:solidFill>
            </a:endParaRPr>
          </a:p>
          <a:p>
            <a:pPr indent="0" lvl="0" marL="0" rtl="0" algn="l">
              <a:spcBef>
                <a:spcPts val="1200"/>
              </a:spcBef>
              <a:spcAft>
                <a:spcPts val="0"/>
              </a:spcAft>
              <a:buClr>
                <a:schemeClr val="dk1"/>
              </a:buClr>
              <a:buSzPts val="1100"/>
              <a:buFont typeface="Arial"/>
              <a:buNone/>
            </a:pPr>
            <a:r>
              <a:rPr lang="en-GB" sz="1600">
                <a:solidFill>
                  <a:schemeClr val="dk1"/>
                </a:solidFill>
              </a:rPr>
              <a:t>When used alongside Docker and Kubernetes:</a:t>
            </a:r>
            <a:endParaRPr sz="1600">
              <a:solidFill>
                <a:schemeClr val="dk1"/>
              </a:solidFill>
            </a:endParaRPr>
          </a:p>
          <a:p>
            <a:pPr indent="-330200" lvl="0" marL="457200" rtl="0" algn="l">
              <a:spcBef>
                <a:spcPts val="1200"/>
              </a:spcBef>
              <a:spcAft>
                <a:spcPts val="0"/>
              </a:spcAft>
              <a:buClr>
                <a:schemeClr val="dk1"/>
              </a:buClr>
              <a:buSzPts val="1600"/>
              <a:buAutoNum type="arabicPeriod"/>
            </a:pPr>
            <a:r>
              <a:rPr lang="en-GB" sz="1600">
                <a:solidFill>
                  <a:schemeClr val="dk1"/>
                </a:solidFill>
              </a:rPr>
              <a:t>Application is deployed to Kubernetes.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Nagios continuously checks:</a:t>
            </a:r>
            <a:endParaRPr sz="1600">
              <a:solidFill>
                <a:schemeClr val="dk1"/>
              </a:solidFill>
            </a:endParaRPr>
          </a:p>
          <a:p>
            <a:pPr indent="-330200" lvl="1" marL="914400" rtl="0" algn="l">
              <a:spcBef>
                <a:spcPts val="0"/>
              </a:spcBef>
              <a:spcAft>
                <a:spcPts val="0"/>
              </a:spcAft>
              <a:buClr>
                <a:schemeClr val="dk1"/>
              </a:buClr>
              <a:buSzPts val="1600"/>
              <a:buChar char="○"/>
            </a:pPr>
            <a:r>
              <a:rPr lang="en-GB" sz="1600">
                <a:solidFill>
                  <a:schemeClr val="dk1"/>
                </a:solidFill>
              </a:rPr>
              <a:t>Node health</a:t>
            </a:r>
            <a:endParaRPr sz="1600">
              <a:solidFill>
                <a:schemeClr val="dk1"/>
              </a:solidFill>
            </a:endParaRPr>
          </a:p>
          <a:p>
            <a:pPr indent="-330200" lvl="1" marL="914400" rtl="0" algn="l">
              <a:spcBef>
                <a:spcPts val="0"/>
              </a:spcBef>
              <a:spcAft>
                <a:spcPts val="0"/>
              </a:spcAft>
              <a:buClr>
                <a:schemeClr val="dk1"/>
              </a:buClr>
              <a:buSzPts val="1600"/>
              <a:buChar char="○"/>
            </a:pPr>
            <a:r>
              <a:rPr lang="en-GB" sz="1600">
                <a:solidFill>
                  <a:schemeClr val="dk1"/>
                </a:solidFill>
              </a:rPr>
              <a:t>Pod availability</a:t>
            </a:r>
            <a:endParaRPr sz="1600">
              <a:solidFill>
                <a:schemeClr val="dk1"/>
              </a:solidFill>
            </a:endParaRPr>
          </a:p>
          <a:p>
            <a:pPr indent="-330200" lvl="1" marL="914400" rtl="0" algn="l">
              <a:spcBef>
                <a:spcPts val="0"/>
              </a:spcBef>
              <a:spcAft>
                <a:spcPts val="0"/>
              </a:spcAft>
              <a:buClr>
                <a:schemeClr val="dk1"/>
              </a:buClr>
              <a:buSzPts val="1600"/>
              <a:buChar char="○"/>
            </a:pPr>
            <a:r>
              <a:rPr lang="en-GB" sz="1600">
                <a:solidFill>
                  <a:schemeClr val="dk1"/>
                </a:solidFill>
              </a:rPr>
              <a:t>Service response times</a:t>
            </a:r>
            <a:endParaRPr sz="1600">
              <a:solidFill>
                <a:schemeClr val="dk1"/>
              </a:solidFill>
            </a:endParaRPr>
          </a:p>
          <a:p>
            <a:pPr indent="-330200" lvl="1" marL="914400" rtl="0" algn="l">
              <a:spcBef>
                <a:spcPts val="0"/>
              </a:spcBef>
              <a:spcAft>
                <a:spcPts val="0"/>
              </a:spcAft>
              <a:buClr>
                <a:schemeClr val="dk1"/>
              </a:buClr>
              <a:buSzPts val="1600"/>
              <a:buChar char="○"/>
            </a:pPr>
            <a:r>
              <a:rPr lang="en-GB" sz="1600">
                <a:solidFill>
                  <a:schemeClr val="dk1"/>
                </a:solidFill>
              </a:rPr>
              <a:t>Resource consumption</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If a pod crashes or a node becomes unavailable, Nagios generates alerts.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Operations teams can respond quickly before users are affected.</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311700" y="13039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 to DevOps on Cloud</a:t>
            </a:r>
            <a:endParaRPr/>
          </a:p>
        </p:txBody>
      </p:sp>
      <p:sp>
        <p:nvSpPr>
          <p:cNvPr id="210" name="Google Shape;210;p38"/>
          <p:cNvSpPr txBox="1"/>
          <p:nvPr>
            <p:ph idx="1" type="body"/>
          </p:nvPr>
        </p:nvSpPr>
        <p:spPr>
          <a:xfrm>
            <a:off x="311700" y="875500"/>
            <a:ext cx="8520600" cy="36933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GB" sz="1600">
                <a:solidFill>
                  <a:schemeClr val="dk1"/>
                </a:solidFill>
              </a:rPr>
              <a:t>DevOps on Cloud combines DevOps practices with cloud infrastructure to automate the entire software delivery lifecycle. </a:t>
            </a:r>
            <a:r>
              <a:rPr lang="en-GB" sz="1600">
                <a:solidFill>
                  <a:srgbClr val="222222"/>
                </a:solidFill>
                <a:highlight>
                  <a:srgbClr val="FFFFFF"/>
                </a:highlight>
              </a:rPr>
              <a:t>One of the main ways cloud computing and DevOps are related is through the concept of infrastructure as code. It is </a:t>
            </a:r>
            <a:r>
              <a:rPr lang="en-GB" sz="1600">
                <a:solidFill>
                  <a:schemeClr val="dk1"/>
                </a:solidFill>
              </a:rPr>
              <a:t>basically</a:t>
            </a:r>
            <a:r>
              <a:rPr lang="en-GB" sz="1600">
                <a:solidFill>
                  <a:srgbClr val="222222"/>
                </a:solidFill>
                <a:highlight>
                  <a:srgbClr val="FFFFFF"/>
                </a:highlight>
              </a:rPr>
              <a:t> Infrastructure as a Service (IaaS).</a:t>
            </a:r>
            <a:endParaRPr sz="1600">
              <a:solidFill>
                <a:srgbClr val="222222"/>
              </a:solidFill>
              <a:highlight>
                <a:srgbClr val="FFFFFF"/>
              </a:highlight>
            </a:endParaRPr>
          </a:p>
          <a:p>
            <a:pPr indent="0" lvl="0" marL="0" rtl="0" algn="l">
              <a:spcBef>
                <a:spcPts val="1200"/>
              </a:spcBef>
              <a:spcAft>
                <a:spcPts val="1200"/>
              </a:spcAft>
              <a:buNone/>
            </a:pPr>
            <a:r>
              <a:t/>
            </a:r>
            <a:endParaRPr/>
          </a:p>
        </p:txBody>
      </p:sp>
      <p:graphicFrame>
        <p:nvGraphicFramePr>
          <p:cNvPr id="211" name="Google Shape;211;p38"/>
          <p:cNvGraphicFramePr/>
          <p:nvPr/>
        </p:nvGraphicFramePr>
        <p:xfrm>
          <a:off x="583150" y="2208463"/>
          <a:ext cx="3000000" cy="3000000"/>
        </p:xfrm>
        <a:graphic>
          <a:graphicData uri="http://schemas.openxmlformats.org/drawingml/2006/table">
            <a:tbl>
              <a:tblPr>
                <a:noFill/>
                <a:tableStyleId>{39AABFF9-FED2-4A01-BF71-B3695C91A5E5}</a:tableStyleId>
              </a:tblPr>
              <a:tblGrid>
                <a:gridCol w="1059700"/>
                <a:gridCol w="3182225"/>
                <a:gridCol w="3612650"/>
              </a:tblGrid>
              <a:tr h="439525">
                <a:tc>
                  <a:txBody>
                    <a:bodyPr/>
                    <a:lstStyle/>
                    <a:p>
                      <a:pPr indent="0" lvl="0" marL="0" rtl="0" algn="l">
                        <a:spcBef>
                          <a:spcPts val="0"/>
                        </a:spcBef>
                        <a:spcAft>
                          <a:spcPts val="0"/>
                        </a:spcAft>
                        <a:buNone/>
                      </a:pPr>
                      <a:r>
                        <a:rPr lang="en-GB"/>
                        <a:t>#</a:t>
                      </a:r>
                      <a:endParaRPr/>
                    </a:p>
                  </a:txBody>
                  <a:tcPr marT="91425" marB="91425" marR="91425" marL="91425"/>
                </a:tc>
                <a:tc>
                  <a:txBody>
                    <a:bodyPr/>
                    <a:lstStyle/>
                    <a:p>
                      <a:pPr indent="0" lvl="0" marL="0" rtl="0" algn="ctr">
                        <a:lnSpc>
                          <a:spcPct val="115000"/>
                        </a:lnSpc>
                        <a:spcBef>
                          <a:spcPts val="0"/>
                        </a:spcBef>
                        <a:spcAft>
                          <a:spcPts val="0"/>
                        </a:spcAft>
                        <a:buNone/>
                      </a:pPr>
                      <a:r>
                        <a:rPr b="1" lang="en-GB"/>
                        <a:t>Traditional IT</a:t>
                      </a:r>
                      <a:endParaRPr b="1"/>
                    </a:p>
                  </a:txBody>
                  <a:tcPr marT="91425" marB="91425" marR="91425" marL="91425"/>
                </a:tc>
                <a:tc>
                  <a:txBody>
                    <a:bodyPr/>
                    <a:lstStyle/>
                    <a:p>
                      <a:pPr indent="0" lvl="0" marL="0" rtl="0" algn="ctr">
                        <a:lnSpc>
                          <a:spcPct val="115000"/>
                        </a:lnSpc>
                        <a:spcBef>
                          <a:spcPts val="0"/>
                        </a:spcBef>
                        <a:spcAft>
                          <a:spcPts val="0"/>
                        </a:spcAft>
                        <a:buNone/>
                      </a:pPr>
                      <a:r>
                        <a:rPr b="1" lang="en-GB"/>
                        <a:t>Cloud DevOps</a:t>
                      </a:r>
                      <a:endParaRPr b="1"/>
                    </a:p>
                  </a:txBody>
                  <a:tcPr marT="91425" marB="91425" marR="91425" marL="91425"/>
                </a:tc>
              </a:tr>
              <a:tr h="439525">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lang="en-GB"/>
                        <a:t>Manual server setup</a:t>
                      </a:r>
                      <a:endParaRPr/>
                    </a:p>
                  </a:txBody>
                  <a:tcPr marT="91425" marB="91425" marR="91425" marL="91425"/>
                </a:tc>
                <a:tc>
                  <a:txBody>
                    <a:bodyPr/>
                    <a:lstStyle/>
                    <a:p>
                      <a:pPr indent="0" lvl="0" marL="0" rtl="0" algn="l">
                        <a:spcBef>
                          <a:spcPts val="0"/>
                        </a:spcBef>
                        <a:spcAft>
                          <a:spcPts val="0"/>
                        </a:spcAft>
                        <a:buNone/>
                      </a:pPr>
                      <a:r>
                        <a:rPr lang="en-GB"/>
                        <a:t>Automated provisioning</a:t>
                      </a:r>
                      <a:endParaRPr/>
                    </a:p>
                  </a:txBody>
                  <a:tcPr marT="91425" marB="91425" marR="91425" marL="91425"/>
                </a:tc>
              </a:tr>
              <a:tr h="439525">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lang="en-GB"/>
                        <a:t>Limited scalability</a:t>
                      </a:r>
                      <a:endParaRPr/>
                    </a:p>
                  </a:txBody>
                  <a:tcPr marT="91425" marB="91425" marR="91425" marL="91425"/>
                </a:tc>
                <a:tc>
                  <a:txBody>
                    <a:bodyPr/>
                    <a:lstStyle/>
                    <a:p>
                      <a:pPr indent="0" lvl="0" marL="0" rtl="0" algn="l">
                        <a:spcBef>
                          <a:spcPts val="0"/>
                        </a:spcBef>
                        <a:spcAft>
                          <a:spcPts val="0"/>
                        </a:spcAft>
                        <a:buNone/>
                      </a:pPr>
                      <a:r>
                        <a:rPr lang="en-GB"/>
                        <a:t>Elastic scaling</a:t>
                      </a:r>
                      <a:endParaRPr/>
                    </a:p>
                  </a:txBody>
                  <a:tcPr marT="91425" marB="91425" marR="91425" marL="91425"/>
                </a:tc>
              </a:tr>
              <a:tr h="439525">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lang="en-GB"/>
                        <a:t>Long deployment cycles</a:t>
                      </a:r>
                      <a:endParaRPr/>
                    </a:p>
                  </a:txBody>
                  <a:tcPr marT="91425" marB="91425" marR="91425" marL="91425"/>
                </a:tc>
                <a:tc>
                  <a:txBody>
                    <a:bodyPr/>
                    <a:lstStyle/>
                    <a:p>
                      <a:pPr indent="0" lvl="0" marL="0" rtl="0" algn="l">
                        <a:spcBef>
                          <a:spcPts val="0"/>
                        </a:spcBef>
                        <a:spcAft>
                          <a:spcPts val="0"/>
                        </a:spcAft>
                        <a:buNone/>
                      </a:pPr>
                      <a:r>
                        <a:rPr lang="en-GB"/>
                        <a:t>Rapid deployments</a:t>
                      </a:r>
                      <a:endParaRPr/>
                    </a:p>
                  </a:txBody>
                  <a:tcPr marT="91425" marB="91425" marR="91425" marL="91425"/>
                </a:tc>
              </a:tr>
              <a:tr h="439525">
                <a:tc>
                  <a:txBody>
                    <a:bodyPr/>
                    <a:lstStyle/>
                    <a:p>
                      <a:pPr indent="0" lvl="0" marL="0" rtl="0" algn="l">
                        <a:spcBef>
                          <a:spcPts val="0"/>
                        </a:spcBef>
                        <a:spcAft>
                          <a:spcPts val="0"/>
                        </a:spcAft>
                        <a:buNone/>
                      </a:pPr>
                      <a:r>
                        <a:rPr lang="en-GB"/>
                        <a:t>4</a:t>
                      </a:r>
                      <a:endParaRPr/>
                    </a:p>
                  </a:txBody>
                  <a:tcPr marT="91425" marB="91425" marR="91425" marL="91425"/>
                </a:tc>
                <a:tc>
                  <a:txBody>
                    <a:bodyPr/>
                    <a:lstStyle/>
                    <a:p>
                      <a:pPr indent="0" lvl="0" marL="0" rtl="0" algn="l">
                        <a:spcBef>
                          <a:spcPts val="0"/>
                        </a:spcBef>
                        <a:spcAft>
                          <a:spcPts val="0"/>
                        </a:spcAft>
                        <a:buNone/>
                      </a:pPr>
                      <a:r>
                        <a:rPr lang="en-GB"/>
                        <a:t>High infrastructure cost</a:t>
                      </a:r>
                      <a:endParaRPr/>
                    </a:p>
                  </a:txBody>
                  <a:tcPr marT="91425" marB="91425" marR="91425" marL="91425"/>
                </a:tc>
                <a:tc>
                  <a:txBody>
                    <a:bodyPr/>
                    <a:lstStyle/>
                    <a:p>
                      <a:pPr indent="0" lvl="0" marL="0" rtl="0" algn="l">
                        <a:spcBef>
                          <a:spcPts val="0"/>
                        </a:spcBef>
                        <a:spcAft>
                          <a:spcPts val="0"/>
                        </a:spcAft>
                        <a:buNone/>
                      </a:pPr>
                      <a:r>
                        <a:rPr lang="en-GB"/>
                        <a:t>Pay-as-you-use model</a:t>
                      </a:r>
                      <a:endParaRPr/>
                    </a:p>
                  </a:txBody>
                  <a:tcPr marT="91425" marB="91425" marR="91425" marL="91425"/>
                </a:tc>
              </a:tr>
              <a:tr h="439525">
                <a:tc>
                  <a:txBody>
                    <a:bodyPr/>
                    <a:lstStyle/>
                    <a:p>
                      <a:pPr indent="0" lvl="0" marL="0" rtl="0" algn="l">
                        <a:spcBef>
                          <a:spcPts val="0"/>
                        </a:spcBef>
                        <a:spcAft>
                          <a:spcPts val="0"/>
                        </a:spcAft>
                        <a:buNone/>
                      </a:pPr>
                      <a:r>
                        <a:rPr lang="en-GB"/>
                        <a:t>5</a:t>
                      </a:r>
                      <a:endParaRPr/>
                    </a:p>
                  </a:txBody>
                  <a:tcPr marT="91425" marB="91425" marR="91425" marL="91425"/>
                </a:tc>
                <a:tc>
                  <a:txBody>
                    <a:bodyPr/>
                    <a:lstStyle/>
                    <a:p>
                      <a:pPr indent="0" lvl="0" marL="0" rtl="0" algn="l">
                        <a:spcBef>
                          <a:spcPts val="0"/>
                        </a:spcBef>
                        <a:spcAft>
                          <a:spcPts val="0"/>
                        </a:spcAft>
                        <a:buNone/>
                      </a:pPr>
                      <a:r>
                        <a:rPr lang="en-GB"/>
                        <a:t>Manual monitoring</a:t>
                      </a:r>
                      <a:endParaRPr/>
                    </a:p>
                  </a:txBody>
                  <a:tcPr marT="91425" marB="91425" marR="91425" marL="91425"/>
                </a:tc>
                <a:tc>
                  <a:txBody>
                    <a:bodyPr/>
                    <a:lstStyle/>
                    <a:p>
                      <a:pPr indent="0" lvl="0" marL="0" rtl="0" algn="l">
                        <a:spcBef>
                          <a:spcPts val="0"/>
                        </a:spcBef>
                        <a:spcAft>
                          <a:spcPts val="0"/>
                        </a:spcAft>
                        <a:buNone/>
                      </a:pPr>
                      <a:r>
                        <a:rPr lang="en-GB"/>
                        <a:t>Automated monitoring</a:t>
                      </a:r>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graphicFrame>
        <p:nvGraphicFramePr>
          <p:cNvPr id="216" name="Google Shape;216;p39"/>
          <p:cNvGraphicFramePr/>
          <p:nvPr/>
        </p:nvGraphicFramePr>
        <p:xfrm>
          <a:off x="227500" y="295375"/>
          <a:ext cx="3000000" cy="3000000"/>
        </p:xfrm>
        <a:graphic>
          <a:graphicData uri="http://schemas.openxmlformats.org/drawingml/2006/table">
            <a:tbl>
              <a:tblPr>
                <a:noFill/>
                <a:tableStyleId>{39AABFF9-FED2-4A01-BF71-B3695C91A5E5}</a:tableStyleId>
              </a:tblPr>
              <a:tblGrid>
                <a:gridCol w="438350"/>
                <a:gridCol w="1989550"/>
                <a:gridCol w="2813925"/>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lnSpc>
                          <a:spcPct val="115000"/>
                        </a:lnSpc>
                        <a:spcBef>
                          <a:spcPts val="0"/>
                        </a:spcBef>
                        <a:spcAft>
                          <a:spcPts val="0"/>
                        </a:spcAft>
                        <a:buNone/>
                      </a:pPr>
                      <a:r>
                        <a:rPr b="1" lang="en-GB"/>
                        <a:t>Function</a:t>
                      </a:r>
                      <a:endParaRPr b="1"/>
                    </a:p>
                  </a:txBody>
                  <a:tcPr marT="91425" marB="91425" marR="91425" marL="91425"/>
                </a:tc>
                <a:tc>
                  <a:txBody>
                    <a:bodyPr/>
                    <a:lstStyle/>
                    <a:p>
                      <a:pPr indent="0" lvl="0" marL="0" rtl="0" algn="ctr">
                        <a:lnSpc>
                          <a:spcPct val="115000"/>
                        </a:lnSpc>
                        <a:spcBef>
                          <a:spcPts val="0"/>
                        </a:spcBef>
                        <a:spcAft>
                          <a:spcPts val="0"/>
                        </a:spcAft>
                        <a:buNone/>
                      </a:pPr>
                      <a:r>
                        <a:rPr b="1" lang="en-GB"/>
                        <a:t>Tools</a:t>
                      </a:r>
                      <a:endParaRPr b="1"/>
                    </a:p>
                  </a:txBody>
                  <a:tcPr marT="91425" marB="91425" marR="91425" marL="91425"/>
                </a:tc>
              </a:tr>
              <a:tr h="381000">
                <a:tc>
                  <a:txBody>
                    <a:bodyPr/>
                    <a:lstStyle/>
                    <a:p>
                      <a:pPr indent="0" lvl="0" marL="0" rtl="0" algn="l">
                        <a:spcBef>
                          <a:spcPts val="0"/>
                        </a:spcBef>
                        <a:spcAft>
                          <a:spcPts val="0"/>
                        </a:spcAft>
                        <a:buNone/>
                      </a:pPr>
                      <a:r>
                        <a:rPr lang="en-GB"/>
                        <a:t>1</a:t>
                      </a:r>
                      <a:endParaRPr/>
                    </a:p>
                  </a:txBody>
                  <a:tcPr marT="91425" marB="91425" marR="91425" marL="91425"/>
                </a:tc>
                <a:tc>
                  <a:txBody>
                    <a:bodyPr/>
                    <a:lstStyle/>
                    <a:p>
                      <a:pPr indent="0" lvl="0" marL="0" rtl="0" algn="l">
                        <a:spcBef>
                          <a:spcPts val="0"/>
                        </a:spcBef>
                        <a:spcAft>
                          <a:spcPts val="0"/>
                        </a:spcAft>
                        <a:buNone/>
                      </a:pPr>
                      <a:r>
                        <a:rPr lang="en-GB"/>
                        <a:t>Version Control</a:t>
                      </a:r>
                      <a:endParaRPr/>
                    </a:p>
                  </a:txBody>
                  <a:tcPr marT="91425" marB="91425" marR="91425" marL="91425"/>
                </a:tc>
                <a:tc>
                  <a:txBody>
                    <a:bodyPr/>
                    <a:lstStyle/>
                    <a:p>
                      <a:pPr indent="0" lvl="0" marL="0" rtl="0" algn="l">
                        <a:spcBef>
                          <a:spcPts val="0"/>
                        </a:spcBef>
                        <a:spcAft>
                          <a:spcPts val="0"/>
                        </a:spcAft>
                        <a:buNone/>
                      </a:pPr>
                      <a:r>
                        <a:rPr lang="en-GB"/>
                        <a:t>Git, GitHub</a:t>
                      </a:r>
                      <a:endParaRPr/>
                    </a:p>
                  </a:txBody>
                  <a:tcPr marT="91425" marB="91425" marR="91425" marL="91425"/>
                </a:tc>
              </a:tr>
              <a:tr h="381000">
                <a:tc>
                  <a:txBody>
                    <a:bodyPr/>
                    <a:lstStyle/>
                    <a:p>
                      <a:pPr indent="0" lvl="0" marL="0" rtl="0" algn="l">
                        <a:spcBef>
                          <a:spcPts val="0"/>
                        </a:spcBef>
                        <a:spcAft>
                          <a:spcPts val="0"/>
                        </a:spcAft>
                        <a:buNone/>
                      </a:pPr>
                      <a:r>
                        <a:rPr lang="en-GB"/>
                        <a:t>2</a:t>
                      </a:r>
                      <a:endParaRPr/>
                    </a:p>
                  </a:txBody>
                  <a:tcPr marT="91425" marB="91425" marR="91425" marL="91425"/>
                </a:tc>
                <a:tc>
                  <a:txBody>
                    <a:bodyPr/>
                    <a:lstStyle/>
                    <a:p>
                      <a:pPr indent="0" lvl="0" marL="0" rtl="0" algn="l">
                        <a:spcBef>
                          <a:spcPts val="0"/>
                        </a:spcBef>
                        <a:spcAft>
                          <a:spcPts val="0"/>
                        </a:spcAft>
                        <a:buNone/>
                      </a:pPr>
                      <a:r>
                        <a:rPr lang="en-GB"/>
                        <a:t>CI/CD</a:t>
                      </a:r>
                      <a:endParaRPr/>
                    </a:p>
                  </a:txBody>
                  <a:tcPr marT="91425" marB="91425" marR="91425" marL="91425"/>
                </a:tc>
                <a:tc>
                  <a:txBody>
                    <a:bodyPr/>
                    <a:lstStyle/>
                    <a:p>
                      <a:pPr indent="0" lvl="0" marL="0" rtl="0" algn="l">
                        <a:spcBef>
                          <a:spcPts val="0"/>
                        </a:spcBef>
                        <a:spcAft>
                          <a:spcPts val="0"/>
                        </a:spcAft>
                        <a:buNone/>
                      </a:pPr>
                      <a:r>
                        <a:rPr lang="en-GB"/>
                        <a:t>Jenkins, GitHub Actions</a:t>
                      </a:r>
                      <a:endParaRPr/>
                    </a:p>
                  </a:txBody>
                  <a:tcPr marT="91425" marB="91425" marR="91425" marL="91425"/>
                </a:tc>
              </a:tr>
              <a:tr h="381000">
                <a:tc>
                  <a:txBody>
                    <a:bodyPr/>
                    <a:lstStyle/>
                    <a:p>
                      <a:pPr indent="0" lvl="0" marL="0" rtl="0" algn="l">
                        <a:spcBef>
                          <a:spcPts val="0"/>
                        </a:spcBef>
                        <a:spcAft>
                          <a:spcPts val="0"/>
                        </a:spcAft>
                        <a:buNone/>
                      </a:pPr>
                      <a:r>
                        <a:rPr lang="en-GB"/>
                        <a:t>3</a:t>
                      </a:r>
                      <a:endParaRPr/>
                    </a:p>
                  </a:txBody>
                  <a:tcPr marT="91425" marB="91425" marR="91425" marL="91425"/>
                </a:tc>
                <a:tc>
                  <a:txBody>
                    <a:bodyPr/>
                    <a:lstStyle/>
                    <a:p>
                      <a:pPr indent="0" lvl="0" marL="0" rtl="0" algn="l">
                        <a:spcBef>
                          <a:spcPts val="0"/>
                        </a:spcBef>
                        <a:spcAft>
                          <a:spcPts val="0"/>
                        </a:spcAft>
                        <a:buNone/>
                      </a:pPr>
                      <a:r>
                        <a:rPr lang="en-GB"/>
                        <a:t>Containerization</a:t>
                      </a:r>
                      <a:endParaRPr/>
                    </a:p>
                  </a:txBody>
                  <a:tcPr marT="91425" marB="91425" marR="91425" marL="91425"/>
                </a:tc>
                <a:tc>
                  <a:txBody>
                    <a:bodyPr/>
                    <a:lstStyle/>
                    <a:p>
                      <a:pPr indent="0" lvl="0" marL="0" rtl="0" algn="l">
                        <a:spcBef>
                          <a:spcPts val="0"/>
                        </a:spcBef>
                        <a:spcAft>
                          <a:spcPts val="0"/>
                        </a:spcAft>
                        <a:buNone/>
                      </a:pPr>
                      <a:r>
                        <a:rPr lang="en-GB"/>
                        <a:t>Docker</a:t>
                      </a:r>
                      <a:endParaRPr/>
                    </a:p>
                  </a:txBody>
                  <a:tcPr marT="91425" marB="91425" marR="91425" marL="91425"/>
                </a:tc>
              </a:tr>
              <a:tr h="381000">
                <a:tc>
                  <a:txBody>
                    <a:bodyPr/>
                    <a:lstStyle/>
                    <a:p>
                      <a:pPr indent="0" lvl="0" marL="0" rtl="0" algn="l">
                        <a:spcBef>
                          <a:spcPts val="0"/>
                        </a:spcBef>
                        <a:spcAft>
                          <a:spcPts val="0"/>
                        </a:spcAft>
                        <a:buNone/>
                      </a:pPr>
                      <a:r>
                        <a:rPr lang="en-GB"/>
                        <a:t>4</a:t>
                      </a:r>
                      <a:endParaRPr/>
                    </a:p>
                  </a:txBody>
                  <a:tcPr marT="91425" marB="91425" marR="91425" marL="91425"/>
                </a:tc>
                <a:tc>
                  <a:txBody>
                    <a:bodyPr/>
                    <a:lstStyle/>
                    <a:p>
                      <a:pPr indent="0" lvl="0" marL="0" rtl="0" algn="l">
                        <a:spcBef>
                          <a:spcPts val="0"/>
                        </a:spcBef>
                        <a:spcAft>
                          <a:spcPts val="0"/>
                        </a:spcAft>
                        <a:buNone/>
                      </a:pPr>
                      <a:r>
                        <a:rPr lang="en-GB"/>
                        <a:t>Orchestration</a:t>
                      </a:r>
                      <a:endParaRPr/>
                    </a:p>
                  </a:txBody>
                  <a:tcPr marT="91425" marB="91425" marR="91425" marL="91425"/>
                </a:tc>
                <a:tc>
                  <a:txBody>
                    <a:bodyPr/>
                    <a:lstStyle/>
                    <a:p>
                      <a:pPr indent="0" lvl="0" marL="0" rtl="0" algn="l">
                        <a:spcBef>
                          <a:spcPts val="0"/>
                        </a:spcBef>
                        <a:spcAft>
                          <a:spcPts val="0"/>
                        </a:spcAft>
                        <a:buNone/>
                      </a:pPr>
                      <a:r>
                        <a:rPr lang="en-GB"/>
                        <a:t>Kubernetes</a:t>
                      </a:r>
                      <a:endParaRPr/>
                    </a:p>
                  </a:txBody>
                  <a:tcPr marT="91425" marB="91425" marR="91425" marL="91425"/>
                </a:tc>
              </a:tr>
              <a:tr h="381000">
                <a:tc>
                  <a:txBody>
                    <a:bodyPr/>
                    <a:lstStyle/>
                    <a:p>
                      <a:pPr indent="0" lvl="0" marL="0" rtl="0" algn="l">
                        <a:spcBef>
                          <a:spcPts val="0"/>
                        </a:spcBef>
                        <a:spcAft>
                          <a:spcPts val="0"/>
                        </a:spcAft>
                        <a:buNone/>
                      </a:pPr>
                      <a:r>
                        <a:rPr lang="en-GB"/>
                        <a:t>5</a:t>
                      </a:r>
                      <a:endParaRPr/>
                    </a:p>
                  </a:txBody>
                  <a:tcPr marT="91425" marB="91425" marR="91425" marL="91425"/>
                </a:tc>
                <a:tc>
                  <a:txBody>
                    <a:bodyPr/>
                    <a:lstStyle/>
                    <a:p>
                      <a:pPr indent="0" lvl="0" marL="0" rtl="0" algn="l">
                        <a:spcBef>
                          <a:spcPts val="0"/>
                        </a:spcBef>
                        <a:spcAft>
                          <a:spcPts val="0"/>
                        </a:spcAft>
                        <a:buNone/>
                      </a:pPr>
                      <a:r>
                        <a:rPr lang="en-GB"/>
                        <a:t>Infrastructure as Code</a:t>
                      </a:r>
                      <a:endParaRPr/>
                    </a:p>
                  </a:txBody>
                  <a:tcPr marT="91425" marB="91425" marR="91425" marL="91425"/>
                </a:tc>
                <a:tc>
                  <a:txBody>
                    <a:bodyPr/>
                    <a:lstStyle/>
                    <a:p>
                      <a:pPr indent="0" lvl="0" marL="0" rtl="0" algn="l">
                        <a:spcBef>
                          <a:spcPts val="0"/>
                        </a:spcBef>
                        <a:spcAft>
                          <a:spcPts val="0"/>
                        </a:spcAft>
                        <a:buNone/>
                      </a:pPr>
                      <a:r>
                        <a:rPr lang="en-GB"/>
                        <a:t>Terraform, Ansible</a:t>
                      </a:r>
                      <a:endParaRPr/>
                    </a:p>
                  </a:txBody>
                  <a:tcPr marT="91425" marB="91425" marR="91425" marL="91425"/>
                </a:tc>
              </a:tr>
              <a:tr h="381000">
                <a:tc>
                  <a:txBody>
                    <a:bodyPr/>
                    <a:lstStyle/>
                    <a:p>
                      <a:pPr indent="0" lvl="0" marL="0" rtl="0" algn="l">
                        <a:spcBef>
                          <a:spcPts val="0"/>
                        </a:spcBef>
                        <a:spcAft>
                          <a:spcPts val="0"/>
                        </a:spcAft>
                        <a:buNone/>
                      </a:pPr>
                      <a:r>
                        <a:rPr lang="en-GB"/>
                        <a:t>6</a:t>
                      </a:r>
                      <a:endParaRPr/>
                    </a:p>
                  </a:txBody>
                  <a:tcPr marT="91425" marB="91425" marR="91425" marL="91425"/>
                </a:tc>
                <a:tc>
                  <a:txBody>
                    <a:bodyPr/>
                    <a:lstStyle/>
                    <a:p>
                      <a:pPr indent="0" lvl="0" marL="0" rtl="0" algn="l">
                        <a:spcBef>
                          <a:spcPts val="0"/>
                        </a:spcBef>
                        <a:spcAft>
                          <a:spcPts val="0"/>
                        </a:spcAft>
                        <a:buNone/>
                      </a:pPr>
                      <a:r>
                        <a:rPr lang="en-GB"/>
                        <a:t>Monitoring</a:t>
                      </a:r>
                      <a:endParaRPr/>
                    </a:p>
                  </a:txBody>
                  <a:tcPr marT="91425" marB="91425" marR="91425" marL="91425"/>
                </a:tc>
                <a:tc>
                  <a:txBody>
                    <a:bodyPr/>
                    <a:lstStyle/>
                    <a:p>
                      <a:pPr indent="0" lvl="0" marL="0" rtl="0" algn="l">
                        <a:spcBef>
                          <a:spcPts val="0"/>
                        </a:spcBef>
                        <a:spcAft>
                          <a:spcPts val="0"/>
                        </a:spcAft>
                        <a:buNone/>
                      </a:pPr>
                      <a:r>
                        <a:rPr lang="en-GB"/>
                        <a:t>Nagios, Prometheus, Grafana</a:t>
                      </a:r>
                      <a:endParaRPr/>
                    </a:p>
                  </a:txBody>
                  <a:tcPr marT="91425" marB="91425" marR="91425" marL="91425"/>
                </a:tc>
              </a:tr>
              <a:tr h="381000">
                <a:tc>
                  <a:txBody>
                    <a:bodyPr/>
                    <a:lstStyle/>
                    <a:p>
                      <a:pPr indent="0" lvl="0" marL="0" rtl="0" algn="l">
                        <a:spcBef>
                          <a:spcPts val="0"/>
                        </a:spcBef>
                        <a:spcAft>
                          <a:spcPts val="0"/>
                        </a:spcAft>
                        <a:buNone/>
                      </a:pPr>
                      <a:r>
                        <a:rPr lang="en-GB"/>
                        <a:t>7</a:t>
                      </a:r>
                      <a:endParaRPr/>
                    </a:p>
                  </a:txBody>
                  <a:tcPr marT="91425" marB="91425" marR="91425" marL="91425"/>
                </a:tc>
                <a:tc>
                  <a:txBody>
                    <a:bodyPr/>
                    <a:lstStyle/>
                    <a:p>
                      <a:pPr indent="0" lvl="0" marL="0" rtl="0" algn="l">
                        <a:spcBef>
                          <a:spcPts val="0"/>
                        </a:spcBef>
                        <a:spcAft>
                          <a:spcPts val="0"/>
                        </a:spcAft>
                        <a:buNone/>
                      </a:pPr>
                      <a:r>
                        <a:rPr lang="en-GB"/>
                        <a:t>Cloud Platforms</a:t>
                      </a:r>
                      <a:endParaRPr/>
                    </a:p>
                  </a:txBody>
                  <a:tcPr marT="91425" marB="91425" marR="91425" marL="91425"/>
                </a:tc>
                <a:tc>
                  <a:txBody>
                    <a:bodyPr/>
                    <a:lstStyle/>
                    <a:p>
                      <a:pPr indent="0" lvl="0" marL="0" rtl="0" algn="l">
                        <a:spcBef>
                          <a:spcPts val="0"/>
                        </a:spcBef>
                        <a:spcAft>
                          <a:spcPts val="0"/>
                        </a:spcAft>
                        <a:buNone/>
                      </a:pPr>
                      <a:r>
                        <a:rPr lang="en-GB"/>
                        <a:t>AWS, Azure, GCP</a:t>
                      </a:r>
                      <a:endParaRPr/>
                    </a:p>
                  </a:txBody>
                  <a:tcPr marT="91425" marB="91425" marR="91425" marL="91425"/>
                </a:tc>
              </a:tr>
            </a:tbl>
          </a:graphicData>
        </a:graphic>
      </p:graphicFrame>
      <p:sp>
        <p:nvSpPr>
          <p:cNvPr id="217" name="Google Shape;217;p39"/>
          <p:cNvSpPr txBox="1"/>
          <p:nvPr/>
        </p:nvSpPr>
        <p:spPr>
          <a:xfrm>
            <a:off x="5608600" y="377452"/>
            <a:ext cx="3406200" cy="313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GB" sz="1600">
                <a:solidFill>
                  <a:schemeClr val="dk1"/>
                </a:solidFill>
              </a:rPr>
              <a:t>Advantages of DevOps on Cloud</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Faster software delivery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Automated deployments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Improved collaboration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Better scalability and reliability</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Reduced operational costs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Continuous monitoring and feedback</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Enhanced security through automation</a:t>
            </a:r>
            <a:endParaRPr sz="16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p:nvPr/>
        </p:nvSpPr>
        <p:spPr>
          <a:xfrm>
            <a:off x="3406200" y="2435911"/>
            <a:ext cx="2257092" cy="1176444"/>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	CLOUD</a:t>
            </a:r>
            <a:endParaRPr b="1"/>
          </a:p>
        </p:txBody>
      </p:sp>
      <p:sp>
        <p:nvSpPr>
          <p:cNvPr id="223" name="Google Shape;223;p40"/>
          <p:cNvSpPr/>
          <p:nvPr/>
        </p:nvSpPr>
        <p:spPr>
          <a:xfrm>
            <a:off x="3570350" y="697636"/>
            <a:ext cx="1668900" cy="54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PLAN</a:t>
            </a:r>
            <a:endParaRPr/>
          </a:p>
        </p:txBody>
      </p:sp>
      <p:sp>
        <p:nvSpPr>
          <p:cNvPr id="224" name="Google Shape;224;p40"/>
          <p:cNvSpPr/>
          <p:nvPr/>
        </p:nvSpPr>
        <p:spPr>
          <a:xfrm>
            <a:off x="3700300" y="4529836"/>
            <a:ext cx="1668900" cy="547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RELEASE</a:t>
            </a:r>
            <a:endParaRPr b="1"/>
          </a:p>
        </p:txBody>
      </p:sp>
      <p:sp>
        <p:nvSpPr>
          <p:cNvPr id="225" name="Google Shape;225;p40"/>
          <p:cNvSpPr txBox="1"/>
          <p:nvPr/>
        </p:nvSpPr>
        <p:spPr>
          <a:xfrm>
            <a:off x="1025975" y="1532111"/>
            <a:ext cx="1326900" cy="4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Monitor</a:t>
            </a:r>
            <a:endParaRPr sz="1800">
              <a:solidFill>
                <a:schemeClr val="dk2"/>
              </a:solidFill>
            </a:endParaRPr>
          </a:p>
        </p:txBody>
      </p:sp>
      <p:sp>
        <p:nvSpPr>
          <p:cNvPr id="226" name="Google Shape;226;p40"/>
          <p:cNvSpPr txBox="1"/>
          <p:nvPr/>
        </p:nvSpPr>
        <p:spPr>
          <a:xfrm>
            <a:off x="6417600" y="1532111"/>
            <a:ext cx="1326900" cy="4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Code</a:t>
            </a:r>
            <a:endParaRPr sz="1800">
              <a:solidFill>
                <a:schemeClr val="dk2"/>
              </a:solidFill>
            </a:endParaRPr>
          </a:p>
        </p:txBody>
      </p:sp>
      <p:sp>
        <p:nvSpPr>
          <p:cNvPr id="227" name="Google Shape;227;p40"/>
          <p:cNvSpPr txBox="1"/>
          <p:nvPr/>
        </p:nvSpPr>
        <p:spPr>
          <a:xfrm>
            <a:off x="807100" y="2472998"/>
            <a:ext cx="1326900" cy="4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Operate</a:t>
            </a:r>
            <a:endParaRPr sz="1800">
              <a:solidFill>
                <a:schemeClr val="dk2"/>
              </a:solidFill>
            </a:endParaRPr>
          </a:p>
        </p:txBody>
      </p:sp>
      <p:sp>
        <p:nvSpPr>
          <p:cNvPr id="228" name="Google Shape;228;p40"/>
          <p:cNvSpPr txBox="1"/>
          <p:nvPr/>
        </p:nvSpPr>
        <p:spPr>
          <a:xfrm>
            <a:off x="7161225" y="2473011"/>
            <a:ext cx="1326900" cy="4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Build</a:t>
            </a:r>
            <a:endParaRPr sz="1800">
              <a:solidFill>
                <a:schemeClr val="dk2"/>
              </a:solidFill>
            </a:endParaRPr>
          </a:p>
        </p:txBody>
      </p:sp>
      <p:sp>
        <p:nvSpPr>
          <p:cNvPr id="229" name="Google Shape;229;p40"/>
          <p:cNvSpPr txBox="1"/>
          <p:nvPr/>
        </p:nvSpPr>
        <p:spPr>
          <a:xfrm>
            <a:off x="1125550" y="3851486"/>
            <a:ext cx="1326900" cy="4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Deploy</a:t>
            </a:r>
            <a:endParaRPr sz="1800">
              <a:solidFill>
                <a:schemeClr val="dk2"/>
              </a:solidFill>
            </a:endParaRPr>
          </a:p>
        </p:txBody>
      </p:sp>
      <p:sp>
        <p:nvSpPr>
          <p:cNvPr id="230" name="Google Shape;230;p40"/>
          <p:cNvSpPr txBox="1"/>
          <p:nvPr/>
        </p:nvSpPr>
        <p:spPr>
          <a:xfrm>
            <a:off x="6620900" y="3824261"/>
            <a:ext cx="1326900" cy="43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2"/>
                </a:solidFill>
              </a:rPr>
              <a:t>Test</a:t>
            </a:r>
            <a:endParaRPr sz="1800">
              <a:solidFill>
                <a:schemeClr val="dk2"/>
              </a:solidFill>
            </a:endParaRPr>
          </a:p>
        </p:txBody>
      </p:sp>
      <p:cxnSp>
        <p:nvCxnSpPr>
          <p:cNvPr id="231" name="Google Shape;231;p40"/>
          <p:cNvCxnSpPr>
            <a:stCxn id="223" idx="1"/>
            <a:endCxn id="225" idx="0"/>
          </p:cNvCxnSpPr>
          <p:nvPr/>
        </p:nvCxnSpPr>
        <p:spPr>
          <a:xfrm flipH="1">
            <a:off x="1689350" y="971236"/>
            <a:ext cx="1881000" cy="561000"/>
          </a:xfrm>
          <a:prstGeom prst="straightConnector1">
            <a:avLst/>
          </a:prstGeom>
          <a:noFill/>
          <a:ln cap="flat" cmpd="sng" w="9525">
            <a:solidFill>
              <a:schemeClr val="dk2"/>
            </a:solidFill>
            <a:prstDash val="solid"/>
            <a:round/>
            <a:headEnd len="med" w="med" type="none"/>
            <a:tailEnd len="med" w="med" type="triangle"/>
          </a:ln>
        </p:spPr>
      </p:cxnSp>
      <p:cxnSp>
        <p:nvCxnSpPr>
          <p:cNvPr id="232" name="Google Shape;232;p40"/>
          <p:cNvCxnSpPr>
            <a:stCxn id="223" idx="3"/>
            <a:endCxn id="226" idx="0"/>
          </p:cNvCxnSpPr>
          <p:nvPr/>
        </p:nvCxnSpPr>
        <p:spPr>
          <a:xfrm>
            <a:off x="5239250" y="971236"/>
            <a:ext cx="1841700" cy="561000"/>
          </a:xfrm>
          <a:prstGeom prst="straightConnector1">
            <a:avLst/>
          </a:prstGeom>
          <a:noFill/>
          <a:ln cap="flat" cmpd="sng" w="9525">
            <a:solidFill>
              <a:schemeClr val="dk2"/>
            </a:solidFill>
            <a:prstDash val="solid"/>
            <a:round/>
            <a:headEnd len="med" w="med" type="none"/>
            <a:tailEnd len="med" w="med" type="triangle"/>
          </a:ln>
        </p:spPr>
      </p:cxnSp>
      <p:cxnSp>
        <p:nvCxnSpPr>
          <p:cNvPr id="233" name="Google Shape;233;p40"/>
          <p:cNvCxnSpPr>
            <a:stCxn id="224" idx="1"/>
            <a:endCxn id="229" idx="2"/>
          </p:cNvCxnSpPr>
          <p:nvPr/>
        </p:nvCxnSpPr>
        <p:spPr>
          <a:xfrm rot="10800000">
            <a:off x="1789000" y="4289236"/>
            <a:ext cx="1911300" cy="51420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40"/>
          <p:cNvCxnSpPr>
            <a:stCxn id="224" idx="3"/>
            <a:endCxn id="230" idx="2"/>
          </p:cNvCxnSpPr>
          <p:nvPr/>
        </p:nvCxnSpPr>
        <p:spPr>
          <a:xfrm flipH="1" rot="10800000">
            <a:off x="5369200" y="4261936"/>
            <a:ext cx="1915200" cy="541500"/>
          </a:xfrm>
          <a:prstGeom prst="straightConnector1">
            <a:avLst/>
          </a:prstGeom>
          <a:noFill/>
          <a:ln cap="flat" cmpd="sng" w="9525">
            <a:solidFill>
              <a:schemeClr val="dk2"/>
            </a:solidFill>
            <a:prstDash val="solid"/>
            <a:round/>
            <a:headEnd len="med" w="med" type="none"/>
            <a:tailEnd len="med" w="med" type="triangle"/>
          </a:ln>
        </p:spPr>
      </p:cxnSp>
      <p:cxnSp>
        <p:nvCxnSpPr>
          <p:cNvPr id="235" name="Google Shape;235;p40"/>
          <p:cNvCxnSpPr>
            <a:stCxn id="225" idx="2"/>
            <a:endCxn id="227" idx="0"/>
          </p:cNvCxnSpPr>
          <p:nvPr/>
        </p:nvCxnSpPr>
        <p:spPr>
          <a:xfrm flipH="1">
            <a:off x="1470425" y="1969811"/>
            <a:ext cx="219000" cy="503100"/>
          </a:xfrm>
          <a:prstGeom prst="straightConnector1">
            <a:avLst/>
          </a:prstGeom>
          <a:noFill/>
          <a:ln cap="flat" cmpd="sng" w="9525">
            <a:solidFill>
              <a:schemeClr val="dk2"/>
            </a:solidFill>
            <a:prstDash val="solid"/>
            <a:round/>
            <a:headEnd len="med" w="med" type="none"/>
            <a:tailEnd len="med" w="med" type="none"/>
          </a:ln>
        </p:spPr>
      </p:cxnSp>
      <p:cxnSp>
        <p:nvCxnSpPr>
          <p:cNvPr id="236" name="Google Shape;236;p40"/>
          <p:cNvCxnSpPr>
            <a:stCxn id="227" idx="2"/>
            <a:endCxn id="229" idx="0"/>
          </p:cNvCxnSpPr>
          <p:nvPr/>
        </p:nvCxnSpPr>
        <p:spPr>
          <a:xfrm>
            <a:off x="1470550" y="2910698"/>
            <a:ext cx="318600" cy="940800"/>
          </a:xfrm>
          <a:prstGeom prst="straightConnector1">
            <a:avLst/>
          </a:prstGeom>
          <a:noFill/>
          <a:ln cap="flat" cmpd="sng" w="9525">
            <a:solidFill>
              <a:schemeClr val="dk2"/>
            </a:solidFill>
            <a:prstDash val="solid"/>
            <a:round/>
            <a:headEnd len="med" w="med" type="none"/>
            <a:tailEnd len="med" w="med" type="none"/>
          </a:ln>
        </p:spPr>
      </p:cxnSp>
      <p:cxnSp>
        <p:nvCxnSpPr>
          <p:cNvPr id="237" name="Google Shape;237;p40"/>
          <p:cNvCxnSpPr>
            <a:stCxn id="226" idx="2"/>
            <a:endCxn id="228" idx="0"/>
          </p:cNvCxnSpPr>
          <p:nvPr/>
        </p:nvCxnSpPr>
        <p:spPr>
          <a:xfrm>
            <a:off x="7081050" y="1969811"/>
            <a:ext cx="743700" cy="503100"/>
          </a:xfrm>
          <a:prstGeom prst="straightConnector1">
            <a:avLst/>
          </a:prstGeom>
          <a:noFill/>
          <a:ln cap="flat" cmpd="sng" w="9525">
            <a:solidFill>
              <a:schemeClr val="dk2"/>
            </a:solidFill>
            <a:prstDash val="solid"/>
            <a:round/>
            <a:headEnd len="med" w="med" type="none"/>
            <a:tailEnd len="med" w="med" type="none"/>
          </a:ln>
        </p:spPr>
      </p:cxnSp>
      <p:cxnSp>
        <p:nvCxnSpPr>
          <p:cNvPr id="238" name="Google Shape;238;p40"/>
          <p:cNvCxnSpPr>
            <a:stCxn id="228" idx="2"/>
            <a:endCxn id="230" idx="0"/>
          </p:cNvCxnSpPr>
          <p:nvPr/>
        </p:nvCxnSpPr>
        <p:spPr>
          <a:xfrm flipH="1">
            <a:off x="7284375" y="2910711"/>
            <a:ext cx="540300" cy="913500"/>
          </a:xfrm>
          <a:prstGeom prst="straightConnector1">
            <a:avLst/>
          </a:prstGeom>
          <a:noFill/>
          <a:ln cap="flat" cmpd="sng" w="9525">
            <a:solidFill>
              <a:schemeClr val="dk2"/>
            </a:solidFill>
            <a:prstDash val="solid"/>
            <a:round/>
            <a:headEnd len="med" w="med" type="none"/>
            <a:tailEnd len="med" w="med" type="none"/>
          </a:ln>
        </p:spPr>
      </p:cxnSp>
      <p:cxnSp>
        <p:nvCxnSpPr>
          <p:cNvPr id="239" name="Google Shape;239;p40"/>
          <p:cNvCxnSpPr/>
          <p:nvPr/>
        </p:nvCxnSpPr>
        <p:spPr>
          <a:xfrm>
            <a:off x="2065600" y="1846736"/>
            <a:ext cx="1627800" cy="629100"/>
          </a:xfrm>
          <a:prstGeom prst="straightConnector1">
            <a:avLst/>
          </a:prstGeom>
          <a:noFill/>
          <a:ln cap="flat" cmpd="sng" w="9525">
            <a:solidFill>
              <a:schemeClr val="dk2"/>
            </a:solidFill>
            <a:prstDash val="solid"/>
            <a:round/>
            <a:headEnd len="med" w="med" type="none"/>
            <a:tailEnd len="med" w="med" type="triangle"/>
          </a:ln>
        </p:spPr>
      </p:cxnSp>
      <p:cxnSp>
        <p:nvCxnSpPr>
          <p:cNvPr id="240" name="Google Shape;240;p40"/>
          <p:cNvCxnSpPr>
            <a:stCxn id="227" idx="3"/>
            <a:endCxn id="222" idx="2"/>
          </p:cNvCxnSpPr>
          <p:nvPr/>
        </p:nvCxnSpPr>
        <p:spPr>
          <a:xfrm>
            <a:off x="2134000" y="2691848"/>
            <a:ext cx="1279200" cy="332400"/>
          </a:xfrm>
          <a:prstGeom prst="straightConnector1">
            <a:avLst/>
          </a:prstGeom>
          <a:noFill/>
          <a:ln cap="flat" cmpd="sng" w="9525">
            <a:solidFill>
              <a:schemeClr val="dk2"/>
            </a:solidFill>
            <a:prstDash val="solid"/>
            <a:round/>
            <a:headEnd len="med" w="med" type="none"/>
            <a:tailEnd len="med" w="med" type="triangle"/>
          </a:ln>
        </p:spPr>
      </p:cxnSp>
      <p:cxnSp>
        <p:nvCxnSpPr>
          <p:cNvPr id="241" name="Google Shape;241;p40"/>
          <p:cNvCxnSpPr/>
          <p:nvPr/>
        </p:nvCxnSpPr>
        <p:spPr>
          <a:xfrm flipH="1" rot="10800000">
            <a:off x="2175050" y="3420111"/>
            <a:ext cx="1408800" cy="588000"/>
          </a:xfrm>
          <a:prstGeom prst="straightConnector1">
            <a:avLst/>
          </a:prstGeom>
          <a:noFill/>
          <a:ln cap="flat" cmpd="sng" w="9525">
            <a:solidFill>
              <a:schemeClr val="dk2"/>
            </a:solidFill>
            <a:prstDash val="solid"/>
            <a:round/>
            <a:headEnd len="med" w="med" type="none"/>
            <a:tailEnd len="med" w="med" type="triangle"/>
          </a:ln>
        </p:spPr>
      </p:cxnSp>
      <p:cxnSp>
        <p:nvCxnSpPr>
          <p:cNvPr id="242" name="Google Shape;242;p40"/>
          <p:cNvCxnSpPr/>
          <p:nvPr/>
        </p:nvCxnSpPr>
        <p:spPr>
          <a:xfrm flipH="1">
            <a:off x="5553800" y="1805686"/>
            <a:ext cx="1067100" cy="65670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40"/>
          <p:cNvCxnSpPr/>
          <p:nvPr/>
        </p:nvCxnSpPr>
        <p:spPr>
          <a:xfrm flipH="1">
            <a:off x="5649825" y="2694861"/>
            <a:ext cx="1682400" cy="41100"/>
          </a:xfrm>
          <a:prstGeom prst="straightConnector1">
            <a:avLst/>
          </a:prstGeom>
          <a:noFill/>
          <a:ln cap="flat" cmpd="sng" w="9525">
            <a:solidFill>
              <a:schemeClr val="dk2"/>
            </a:solidFill>
            <a:prstDash val="solid"/>
            <a:round/>
            <a:headEnd len="med" w="med" type="none"/>
            <a:tailEnd len="med" w="med" type="triangle"/>
          </a:ln>
        </p:spPr>
      </p:cxnSp>
      <p:cxnSp>
        <p:nvCxnSpPr>
          <p:cNvPr id="244" name="Google Shape;244;p40"/>
          <p:cNvCxnSpPr/>
          <p:nvPr/>
        </p:nvCxnSpPr>
        <p:spPr>
          <a:xfrm rot="10800000">
            <a:off x="5458025" y="3283186"/>
            <a:ext cx="1614300" cy="738600"/>
          </a:xfrm>
          <a:prstGeom prst="straightConnector1">
            <a:avLst/>
          </a:prstGeom>
          <a:noFill/>
          <a:ln cap="flat" cmpd="sng" w="9525">
            <a:solidFill>
              <a:schemeClr val="dk2"/>
            </a:solidFill>
            <a:prstDash val="solid"/>
            <a:round/>
            <a:headEnd len="med" w="med" type="none"/>
            <a:tailEnd len="med" w="med" type="triangle"/>
          </a:ln>
        </p:spPr>
      </p:cxnSp>
      <p:sp>
        <p:nvSpPr>
          <p:cNvPr id="245" name="Google Shape;245;p40"/>
          <p:cNvSpPr txBox="1"/>
          <p:nvPr/>
        </p:nvSpPr>
        <p:spPr>
          <a:xfrm>
            <a:off x="2906848" y="109411"/>
            <a:ext cx="35499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GB" sz="2000">
                <a:solidFill>
                  <a:schemeClr val="dk1"/>
                </a:solidFill>
              </a:rPr>
              <a:t>DevOps Lifecycle on Cloud</a:t>
            </a:r>
            <a:endParaRPr b="1" sz="2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